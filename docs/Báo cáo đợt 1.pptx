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USD / tháng</c:v>
                </c:pt>
              </c:strCache>
            </c:strRef>
          </c:tx>
          <c:spPr>
            <a:solidFill>
              <a:srgbClr val="E41B23"/>
            </a:solidFill>
            <a:effectLst/>
          </c:spPr>
          <c:invertIfNegative val="0"/>
          <c:dLbls>
            <c:numFmt formatCode="$#,##0.00" sourceLinked="0"/>
            <c:txPr>
              <a:bodyPr/>
              <a:lstStyle/>
              <a:p>
                <a:pPr>
                  <a:defRPr b="1" i="0" strike="noStrike" sz="1100" u="none">
                    <a:solidFill>
                      <a:srgbClr val="0F1C34"/>
                    </a:solidFill>
                    <a:latin typeface="Inter"/>
                  </a:defRPr>
                </a:pPr>
              </a:p>
            </c:txPr>
            <c:showLegendKey val="0"/>
            <c:showVal val="1"/>
            <c:showCatName val="0"/>
            <c:showSerName val="0"/>
            <c:showPercent val="0"/>
            <c:showBubbleSize val="0"/>
            <c:showLeaderLines val="0"/>
          </c:dLbls>
          <c:dPt>
            <c:idx val="0"/>
            <c:invertIfNegative val="0"/>
            <c:bubble3D val="0"/>
            <c:spPr>
              <a:solidFill>
                <a:srgbClr val="E41B23"/>
              </a:solidFill>
              <a:effectLst/>
            </c:spPr>
          </c:dPt>
          <c:dPt>
            <c:idx val="1"/>
            <c:invertIfNegative val="0"/>
            <c:bubble3D val="0"/>
            <c:spPr>
              <a:solidFill>
                <a:srgbClr val="8A99AD"/>
              </a:solidFill>
              <a:effectLst/>
            </c:spPr>
          </c:dPt>
          <c:dPt>
            <c:idx val="2"/>
            <c:invertIfNegative val="0"/>
            <c:bubble3D val="0"/>
            <c:spPr>
              <a:solidFill>
                <a:srgbClr val="0F1C34"/>
              </a:solidFill>
              <a:effectLst/>
            </c:spPr>
          </c:dPt>
          <c:cat>
            <c:multiLvlStrRef>
              <c:f>Sheet1!$A$2:$A$4</c:f>
              <c:multiLvlStrCache>
                <c:ptCount val="3"/>
                <c:lvl>
                  <c:pt idx="0">
                    <c:v>AI Dev Guardian
toàn team 5 dev</c:v>
                  </c:pt>
                  <c:pt idx="1">
                    <c:v>GitHub Copilot
1 seat cá nhân</c:v>
                  </c:pt>
                  <c:pt idx="2">
                    <c:v>AI PR Bot
5 seat (~$15/dev)</c:v>
                  </c:pt>
                </c:lvl>
              </c:multiLvlStrCache>
            </c:multiLvlStrRef>
          </c:cat>
          <c:val>
            <c:numRef>
              <c:f>Sheet1!$B$2:$B$4</c:f>
              <c:numCache>
                <c:formatCode>General</c:formatCode>
                <c:ptCount val="3"/>
                <c:pt idx="0">
                  <c:v>18.5</c:v>
                </c:pt>
                <c:pt idx="1">
                  <c:v>19</c:v>
                </c:pt>
                <c:pt idx="2">
                  <c:v>75</c:v>
                </c:pt>
              </c:numCache>
            </c:numRef>
          </c:val>
        </c:ser>
        <c:dLbls>
          <c:numFmt formatCode="$#,##0.00" sourceLinked="0"/>
          <c:txPr>
            <a:bodyPr/>
            <a:lstStyle/>
            <a:p>
              <a:pPr>
                <a:defRPr b="1" i="0" strike="noStrike" sz="1100" u="none">
                  <a:solidFill>
                    <a:srgbClr val="0F1C34"/>
                  </a:solidFill>
                  <a:latin typeface="Inter"/>
                </a:defRPr>
              </a:pPr>
            </a:p>
          </c:txPr>
          <c:showLegendKey val="0"/>
          <c:showVal val="1"/>
          <c:showCatName val="0"/>
          <c:showSerName val="0"/>
          <c:showPercent val="0"/>
          <c:showBubbleSize val="0"/>
          <c:showLeaderLines val="0"/>
        </c:dLbls>
        <c:gapWidth val="12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900" b="0" i="0" u="none" strike="noStrike">
                <a:solidFill>
                  <a:srgbClr val="46586F"/>
                </a:solidFill>
                <a:latin typeface="Inter"/>
              </a:defRPr>
            </a:pPr>
            <a:endParaRPr lang="en-US"/>
          </a:p>
        </c:txPr>
        <c:crossAx val="2094734552"/>
        <c:crosses val="autoZero"/>
        <c:auto val="1"/>
        <c:lblAlgn val="ctr"/>
        <c:noMultiLvlLbl val="1"/>
      </c:catAx>
      <c:valAx>
        <c:axId val="2094734552"/>
        <c:scaling>
          <c:orientation val="minMax"/>
          <c:max val="9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Dev Guardian: agent quản trị kỹ thuật chạy như pre-push gate, kiểm tra diff ngay trên máy dev trước khi code rời máy. Ba con số cần nhớ: 5 lớp chống hallucination, ~$3.70/dev/tháng, và một verdict duy nhất PASS hoặc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lớp bảo vệ truyền thống đánh đổi lẫn nhau. Điểm cần nhấn: AI PR bot thế hệ đầu không chỉ sai về chất lượng cảnh báo mà sai cả về vị trí kiểm 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nguyên lý thiết kế. Nhấn mạnh: Guardian không bao giờ tự sửa code — nó sinh promptToFix để dev tự quyết định.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Luồng theo đúng thứ tự sơ đồ: (1) trigger git push, (2) CLI đọc lệnh và lấy diff, (3) policy router loại file test, định tuyến policy theo scope, tính hash tra cache, (4) 4 checker chạy đồng thời bằng Promise.all — LLM+judge bị bỏ qua nếu hash trùng lần PASS gần đây, (5) verdict aggregator gộp kết quả, (6) reporter build promptToFix và in khung màu ra terminal.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phần kỹ thuật quan trọng nhất. Lớp 5 là lớp duy nhất bắt được lỗi “trích dẫn thật nhưng suy luận sai” mà grounding không thể phát hiện.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Cột phải là AI Dev Guardian. Điểm khác biệt cốt lõi nằm ở hàng đầu (thời điểm chạy) và hàng chống hallucination.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 định cường độ cao: 4 push/ngày/dev × 3 file/push × 22 ngày. Nêu rõ đây là dự phóng minh bạch, không phải số đo thực tế.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thúc: 13 hạng mục MVP đã chạy được trong code thật; lộ trình tiếp theo tập trung vào mở rộng nhóm policy và tích hợp CI/Jira.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5" Type="http://schemas.openxmlformats.org/officeDocument/2006/relationships/chart" Target="/ppt/charts/chart1.xml"/><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635240" y="0"/>
            <a:ext cx="4572000" cy="6858000"/>
          </a:xfrm>
          <a:prstGeom prst="rect">
            <a:avLst/>
          </a:prstGeom>
          <a:solidFill>
            <a:srgbClr val="0F1C34"/>
          </a:solidFill>
          <a:ln w="12700">
            <a:solidFill>
              <a:srgbClr val="0F1C34"/>
            </a:solidFill>
            <a:prstDash val="solid"/>
          </a:ln>
        </p:spPr>
      </p:sp>
      <p:sp>
        <p:nvSpPr>
          <p:cNvPr id="3" name="Shape 1"/>
          <p:cNvSpPr/>
          <p:nvPr/>
        </p:nvSpPr>
        <p:spPr>
          <a:xfrm>
            <a:off x="8641080" y="-1234440"/>
            <a:ext cx="3657600" cy="3657600"/>
          </a:xfrm>
          <a:prstGeom prst="ellipse">
            <a:avLst/>
          </a:prstGeom>
          <a:solidFill>
            <a:srgbClr val="E41B23">
              <a:alpha val="16000"/>
            </a:srgbClr>
          </a:solidFill>
          <a:ln w="12700">
            <a:solidFill>
              <a:srgbClr val="E41B23">
                <a:alpha val="20000"/>
              </a:srgbClr>
            </a:solidFill>
            <a:prstDash val="solid"/>
          </a:ln>
        </p:spPr>
      </p:sp>
      <p:sp>
        <p:nvSpPr>
          <p:cNvPr id="4" name="Shape 2"/>
          <p:cNvSpPr/>
          <p:nvPr/>
        </p:nvSpPr>
        <p:spPr>
          <a:xfrm>
            <a:off x="9784080" y="4572000"/>
            <a:ext cx="3474720" cy="3474720"/>
          </a:xfrm>
          <a:prstGeom prst="ellipse">
            <a:avLst/>
          </a:prstGeom>
          <a:solidFill>
            <a:srgbClr val="0F6EFD">
              <a:alpha val="16000"/>
            </a:srgbClr>
          </a:solidFill>
          <a:ln w="12700">
            <a:solidFill>
              <a:srgbClr val="0F6EFD">
                <a:alpha val="20000"/>
              </a:srgbClr>
            </a:solidFill>
            <a:prstDash val="solid"/>
          </a:ln>
        </p:spPr>
      </p:sp>
      <p:pic>
        <p:nvPicPr>
          <p:cNvPr id="5" name="Image 0" descr="logo_vin.png">    </p:cNvPr>
          <p:cNvPicPr>
            <a:picLocks noChangeAspect="1"/>
          </p:cNvPicPr>
          <p:nvPr/>
        </p:nvPicPr>
        <p:blipFill>
          <a:blip r:embed="rId1"/>
          <a:stretch>
            <a:fillRect/>
          </a:stretch>
        </p:blipFill>
        <p:spPr>
          <a:xfrm>
            <a:off x="777240" y="658368"/>
            <a:ext cx="1627632" cy="1002182"/>
          </a:xfrm>
          <a:prstGeom prst="rect">
            <a:avLst/>
          </a:prstGeom>
        </p:spPr>
      </p:pic>
      <p:sp>
        <p:nvSpPr>
          <p:cNvPr id="6" name="Text 3"/>
          <p:cNvSpPr/>
          <p:nvPr/>
        </p:nvSpPr>
        <p:spPr>
          <a:xfrm>
            <a:off x="804672" y="2286000"/>
            <a:ext cx="6583680" cy="256032"/>
          </a:xfrm>
          <a:prstGeom prst="rect">
            <a:avLst/>
          </a:prstGeom>
          <a:noFill/>
          <a:ln/>
        </p:spPr>
        <p:txBody>
          <a:bodyPr wrap="square" lIns="0" tIns="0" rIns="0" bIns="0" rtlCol="0" anchor="t"/>
          <a:lstStyle/>
          <a:p>
            <a:pPr indent="0" marL="0">
              <a:buNone/>
            </a:pPr>
            <a:r>
              <a:rPr lang="en-US" sz="1150" b="1" spc="220" kern="0" dirty="0">
                <a:solidFill>
                  <a:srgbClr val="E41B23"/>
                </a:solidFill>
                <a:latin typeface="Inter" pitchFamily="34" charset="0"/>
                <a:ea typeface="Inter" pitchFamily="34" charset="-122"/>
                <a:cs typeface="Inter" pitchFamily="34" charset="-120"/>
              </a:rPr>
              <a:t>BÁO CÁO KỸ THUẬT  ·  PHIÊN BẢN MVP</a:t>
            </a:r>
            <a:endParaRPr lang="en-US" sz="1150" dirty="0"/>
          </a:p>
        </p:txBody>
      </p:sp>
      <p:sp>
        <p:nvSpPr>
          <p:cNvPr id="7" name="Text 4"/>
          <p:cNvSpPr/>
          <p:nvPr/>
        </p:nvSpPr>
        <p:spPr>
          <a:xfrm>
            <a:off x="777240" y="2596896"/>
            <a:ext cx="6675120" cy="960120"/>
          </a:xfrm>
          <a:prstGeom prst="rect">
            <a:avLst/>
          </a:prstGeom>
          <a:noFill/>
          <a:ln/>
        </p:spPr>
        <p:txBody>
          <a:bodyPr wrap="square" lIns="0" tIns="0" rIns="0" bIns="0" rtlCol="0" anchor="t"/>
          <a:lstStyle/>
          <a:p>
            <a:pPr indent="0" marL="0">
              <a:buNone/>
            </a:pPr>
            <a:r>
              <a:rPr lang="en-US" sz="5000" b="1" dirty="0">
                <a:solidFill>
                  <a:srgbClr val="0F1C34"/>
                </a:solidFill>
                <a:latin typeface="Inter" pitchFamily="34" charset="0"/>
                <a:ea typeface="Inter" pitchFamily="34" charset="-122"/>
                <a:cs typeface="Inter" pitchFamily="34" charset="-120"/>
              </a:rPr>
              <a:t>AI Dev Guardian</a:t>
            </a:r>
            <a:endParaRPr lang="en-US" sz="5000" dirty="0"/>
          </a:p>
        </p:txBody>
      </p:sp>
      <p:sp>
        <p:nvSpPr>
          <p:cNvPr id="8" name="Text 5"/>
          <p:cNvSpPr/>
          <p:nvPr/>
        </p:nvSpPr>
        <p:spPr>
          <a:xfrm>
            <a:off x="804672" y="3657600"/>
            <a:ext cx="6583680" cy="310896"/>
          </a:xfrm>
          <a:prstGeom prst="rect">
            <a:avLst/>
          </a:prstGeom>
          <a:noFill/>
          <a:ln/>
        </p:spPr>
        <p:txBody>
          <a:bodyPr wrap="square" lIns="0" tIns="0" rIns="0" bIns="0" rtlCol="0" anchor="t"/>
          <a:lstStyle/>
          <a:p>
            <a:pPr indent="0" marL="0">
              <a:buNone/>
            </a:pPr>
            <a:r>
              <a:rPr lang="en-US" sz="1650" b="1" dirty="0">
                <a:solidFill>
                  <a:srgbClr val="0F6EFD"/>
                </a:solidFill>
                <a:latin typeface="Inter" pitchFamily="34" charset="0"/>
                <a:ea typeface="Inter" pitchFamily="34" charset="-122"/>
                <a:cs typeface="Inter" pitchFamily="34" charset="-120"/>
              </a:rPr>
              <a:t>AI Engineering Governance Agent</a:t>
            </a:r>
            <a:endParaRPr lang="en-US" sz="1650" dirty="0"/>
          </a:p>
        </p:txBody>
      </p:sp>
      <p:sp>
        <p:nvSpPr>
          <p:cNvPr id="9" name="Text 6"/>
          <p:cNvSpPr/>
          <p:nvPr/>
        </p:nvSpPr>
        <p:spPr>
          <a:xfrm>
            <a:off x="804672" y="4059936"/>
            <a:ext cx="6583680" cy="310896"/>
          </a:xfrm>
          <a:prstGeom prst="rect">
            <a:avLst/>
          </a:prstGeom>
          <a:noFill/>
          <a:ln/>
        </p:spPr>
        <p:txBody>
          <a:bodyPr wrap="square" lIns="0" tIns="0" rIns="0" bIns="0" rtlCol="0" anchor="t"/>
          <a:lstStyle/>
          <a:p>
            <a:pPr indent="0" marL="0">
              <a:buNone/>
            </a:pPr>
            <a:r>
              <a:rPr lang="en-US" sz="1300" dirty="0">
                <a:solidFill>
                  <a:srgbClr val="46586F"/>
                </a:solidFill>
                <a:latin typeface="Inter" pitchFamily="34" charset="0"/>
                <a:ea typeface="Inter" pitchFamily="34" charset="-122"/>
                <a:cs typeface="Inter" pitchFamily="34" charset="-120"/>
              </a:rPr>
              <a:t>Người gác cổng chất lượng code — chặn lỗi ngay trên máy dev.</a:t>
            </a:r>
            <a:endParaRPr lang="en-US" sz="1300" dirty="0"/>
          </a:p>
        </p:txBody>
      </p:sp>
      <p:sp>
        <p:nvSpPr>
          <p:cNvPr id="10" name="Shape 7"/>
          <p:cNvSpPr/>
          <p:nvPr/>
        </p:nvSpPr>
        <p:spPr>
          <a:xfrm>
            <a:off x="804672" y="4718304"/>
            <a:ext cx="4892040" cy="512064"/>
          </a:xfrm>
          <a:prstGeom prst="roundRect">
            <a:avLst>
              <a:gd name="adj" fmla="val 14286"/>
            </a:avLst>
          </a:prstGeom>
          <a:solidFill>
            <a:srgbClr val="13223D"/>
          </a:solidFill>
          <a:ln w="12700">
            <a:solidFill>
              <a:srgbClr val="13223D"/>
            </a:solidFill>
            <a:prstDash val="solid"/>
          </a:ln>
        </p:spPr>
      </p:sp>
      <p:sp>
        <p:nvSpPr>
          <p:cNvPr id="11" name="Text 8"/>
          <p:cNvSpPr/>
          <p:nvPr/>
        </p:nvSpPr>
        <p:spPr>
          <a:xfrm>
            <a:off x="969264" y="4718304"/>
            <a:ext cx="4572000" cy="512064"/>
          </a:xfrm>
          <a:prstGeom prst="rect">
            <a:avLst/>
          </a:prstGeom>
          <a:noFill/>
          <a:ln/>
        </p:spPr>
        <p:txBody>
          <a:bodyPr wrap="square" lIns="0" tIns="0" rIns="0" bIns="0" rtlCol="0" anchor="ctr"/>
          <a:lstStyle/>
          <a:p>
            <a:pPr indent="0" marL="0">
              <a:buNone/>
            </a:pPr>
            <a:r>
              <a:rPr lang="en-US" sz="1000" dirty="0">
                <a:solidFill>
                  <a:srgbClr val="A9C8FF"/>
                </a:solidFill>
                <a:latin typeface="Courier New" pitchFamily="34" charset="0"/>
                <a:ea typeface="Courier New" pitchFamily="34" charset="-122"/>
                <a:cs typeface="Courier New" pitchFamily="34" charset="-120"/>
              </a:rPr>
              <a:t>$ git push   →   Guardian pre-push gate   →   PASS / BLOCK</a:t>
            </a:r>
            <a:endParaRPr lang="en-US" sz="1000" dirty="0"/>
          </a:p>
        </p:txBody>
      </p:sp>
      <p:sp>
        <p:nvSpPr>
          <p:cNvPr id="12" name="Text 9"/>
          <p:cNvSpPr/>
          <p:nvPr/>
        </p:nvSpPr>
        <p:spPr>
          <a:xfrm>
            <a:off x="804672" y="5870448"/>
            <a:ext cx="6583680" cy="274320"/>
          </a:xfrm>
          <a:prstGeom prst="rect">
            <a:avLst/>
          </a:prstGeom>
          <a:noFill/>
          <a:ln/>
        </p:spPr>
        <p:txBody>
          <a:bodyPr wrap="square" lIns="0" tIns="0" rIns="0" bIns="0" rtlCol="0" anchor="t"/>
          <a:lstStyle/>
          <a:p>
            <a:pPr indent="0" marL="0">
              <a:buNone/>
            </a:pPr>
            <a:r>
              <a:rPr lang="en-US" sz="1050" dirty="0">
                <a:solidFill>
                  <a:srgbClr val="8A99AD"/>
                </a:solidFill>
                <a:latin typeface="Inter" pitchFamily="34" charset="0"/>
                <a:ea typeface="Inter" pitchFamily="34" charset="-122"/>
                <a:cs typeface="Inter" pitchFamily="34" charset="-120"/>
              </a:rPr>
              <a:t>Cập nhật 30/07/2026  ·  Vingroup Engineering</a:t>
            </a:r>
            <a:endParaRPr lang="en-US" sz="1050" dirty="0"/>
          </a:p>
        </p:txBody>
      </p:sp>
      <p:sp>
        <p:nvSpPr>
          <p:cNvPr id="13" name="Text 10"/>
          <p:cNvSpPr/>
          <p:nvPr/>
        </p:nvSpPr>
        <p:spPr>
          <a:xfrm>
            <a:off x="8183880" y="1188720"/>
            <a:ext cx="3520440" cy="256032"/>
          </a:xfrm>
          <a:prstGeom prst="rect">
            <a:avLst/>
          </a:prstGeom>
          <a:noFill/>
          <a:ln/>
        </p:spPr>
        <p:txBody>
          <a:bodyPr wrap="square" lIns="0" tIns="0" rIns="0" bIns="0" rtlCol="0" anchor="t"/>
          <a:lstStyle/>
          <a:p>
            <a:pPr indent="0" marL="0">
              <a:buNone/>
            </a:pPr>
            <a:r>
              <a:rPr lang="en-US" sz="1050" b="1" spc="220" kern="0" dirty="0">
                <a:solidFill>
                  <a:srgbClr val="7FB0FF"/>
                </a:solidFill>
                <a:latin typeface="Inter" pitchFamily="34" charset="0"/>
                <a:ea typeface="Inter" pitchFamily="34" charset="-122"/>
                <a:cs typeface="Inter" pitchFamily="34" charset="-120"/>
              </a:rPr>
              <a:t>CON SỐ CHÍNH</a:t>
            </a:r>
            <a:endParaRPr lang="en-US" sz="1050" dirty="0"/>
          </a:p>
        </p:txBody>
      </p:sp>
      <p:sp>
        <p:nvSpPr>
          <p:cNvPr id="14" name="Text 11"/>
          <p:cNvSpPr/>
          <p:nvPr/>
        </p:nvSpPr>
        <p:spPr>
          <a:xfrm>
            <a:off x="8183880" y="1828800"/>
            <a:ext cx="3520440" cy="475488"/>
          </a:xfrm>
          <a:prstGeom prst="rect">
            <a:avLst/>
          </a:prstGeom>
          <a:noFill/>
          <a:ln/>
        </p:spPr>
        <p:txBody>
          <a:bodyPr wrap="square" lIns="0" tIns="0" rIns="0" bIns="0" rtlCol="0" anchor="t"/>
          <a:lstStyle/>
          <a:p>
            <a:pPr indent="0" marL="0">
              <a:buNone/>
            </a:pPr>
            <a:r>
              <a:rPr lang="en-US" sz="3000" b="1" dirty="0">
                <a:solidFill>
                  <a:srgbClr val="FFFFFF"/>
                </a:solidFill>
                <a:latin typeface="Inter" pitchFamily="34" charset="0"/>
                <a:ea typeface="Inter" pitchFamily="34" charset="-122"/>
                <a:cs typeface="Inter" pitchFamily="34" charset="-120"/>
              </a:rPr>
              <a:t>5 lớp</a:t>
            </a:r>
            <a:endParaRPr lang="en-US" sz="3000" dirty="0"/>
          </a:p>
        </p:txBody>
      </p:sp>
      <p:sp>
        <p:nvSpPr>
          <p:cNvPr id="15" name="Text 12"/>
          <p:cNvSpPr/>
          <p:nvPr/>
        </p:nvSpPr>
        <p:spPr>
          <a:xfrm>
            <a:off x="8183880" y="2340864"/>
            <a:ext cx="3520440" cy="457200"/>
          </a:xfrm>
          <a:prstGeom prst="rect">
            <a:avLst/>
          </a:prstGeom>
          <a:noFill/>
          <a:ln/>
        </p:spPr>
        <p:txBody>
          <a:bodyPr wrap="square" lIns="0" tIns="0" rIns="0" bIns="0" rtlCol="0" anchor="t"/>
          <a:lstStyle/>
          <a:p>
            <a:pPr indent="0" marL="0">
              <a:lnSpc>
                <a:spcPct val="120000"/>
              </a:lnSpc>
              <a:buNone/>
            </a:pPr>
            <a:r>
              <a:rPr lang="en-US" sz="1050" dirty="0">
                <a:solidFill>
                  <a:srgbClr val="C9D6E8"/>
                </a:solidFill>
                <a:latin typeface="Inter" pitchFamily="34" charset="0"/>
                <a:ea typeface="Inter" pitchFamily="34" charset="-122"/>
                <a:cs typeface="Inter" pitchFamily="34" charset="-120"/>
              </a:rPr>
              <a:t>khiên chống ảo giác LLM, xếp chồng độc lập</a:t>
            </a:r>
            <a:endParaRPr lang="en-US" sz="1050" dirty="0"/>
          </a:p>
        </p:txBody>
      </p:sp>
      <p:sp>
        <p:nvSpPr>
          <p:cNvPr id="16" name="Text 13"/>
          <p:cNvSpPr/>
          <p:nvPr/>
        </p:nvSpPr>
        <p:spPr>
          <a:xfrm>
            <a:off x="8183880" y="3310128"/>
            <a:ext cx="3520440" cy="475488"/>
          </a:xfrm>
          <a:prstGeom prst="rect">
            <a:avLst/>
          </a:prstGeom>
          <a:noFill/>
          <a:ln/>
        </p:spPr>
        <p:txBody>
          <a:bodyPr wrap="square" lIns="0" tIns="0" rIns="0" bIns="0" rtlCol="0" anchor="t"/>
          <a:lstStyle/>
          <a:p>
            <a:pPr indent="0" marL="0">
              <a:buNone/>
            </a:pPr>
            <a:r>
              <a:rPr lang="en-US" sz="3000" b="1" dirty="0">
                <a:solidFill>
                  <a:srgbClr val="FFFFFF"/>
                </a:solidFill>
                <a:latin typeface="Inter" pitchFamily="34" charset="0"/>
                <a:ea typeface="Inter" pitchFamily="34" charset="-122"/>
                <a:cs typeface="Inter" pitchFamily="34" charset="-120"/>
              </a:rPr>
              <a:t>~$3.70</a:t>
            </a:r>
            <a:endParaRPr lang="en-US" sz="3000" dirty="0"/>
          </a:p>
        </p:txBody>
      </p:sp>
      <p:sp>
        <p:nvSpPr>
          <p:cNvPr id="17" name="Text 14"/>
          <p:cNvSpPr/>
          <p:nvPr/>
        </p:nvSpPr>
        <p:spPr>
          <a:xfrm>
            <a:off x="8183880" y="3822192"/>
            <a:ext cx="3520440" cy="457200"/>
          </a:xfrm>
          <a:prstGeom prst="rect">
            <a:avLst/>
          </a:prstGeom>
          <a:noFill/>
          <a:ln/>
        </p:spPr>
        <p:txBody>
          <a:bodyPr wrap="square" lIns="0" tIns="0" rIns="0" bIns="0" rtlCol="0" anchor="t"/>
          <a:lstStyle/>
          <a:p>
            <a:pPr indent="0" marL="0">
              <a:lnSpc>
                <a:spcPct val="120000"/>
              </a:lnSpc>
              <a:buNone/>
            </a:pPr>
            <a:r>
              <a:rPr lang="en-US" sz="1050" dirty="0">
                <a:solidFill>
                  <a:srgbClr val="C9D6E8"/>
                </a:solidFill>
                <a:latin typeface="Inter" pitchFamily="34" charset="0"/>
                <a:ea typeface="Inter" pitchFamily="34" charset="-122"/>
                <a:cs typeface="Inter" pitchFamily="34" charset="-120"/>
              </a:rPr>
              <a:t>chi phí AI mỗi dev mỗi tháng</a:t>
            </a:r>
            <a:endParaRPr lang="en-US" sz="1050" dirty="0"/>
          </a:p>
        </p:txBody>
      </p:sp>
      <p:sp>
        <p:nvSpPr>
          <p:cNvPr id="18" name="Text 15"/>
          <p:cNvSpPr/>
          <p:nvPr/>
        </p:nvSpPr>
        <p:spPr>
          <a:xfrm>
            <a:off x="8183880" y="4791456"/>
            <a:ext cx="3520440" cy="475488"/>
          </a:xfrm>
          <a:prstGeom prst="rect">
            <a:avLst/>
          </a:prstGeom>
          <a:noFill/>
          <a:ln/>
        </p:spPr>
        <p:txBody>
          <a:bodyPr wrap="square" lIns="0" tIns="0" rIns="0" bIns="0" rtlCol="0" anchor="t"/>
          <a:lstStyle/>
          <a:p>
            <a:pPr indent="0" marL="0">
              <a:buNone/>
            </a:pPr>
            <a:r>
              <a:rPr lang="en-US" sz="2300" b="1" dirty="0">
                <a:solidFill>
                  <a:srgbClr val="FFFFFF"/>
                </a:solidFill>
                <a:latin typeface="Inter" pitchFamily="34" charset="0"/>
                <a:ea typeface="Inter" pitchFamily="34" charset="-122"/>
                <a:cs typeface="Inter" pitchFamily="34" charset="-120"/>
              </a:rPr>
              <a:t>PASS / BLOCK</a:t>
            </a:r>
            <a:endParaRPr lang="en-US" sz="2300" dirty="0"/>
          </a:p>
        </p:txBody>
      </p:sp>
      <p:sp>
        <p:nvSpPr>
          <p:cNvPr id="19" name="Text 16"/>
          <p:cNvSpPr/>
          <p:nvPr/>
        </p:nvSpPr>
        <p:spPr>
          <a:xfrm>
            <a:off x="8183880" y="5303520"/>
            <a:ext cx="3520440" cy="457200"/>
          </a:xfrm>
          <a:prstGeom prst="rect">
            <a:avLst/>
          </a:prstGeom>
          <a:noFill/>
          <a:ln/>
        </p:spPr>
        <p:txBody>
          <a:bodyPr wrap="square" lIns="0" tIns="0" rIns="0" bIns="0" rtlCol="0" anchor="t"/>
          <a:lstStyle/>
          <a:p>
            <a:pPr indent="0" marL="0">
              <a:lnSpc>
                <a:spcPct val="120000"/>
              </a:lnSpc>
              <a:buNone/>
            </a:pPr>
            <a:r>
              <a:rPr lang="en-US" sz="1050" dirty="0">
                <a:solidFill>
                  <a:srgbClr val="C9D6E8"/>
                </a:solidFill>
                <a:latin typeface="Inter" pitchFamily="34" charset="0"/>
                <a:ea typeface="Inter" pitchFamily="34" charset="-122"/>
                <a:cs typeface="Inter" pitchFamily="34" charset="-120"/>
              </a:rPr>
              <a:t>một verdict duy nhất, không vùng xám</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p:bgPr>
    </p:bg>
    <p:spTree>
      <p:nvGrpSpPr>
        <p:cNvPr id="1" name=""/>
        <p:cNvGrpSpPr/>
        <p:nvPr/>
      </p:nvGrpSpPr>
      <p:grpSpPr>
        <a:xfrm>
          <a:off x="0" y="0"/>
          <a:ext cx="0" cy="0"/>
          <a:chOff x="0" y="0"/>
          <a:chExt cx="0" cy="0"/>
        </a:xfrm>
      </p:grpSpPr>
      <p:pic>
        <p:nvPicPr>
          <p:cNvPr id="2" name="Image 0" descr="logo_vin.png">    </p:cNvPr>
          <p:cNvPicPr>
            <a:picLocks noChangeAspect="1"/>
          </p:cNvPicPr>
          <p:nvPr/>
        </p:nvPicPr>
        <p:blipFill>
          <a:blip r:embed="rId1"/>
          <a:stretch>
            <a:fillRect/>
          </a:stretch>
        </p:blipFill>
        <p:spPr>
          <a:xfrm>
            <a:off x="10844784" y="384048"/>
            <a:ext cx="914400" cy="563270"/>
          </a:xfrm>
          <a:prstGeom prst="rect">
            <a:avLst/>
          </a:prstGeom>
        </p:spPr>
      </p:pic>
      <p:sp>
        <p:nvSpPr>
          <p:cNvPr id="3" name="Text 0"/>
          <p:cNvSpPr/>
          <p:nvPr/>
        </p:nvSpPr>
        <p:spPr>
          <a:xfrm>
            <a:off x="548640" y="384048"/>
            <a:ext cx="7315200" cy="256032"/>
          </a:xfrm>
          <a:prstGeom prst="rect">
            <a:avLst/>
          </a:prstGeom>
          <a:noFill/>
          <a:ln/>
        </p:spPr>
        <p:txBody>
          <a:bodyPr wrap="square" lIns="0" tIns="0" rIns="0" bIns="0" rtlCol="0" anchor="t"/>
          <a:lstStyle/>
          <a:p>
            <a:pPr indent="0" marL="0">
              <a:buNone/>
            </a:pPr>
            <a:r>
              <a:rPr lang="en-US" sz="1100" b="1" spc="200" kern="0" dirty="0">
                <a:solidFill>
                  <a:srgbClr val="E41B23"/>
                </a:solidFill>
                <a:latin typeface="Inter" pitchFamily="34" charset="0"/>
                <a:ea typeface="Inter" pitchFamily="34" charset="-122"/>
                <a:cs typeface="Inter" pitchFamily="34" charset="-120"/>
              </a:rPr>
              <a:t>01 · BÀI TOÁN</a:t>
            </a:r>
            <a:endParaRPr lang="en-US" sz="1100" dirty="0"/>
          </a:p>
        </p:txBody>
      </p:sp>
      <p:sp>
        <p:nvSpPr>
          <p:cNvPr id="4" name="Text 1"/>
          <p:cNvSpPr/>
          <p:nvPr/>
        </p:nvSpPr>
        <p:spPr>
          <a:xfrm>
            <a:off x="548640" y="658368"/>
            <a:ext cx="10104120" cy="548640"/>
          </a:xfrm>
          <a:prstGeom prst="rect">
            <a:avLst/>
          </a:prstGeom>
          <a:noFill/>
          <a:ln/>
        </p:spPr>
        <p:txBody>
          <a:bodyPr wrap="square" lIns="0" tIns="0" rIns="0" bIns="0" rtlCol="0" anchor="t"/>
          <a:lstStyle/>
          <a:p>
            <a:pPr indent="0" marL="0">
              <a:buNone/>
            </a:pPr>
            <a:r>
              <a:rPr lang="en-US" sz="2500" b="1" dirty="0">
                <a:solidFill>
                  <a:srgbClr val="0F1C34"/>
                </a:solidFill>
                <a:latin typeface="Inter" pitchFamily="34" charset="0"/>
                <a:ea typeface="Inter" pitchFamily="34" charset="-122"/>
                <a:cs typeface="Inter" pitchFamily="34" charset="-120"/>
              </a:rPr>
              <a:t>Tam giác thất bại của các công cụ code review</a:t>
            </a:r>
            <a:endParaRPr lang="en-US" sz="2500" dirty="0"/>
          </a:p>
        </p:txBody>
      </p:sp>
      <p:sp>
        <p:nvSpPr>
          <p:cNvPr id="5" name="Text 2"/>
          <p:cNvSpPr/>
          <p:nvPr/>
        </p:nvSpPr>
        <p:spPr>
          <a:xfrm>
            <a:off x="548640" y="1298448"/>
            <a:ext cx="10058400" cy="274320"/>
          </a:xfrm>
          <a:prstGeom prst="rect">
            <a:avLst/>
          </a:prstGeom>
          <a:noFill/>
          <a:ln/>
        </p:spPr>
        <p:txBody>
          <a:bodyPr wrap="square" lIns="0" tIns="0" rIns="0" bIns="0" rtlCol="0" anchor="t"/>
          <a:lstStyle/>
          <a:p>
            <a:pPr indent="0" marL="0">
              <a:buNone/>
            </a:pPr>
            <a:r>
              <a:rPr lang="en-US" sz="1150" dirty="0">
                <a:solidFill>
                  <a:srgbClr val="8A99AD"/>
                </a:solidFill>
                <a:latin typeface="Inter" pitchFamily="34" charset="0"/>
                <a:ea typeface="Inter" pitchFamily="34" charset="-122"/>
                <a:cs typeface="Inter" pitchFamily="34" charset="-120"/>
              </a:rPr>
              <a:t>Ba lớp bảo vệ truyền thống — nâng cấp một lớp không giải quyết được điểm yếu của hai lớp còn lại.</a:t>
            </a:r>
            <a:endParaRPr lang="en-US" sz="1150" dirty="0"/>
          </a:p>
        </p:txBody>
      </p:sp>
      <p:sp>
        <p:nvSpPr>
          <p:cNvPr id="6" name="Shape 3"/>
          <p:cNvSpPr/>
          <p:nvPr/>
        </p:nvSpPr>
        <p:spPr>
          <a:xfrm>
            <a:off x="548640" y="1719072"/>
            <a:ext cx="3474720" cy="2240280"/>
          </a:xfrm>
          <a:prstGeom prst="roundRect">
            <a:avLst>
              <a:gd name="adj" fmla="val 4082"/>
            </a:avLst>
          </a:prstGeom>
          <a:solidFill>
            <a:srgbClr val="FFFFFF">
              <a:alpha val="92000"/>
            </a:srgbClr>
          </a:solidFill>
          <a:ln w="12700">
            <a:solidFill>
              <a:srgbClr val="E3E9F2"/>
            </a:solidFill>
            <a:prstDash val="solid"/>
          </a:ln>
          <a:effectLst>
            <a:outerShdw sx="100000" sy="100000" kx="0" ky="0" algn="bl" rotWithShape="0" blurRad="177800" dist="25400" dir="5400000">
              <a:srgbClr val="AFBFD4">
                <a:alpha val="40000"/>
              </a:srgbClr>
            </a:outerShdw>
          </a:effectLst>
        </p:spPr>
      </p:sp>
      <p:sp>
        <p:nvSpPr>
          <p:cNvPr id="7" name="Shape 4"/>
          <p:cNvSpPr/>
          <p:nvPr/>
        </p:nvSpPr>
        <p:spPr>
          <a:xfrm>
            <a:off x="822960" y="1965960"/>
            <a:ext cx="566928" cy="566928"/>
          </a:xfrm>
          <a:prstGeom prst="ellipse">
            <a:avLst/>
          </a:prstGeom>
          <a:solidFill>
            <a:srgbClr val="E41B23"/>
          </a:solidFill>
          <a:ln w="12700">
            <a:solidFill>
              <a:srgbClr val="E41B23"/>
            </a:solidFill>
            <a:prstDash val="solid"/>
          </a:ln>
        </p:spPr>
      </p:sp>
      <p:pic>
        <p:nvPicPr>
          <p:cNvPr id="8" name="Image 1" descr="img/users_w.png">    </p:cNvPr>
          <p:cNvPicPr>
            <a:picLocks noChangeAspect="1"/>
          </p:cNvPicPr>
          <p:nvPr/>
        </p:nvPicPr>
        <p:blipFill>
          <a:blip r:embed="rId2"/>
          <a:stretch>
            <a:fillRect/>
          </a:stretch>
        </p:blipFill>
        <p:spPr>
          <a:xfrm>
            <a:off x="970361" y="2113361"/>
            <a:ext cx="272125" cy="272125"/>
          </a:xfrm>
          <a:prstGeom prst="rect">
            <a:avLst/>
          </a:prstGeom>
        </p:spPr>
      </p:pic>
      <p:sp>
        <p:nvSpPr>
          <p:cNvPr id="9" name="Text 5"/>
          <p:cNvSpPr/>
          <p:nvPr/>
        </p:nvSpPr>
        <p:spPr>
          <a:xfrm>
            <a:off x="822960" y="2697480"/>
            <a:ext cx="2926080" cy="292608"/>
          </a:xfrm>
          <a:prstGeom prst="rect">
            <a:avLst/>
          </a:prstGeom>
          <a:noFill/>
          <a:ln/>
        </p:spPr>
        <p:txBody>
          <a:bodyPr wrap="square" lIns="0" tIns="0" rIns="0" bIns="0" rtlCol="0" anchor="t"/>
          <a:lstStyle/>
          <a:p>
            <a:pPr indent="0" marL="0">
              <a:buNone/>
            </a:pPr>
            <a:r>
              <a:rPr lang="en-US" sz="1450" b="1" dirty="0">
                <a:solidFill>
                  <a:srgbClr val="0F1C34"/>
                </a:solidFill>
                <a:latin typeface="Inter" pitchFamily="34" charset="0"/>
                <a:ea typeface="Inter" pitchFamily="34" charset="-122"/>
                <a:cs typeface="Inter" pitchFamily="34" charset="-120"/>
              </a:rPr>
              <a:t>Human Code Review</a:t>
            </a:r>
            <a:endParaRPr lang="en-US" sz="1450" dirty="0"/>
          </a:p>
        </p:txBody>
      </p:sp>
      <p:sp>
        <p:nvSpPr>
          <p:cNvPr id="10" name="Text 6"/>
          <p:cNvSpPr/>
          <p:nvPr/>
        </p:nvSpPr>
        <p:spPr>
          <a:xfrm>
            <a:off x="822960" y="3063240"/>
            <a:ext cx="2926080" cy="777240"/>
          </a:xfrm>
          <a:prstGeom prst="rect">
            <a:avLst/>
          </a:prstGeom>
          <a:noFill/>
          <a:ln/>
        </p:spPr>
        <p:txBody>
          <a:bodyPr wrap="square" lIns="0" tIns="0" rIns="0" bIns="0" rtlCol="0" anchor="t"/>
          <a:lstStyle/>
          <a:p>
            <a:pPr indent="0" marL="0">
              <a:lnSpc>
                <a:spcPct val="120000"/>
              </a:lnSpc>
              <a:buNone/>
            </a:pPr>
            <a:r>
              <a:rPr lang="en-US" sz="1000" dirty="0">
                <a:solidFill>
                  <a:srgbClr val="46586F"/>
                </a:solidFill>
                <a:latin typeface="Inter" pitchFamily="34" charset="0"/>
                <a:ea typeface="Inter" pitchFamily="34" charset="-122"/>
                <a:cs typeface="Inter" pitchFamily="34" charset="-120"/>
              </a:rPr>
              <a:t>Phụ thuộc hoàn toàn vào băng thông và sự tập trung của reviewer. Team scale lên → nút thắt cổ chai, hoặc review qua loa và sót lỗi nghiệp vụ.</a:t>
            </a:r>
            <a:endParaRPr lang="en-US" sz="1000" dirty="0"/>
          </a:p>
        </p:txBody>
      </p:sp>
      <p:sp>
        <p:nvSpPr>
          <p:cNvPr id="11" name="Shape 7"/>
          <p:cNvSpPr/>
          <p:nvPr/>
        </p:nvSpPr>
        <p:spPr>
          <a:xfrm>
            <a:off x="4352544" y="1719072"/>
            <a:ext cx="3474720" cy="2240280"/>
          </a:xfrm>
          <a:prstGeom prst="roundRect">
            <a:avLst>
              <a:gd name="adj" fmla="val 4082"/>
            </a:avLst>
          </a:prstGeom>
          <a:solidFill>
            <a:srgbClr val="FFFFFF">
              <a:alpha val="92000"/>
            </a:srgbClr>
          </a:solidFill>
          <a:ln w="12700">
            <a:solidFill>
              <a:srgbClr val="E3E9F2"/>
            </a:solidFill>
            <a:prstDash val="solid"/>
          </a:ln>
          <a:effectLst>
            <a:outerShdw sx="100000" sy="100000" kx="0" ky="0" algn="bl" rotWithShape="0" blurRad="177800" dist="25400" dir="5400000">
              <a:srgbClr val="AFBFD4">
                <a:alpha val="40000"/>
              </a:srgbClr>
            </a:outerShdw>
          </a:effectLst>
        </p:spPr>
      </p:sp>
      <p:sp>
        <p:nvSpPr>
          <p:cNvPr id="12" name="Shape 8"/>
          <p:cNvSpPr/>
          <p:nvPr/>
        </p:nvSpPr>
        <p:spPr>
          <a:xfrm>
            <a:off x="4626864" y="1965960"/>
            <a:ext cx="566928" cy="566928"/>
          </a:xfrm>
          <a:prstGeom prst="ellipse">
            <a:avLst/>
          </a:prstGeom>
          <a:solidFill>
            <a:srgbClr val="E41B23"/>
          </a:solidFill>
          <a:ln w="12700">
            <a:solidFill>
              <a:srgbClr val="E41B23"/>
            </a:solidFill>
            <a:prstDash val="solid"/>
          </a:ln>
        </p:spPr>
      </p:sp>
      <p:pic>
        <p:nvPicPr>
          <p:cNvPr id="13" name="Image 2" descr="img/code_w.png">    </p:cNvPr>
          <p:cNvPicPr>
            <a:picLocks noChangeAspect="1"/>
          </p:cNvPicPr>
          <p:nvPr/>
        </p:nvPicPr>
        <p:blipFill>
          <a:blip r:embed="rId3"/>
          <a:stretch>
            <a:fillRect/>
          </a:stretch>
        </p:blipFill>
        <p:spPr>
          <a:xfrm>
            <a:off x="4774265" y="2113361"/>
            <a:ext cx="272125" cy="272125"/>
          </a:xfrm>
          <a:prstGeom prst="rect">
            <a:avLst/>
          </a:prstGeom>
        </p:spPr>
      </p:pic>
      <p:sp>
        <p:nvSpPr>
          <p:cNvPr id="14" name="Text 9"/>
          <p:cNvSpPr/>
          <p:nvPr/>
        </p:nvSpPr>
        <p:spPr>
          <a:xfrm>
            <a:off x="4626864" y="2697480"/>
            <a:ext cx="2926080" cy="292608"/>
          </a:xfrm>
          <a:prstGeom prst="rect">
            <a:avLst/>
          </a:prstGeom>
          <a:noFill/>
          <a:ln/>
        </p:spPr>
        <p:txBody>
          <a:bodyPr wrap="square" lIns="0" tIns="0" rIns="0" bIns="0" rtlCol="0" anchor="t"/>
          <a:lstStyle/>
          <a:p>
            <a:pPr indent="0" marL="0">
              <a:buNone/>
            </a:pPr>
            <a:r>
              <a:rPr lang="en-US" sz="1450" b="1" dirty="0">
                <a:solidFill>
                  <a:srgbClr val="0F1C34"/>
                </a:solidFill>
                <a:latin typeface="Inter" pitchFamily="34" charset="0"/>
                <a:ea typeface="Inter" pitchFamily="34" charset="-122"/>
                <a:cs typeface="Inter" pitchFamily="34" charset="-120"/>
              </a:rPr>
              <a:t>Static Analysis / Linter</a:t>
            </a:r>
            <a:endParaRPr lang="en-US" sz="1450" dirty="0"/>
          </a:p>
        </p:txBody>
      </p:sp>
      <p:sp>
        <p:nvSpPr>
          <p:cNvPr id="15" name="Text 10"/>
          <p:cNvSpPr/>
          <p:nvPr/>
        </p:nvSpPr>
        <p:spPr>
          <a:xfrm>
            <a:off x="4626864" y="3063240"/>
            <a:ext cx="2926080" cy="777240"/>
          </a:xfrm>
          <a:prstGeom prst="rect">
            <a:avLst/>
          </a:prstGeom>
          <a:noFill/>
          <a:ln/>
        </p:spPr>
        <p:txBody>
          <a:bodyPr wrap="square" lIns="0" tIns="0" rIns="0" bIns="0" rtlCol="0" anchor="t"/>
          <a:lstStyle/>
          <a:p>
            <a:pPr indent="0" marL="0">
              <a:lnSpc>
                <a:spcPct val="120000"/>
              </a:lnSpc>
              <a:buNone/>
            </a:pPr>
            <a:r>
              <a:rPr lang="en-US" sz="1000" dirty="0">
                <a:solidFill>
                  <a:srgbClr val="46586F"/>
                </a:solidFill>
                <a:latin typeface="Inter" pitchFamily="34" charset="0"/>
                <a:ea typeface="Inter" pitchFamily="34" charset="-122"/>
                <a:cs typeface="Inter" pitchFamily="34" charset="-120"/>
              </a:rPr>
              <a:t>Bắt lỗi cú pháp rất tốt nhưng “mù” trước context và logic nghiệp vụ riêng. Cấu hình luật phức tạp: DSL/Rego hoặc YAML rườm rà.</a:t>
            </a:r>
            <a:endParaRPr lang="en-US" sz="1000" dirty="0"/>
          </a:p>
        </p:txBody>
      </p:sp>
      <p:sp>
        <p:nvSpPr>
          <p:cNvPr id="16" name="Shape 11"/>
          <p:cNvSpPr/>
          <p:nvPr/>
        </p:nvSpPr>
        <p:spPr>
          <a:xfrm>
            <a:off x="8156448" y="1719072"/>
            <a:ext cx="3474720" cy="2240280"/>
          </a:xfrm>
          <a:prstGeom prst="roundRect">
            <a:avLst>
              <a:gd name="adj" fmla="val 4082"/>
            </a:avLst>
          </a:prstGeom>
          <a:solidFill>
            <a:srgbClr val="FFFFFF">
              <a:alpha val="92000"/>
            </a:srgbClr>
          </a:solidFill>
          <a:ln w="12700">
            <a:solidFill>
              <a:srgbClr val="E3E9F2"/>
            </a:solidFill>
            <a:prstDash val="solid"/>
          </a:ln>
          <a:effectLst>
            <a:outerShdw sx="100000" sy="100000" kx="0" ky="0" algn="bl" rotWithShape="0" blurRad="177800" dist="25400" dir="5400000">
              <a:srgbClr val="AFBFD4">
                <a:alpha val="40000"/>
              </a:srgbClr>
            </a:outerShdw>
          </a:effectLst>
        </p:spPr>
      </p:sp>
      <p:sp>
        <p:nvSpPr>
          <p:cNvPr id="17" name="Shape 12"/>
          <p:cNvSpPr/>
          <p:nvPr/>
        </p:nvSpPr>
        <p:spPr>
          <a:xfrm>
            <a:off x="8430768" y="1965960"/>
            <a:ext cx="566928" cy="566928"/>
          </a:xfrm>
          <a:prstGeom prst="ellipse">
            <a:avLst/>
          </a:prstGeom>
          <a:solidFill>
            <a:srgbClr val="E41B23"/>
          </a:solidFill>
          <a:ln w="12700">
            <a:solidFill>
              <a:srgbClr val="E41B23"/>
            </a:solidFill>
            <a:prstDash val="solid"/>
          </a:ln>
        </p:spPr>
      </p:sp>
      <p:pic>
        <p:nvPicPr>
          <p:cNvPr id="18" name="Image 3" descr="img/cpu_w.png">    </p:cNvPr>
          <p:cNvPicPr>
            <a:picLocks noChangeAspect="1"/>
          </p:cNvPicPr>
          <p:nvPr/>
        </p:nvPicPr>
        <p:blipFill>
          <a:blip r:embed="rId4"/>
          <a:stretch>
            <a:fillRect/>
          </a:stretch>
        </p:blipFill>
        <p:spPr>
          <a:xfrm>
            <a:off x="8578169" y="2113361"/>
            <a:ext cx="272125" cy="272125"/>
          </a:xfrm>
          <a:prstGeom prst="rect">
            <a:avLst/>
          </a:prstGeom>
        </p:spPr>
      </p:pic>
      <p:sp>
        <p:nvSpPr>
          <p:cNvPr id="19" name="Text 13"/>
          <p:cNvSpPr/>
          <p:nvPr/>
        </p:nvSpPr>
        <p:spPr>
          <a:xfrm>
            <a:off x="8430768" y="2697480"/>
            <a:ext cx="2926080" cy="292608"/>
          </a:xfrm>
          <a:prstGeom prst="rect">
            <a:avLst/>
          </a:prstGeom>
          <a:noFill/>
          <a:ln/>
        </p:spPr>
        <p:txBody>
          <a:bodyPr wrap="square" lIns="0" tIns="0" rIns="0" bIns="0" rtlCol="0" anchor="t"/>
          <a:lstStyle/>
          <a:p>
            <a:pPr indent="0" marL="0">
              <a:buNone/>
            </a:pPr>
            <a:r>
              <a:rPr lang="en-US" sz="1450" b="1" dirty="0">
                <a:solidFill>
                  <a:srgbClr val="0F1C34"/>
                </a:solidFill>
                <a:latin typeface="Inter" pitchFamily="34" charset="0"/>
                <a:ea typeface="Inter" pitchFamily="34" charset="-122"/>
                <a:cs typeface="Inter" pitchFamily="34" charset="-120"/>
              </a:rPr>
              <a:t>AI Reviewer thế hệ đầu</a:t>
            </a:r>
            <a:endParaRPr lang="en-US" sz="1450" dirty="0"/>
          </a:p>
        </p:txBody>
      </p:sp>
      <p:sp>
        <p:nvSpPr>
          <p:cNvPr id="20" name="Text 14"/>
          <p:cNvSpPr/>
          <p:nvPr/>
        </p:nvSpPr>
        <p:spPr>
          <a:xfrm>
            <a:off x="8430768" y="3063240"/>
            <a:ext cx="2926080" cy="777240"/>
          </a:xfrm>
          <a:prstGeom prst="rect">
            <a:avLst/>
          </a:prstGeom>
          <a:noFill/>
          <a:ln/>
        </p:spPr>
        <p:txBody>
          <a:bodyPr wrap="square" lIns="0" tIns="0" rIns="0" bIns="0" rtlCol="0" anchor="t"/>
          <a:lstStyle/>
          <a:p>
            <a:pPr indent="0" marL="0">
              <a:lnSpc>
                <a:spcPct val="120000"/>
              </a:lnSpc>
              <a:buNone/>
            </a:pPr>
            <a:r>
              <a:rPr lang="en-US" sz="1000" dirty="0">
                <a:solidFill>
                  <a:srgbClr val="46586F"/>
                </a:solidFill>
                <a:latin typeface="Inter" pitchFamily="34" charset="0"/>
                <a:ea typeface="Inter" pitchFamily="34" charset="-122"/>
                <a:cs typeface="Inter" pitchFamily="34" charset="-120"/>
              </a:rPr>
              <a:t>Post-push / PR bot. Mắc cùng lúc ba lỗi cấu trúc về vị trí kiểm tra, độ tin cậy của cảnh báo và hành vi tự sửa code.</a:t>
            </a:r>
            <a:endParaRPr lang="en-US" sz="1000" dirty="0"/>
          </a:p>
        </p:txBody>
      </p:sp>
      <p:sp>
        <p:nvSpPr>
          <p:cNvPr id="21" name="Shape 15"/>
          <p:cNvSpPr/>
          <p:nvPr/>
        </p:nvSpPr>
        <p:spPr>
          <a:xfrm>
            <a:off x="548640" y="4187952"/>
            <a:ext cx="11091672" cy="1389888"/>
          </a:xfrm>
          <a:prstGeom prst="roundRect">
            <a:avLst>
              <a:gd name="adj" fmla="val 6579"/>
            </a:avLst>
          </a:prstGeom>
          <a:solidFill>
            <a:srgbClr val="FDECEC">
              <a:alpha val="60000"/>
            </a:srgbClr>
          </a:solidFill>
          <a:ln w="12700">
            <a:solidFill>
              <a:srgbClr val="F6D2D3"/>
            </a:solidFill>
            <a:prstDash val="solid"/>
          </a:ln>
          <a:effectLst>
            <a:outerShdw sx="100000" sy="100000" kx="0" ky="0" algn="bl" rotWithShape="0" blurRad="177800" dist="25400" dir="5400000">
              <a:srgbClr val="AFBFD4">
                <a:alpha val="40000"/>
              </a:srgbClr>
            </a:outerShdw>
          </a:effectLst>
        </p:spPr>
      </p:sp>
      <p:sp>
        <p:nvSpPr>
          <p:cNvPr id="22" name="Text 16"/>
          <p:cNvSpPr/>
          <p:nvPr/>
        </p:nvSpPr>
        <p:spPr>
          <a:xfrm>
            <a:off x="841248" y="4343400"/>
            <a:ext cx="7315200" cy="237744"/>
          </a:xfrm>
          <a:prstGeom prst="rect">
            <a:avLst/>
          </a:prstGeom>
          <a:noFill/>
          <a:ln/>
        </p:spPr>
        <p:txBody>
          <a:bodyPr wrap="square" lIns="0" tIns="0" rIns="0" bIns="0" rtlCol="0" anchor="t"/>
          <a:lstStyle/>
          <a:p>
            <a:pPr indent="0" marL="0">
              <a:buNone/>
            </a:pPr>
            <a:r>
              <a:rPr lang="en-US" sz="1000" b="1" spc="140" kern="0" dirty="0">
                <a:solidFill>
                  <a:srgbClr val="E41B23"/>
                </a:solidFill>
                <a:latin typeface="Inter" pitchFamily="34" charset="0"/>
                <a:ea typeface="Inter" pitchFamily="34" charset="-122"/>
                <a:cs typeface="Inter" pitchFamily="34" charset="-120"/>
              </a:rPr>
              <a:t>BA LỖI CẤU TRÚC CỦA AI REVIEWER THẾ HỆ ĐẦU</a:t>
            </a:r>
            <a:endParaRPr lang="en-US" sz="1000" dirty="0"/>
          </a:p>
        </p:txBody>
      </p:sp>
      <p:sp>
        <p:nvSpPr>
          <p:cNvPr id="23" name="Text 17"/>
          <p:cNvSpPr/>
          <p:nvPr/>
        </p:nvSpPr>
        <p:spPr>
          <a:xfrm>
            <a:off x="841248" y="4645152"/>
            <a:ext cx="3291840" cy="237744"/>
          </a:xfrm>
          <a:prstGeom prst="rect">
            <a:avLst/>
          </a:prstGeom>
          <a:noFill/>
          <a:ln/>
        </p:spPr>
        <p:txBody>
          <a:bodyPr wrap="square" lIns="0" tIns="0" rIns="0" bIns="0" rtlCol="0" anchor="t"/>
          <a:lstStyle/>
          <a:p>
            <a:pPr indent="0" marL="0">
              <a:buNone/>
            </a:pPr>
            <a:r>
              <a:rPr lang="en-US" sz="1150" b="1" dirty="0">
                <a:solidFill>
                  <a:srgbClr val="0F1C34"/>
                </a:solidFill>
                <a:latin typeface="Inter" pitchFamily="34" charset="0"/>
                <a:ea typeface="Inter" pitchFamily="34" charset="-122"/>
                <a:cs typeface="Inter" pitchFamily="34" charset="-120"/>
              </a:rPr>
              <a:t>Sai vị trí (Wrong Gate)</a:t>
            </a:r>
            <a:endParaRPr lang="en-US" sz="1150" dirty="0"/>
          </a:p>
        </p:txBody>
      </p:sp>
      <p:sp>
        <p:nvSpPr>
          <p:cNvPr id="24" name="Text 18"/>
          <p:cNvSpPr/>
          <p:nvPr/>
        </p:nvSpPr>
        <p:spPr>
          <a:xfrm>
            <a:off x="841248" y="4919472"/>
            <a:ext cx="3291840" cy="566928"/>
          </a:xfrm>
          <a:prstGeom prst="rect">
            <a:avLst/>
          </a:prstGeom>
          <a:noFill/>
          <a:ln/>
        </p:spPr>
        <p:txBody>
          <a:bodyPr wrap="square" lIns="0" tIns="0" rIns="0" bIns="0" rtlCol="0" anchor="t"/>
          <a:lstStyle/>
          <a:p>
            <a:pPr indent="0" marL="0">
              <a:lnSpc>
                <a:spcPct val="115000"/>
              </a:lnSpc>
              <a:buNone/>
            </a:pPr>
            <a:r>
              <a:rPr lang="en-US" sz="950" dirty="0">
                <a:solidFill>
                  <a:srgbClr val="46586F"/>
                </a:solidFill>
                <a:latin typeface="Inter" pitchFamily="34" charset="0"/>
                <a:ea typeface="Inter" pitchFamily="34" charset="-122"/>
                <a:cs typeface="Inter" pitchFamily="34" charset="-120"/>
              </a:rPr>
              <a:t>Chạy ở tầng CI/CD hoặc PR bot — dev phải push mới có phản hồi, gây context switching và tốn chi phí compute.</a:t>
            </a:r>
            <a:endParaRPr lang="en-US" sz="950" dirty="0"/>
          </a:p>
        </p:txBody>
      </p:sp>
      <p:sp>
        <p:nvSpPr>
          <p:cNvPr id="25" name="Text 19"/>
          <p:cNvSpPr/>
          <p:nvPr/>
        </p:nvSpPr>
        <p:spPr>
          <a:xfrm>
            <a:off x="4443984" y="4645152"/>
            <a:ext cx="3291840" cy="237744"/>
          </a:xfrm>
          <a:prstGeom prst="rect">
            <a:avLst/>
          </a:prstGeom>
          <a:noFill/>
          <a:ln/>
        </p:spPr>
        <p:txBody>
          <a:bodyPr wrap="square" lIns="0" tIns="0" rIns="0" bIns="0" rtlCol="0" anchor="t"/>
          <a:lstStyle/>
          <a:p>
            <a:pPr indent="0" marL="0">
              <a:buNone/>
            </a:pPr>
            <a:r>
              <a:rPr lang="en-US" sz="1150" b="1" dirty="0">
                <a:solidFill>
                  <a:srgbClr val="0F1C34"/>
                </a:solidFill>
                <a:latin typeface="Inter" pitchFamily="34" charset="0"/>
                <a:ea typeface="Inter" pitchFamily="34" charset="-122"/>
                <a:cs typeface="Inter" pitchFamily="34" charset="-120"/>
              </a:rPr>
              <a:t>Thảm họa Hallucination</a:t>
            </a:r>
            <a:endParaRPr lang="en-US" sz="1150" dirty="0"/>
          </a:p>
        </p:txBody>
      </p:sp>
      <p:sp>
        <p:nvSpPr>
          <p:cNvPr id="26" name="Text 20"/>
          <p:cNvSpPr/>
          <p:nvPr/>
        </p:nvSpPr>
        <p:spPr>
          <a:xfrm>
            <a:off x="4443984" y="4919472"/>
            <a:ext cx="3291840" cy="566928"/>
          </a:xfrm>
          <a:prstGeom prst="rect">
            <a:avLst/>
          </a:prstGeom>
          <a:noFill/>
          <a:ln/>
        </p:spPr>
        <p:txBody>
          <a:bodyPr wrap="square" lIns="0" tIns="0" rIns="0" bIns="0" rtlCol="0" anchor="t"/>
          <a:lstStyle/>
          <a:p>
            <a:pPr indent="0" marL="0">
              <a:lnSpc>
                <a:spcPct val="115000"/>
              </a:lnSpc>
              <a:buNone/>
            </a:pPr>
            <a:r>
              <a:rPr lang="en-US" sz="950" dirty="0">
                <a:solidFill>
                  <a:srgbClr val="46586F"/>
                </a:solidFill>
                <a:latin typeface="Inter" pitchFamily="34" charset="0"/>
                <a:ea typeface="Inter" pitchFamily="34" charset="-122"/>
                <a:cs typeface="Inter" pitchFamily="34" charset="-120"/>
              </a:rPr>
              <a:t>False positive tự tin (đếm sai dòng, bắt lỗi không tồn tại) → alert fatigue, dev dần bỏ qua mọi gợi ý của AI.</a:t>
            </a:r>
            <a:endParaRPr lang="en-US" sz="950" dirty="0"/>
          </a:p>
        </p:txBody>
      </p:sp>
      <p:sp>
        <p:nvSpPr>
          <p:cNvPr id="27" name="Text 21"/>
          <p:cNvSpPr/>
          <p:nvPr/>
        </p:nvSpPr>
        <p:spPr>
          <a:xfrm>
            <a:off x="8046720" y="4645152"/>
            <a:ext cx="3291840" cy="237744"/>
          </a:xfrm>
          <a:prstGeom prst="rect">
            <a:avLst/>
          </a:prstGeom>
          <a:noFill/>
          <a:ln/>
        </p:spPr>
        <p:txBody>
          <a:bodyPr wrap="square" lIns="0" tIns="0" rIns="0" bIns="0" rtlCol="0" anchor="t"/>
          <a:lstStyle/>
          <a:p>
            <a:pPr indent="0" marL="0">
              <a:buNone/>
            </a:pPr>
            <a:r>
              <a:rPr lang="en-US" sz="1150" b="1" dirty="0">
                <a:solidFill>
                  <a:srgbClr val="0F1C34"/>
                </a:solidFill>
                <a:latin typeface="Inter" pitchFamily="34" charset="0"/>
                <a:ea typeface="Inter" pitchFamily="34" charset="-122"/>
                <a:cs typeface="Inter" pitchFamily="34" charset="-120"/>
              </a:rPr>
              <a:t>Auto-fix âm thầm</a:t>
            </a:r>
            <a:endParaRPr lang="en-US" sz="1150" dirty="0"/>
          </a:p>
        </p:txBody>
      </p:sp>
      <p:sp>
        <p:nvSpPr>
          <p:cNvPr id="28" name="Text 22"/>
          <p:cNvSpPr/>
          <p:nvPr/>
        </p:nvSpPr>
        <p:spPr>
          <a:xfrm>
            <a:off x="8046720" y="4919472"/>
            <a:ext cx="3291840" cy="566928"/>
          </a:xfrm>
          <a:prstGeom prst="rect">
            <a:avLst/>
          </a:prstGeom>
          <a:noFill/>
          <a:ln/>
        </p:spPr>
        <p:txBody>
          <a:bodyPr wrap="square" lIns="0" tIns="0" rIns="0" bIns="0" rtlCol="0" anchor="t"/>
          <a:lstStyle/>
          <a:p>
            <a:pPr indent="0" marL="0">
              <a:lnSpc>
                <a:spcPct val="115000"/>
              </a:lnSpc>
              <a:buNone/>
            </a:pPr>
            <a:r>
              <a:rPr lang="en-US" sz="950" dirty="0">
                <a:solidFill>
                  <a:srgbClr val="46586F"/>
                </a:solidFill>
                <a:latin typeface="Inter" pitchFamily="34" charset="0"/>
                <a:ea typeface="Inter" pitchFamily="34" charset="-122"/>
                <a:cs typeface="Inter" pitchFamily="34" charset="-120"/>
              </a:rPr>
              <a:t>Công cụ tự động vá code: một patch sai do AI sinh ra nếu lọt review sẽ đưa bug nghiêm trọng vào sản phẩm.</a:t>
            </a:r>
            <a:endParaRPr lang="en-US" sz="950" dirty="0"/>
          </a:p>
        </p:txBody>
      </p:sp>
      <p:sp>
        <p:nvSpPr>
          <p:cNvPr id="29" name="Text 23"/>
          <p:cNvSpPr/>
          <p:nvPr/>
        </p:nvSpPr>
        <p:spPr>
          <a:xfrm>
            <a:off x="548640" y="5806440"/>
            <a:ext cx="11091672" cy="310896"/>
          </a:xfrm>
          <a:prstGeom prst="rect">
            <a:avLst/>
          </a:prstGeom>
          <a:noFill/>
          <a:ln/>
        </p:spPr>
        <p:txBody>
          <a:bodyPr wrap="square" lIns="0" tIns="0" rIns="0" bIns="0" rtlCol="0" anchor="t"/>
          <a:lstStyle/>
          <a:p>
            <a:pPr indent="0" marL="0">
              <a:buNone/>
            </a:pPr>
            <a:r>
              <a:rPr lang="en-US" sz="1200" b="1" dirty="0">
                <a:solidFill>
                  <a:srgbClr val="E41B23"/>
                </a:solidFill>
                <a:latin typeface="Inter" pitchFamily="34" charset="0"/>
                <a:ea typeface="Inter" pitchFamily="34" charset="-122"/>
                <a:cs typeface="Inter" pitchFamily="34" charset="-120"/>
              </a:rPr>
              <a:t>Khoảng trống cần lấp: chặn đúng chỗ (trước push) · hiểu đúng ngữ cảnh (Policy-as-Code) · không tự ý sửa code thay con người.</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p:bgPr>
    </p:bg>
    <p:spTree>
      <p:nvGrpSpPr>
        <p:cNvPr id="1" name=""/>
        <p:cNvGrpSpPr/>
        <p:nvPr/>
      </p:nvGrpSpPr>
      <p:grpSpPr>
        <a:xfrm>
          <a:off x="0" y="0"/>
          <a:ext cx="0" cy="0"/>
          <a:chOff x="0" y="0"/>
          <a:chExt cx="0" cy="0"/>
        </a:xfrm>
      </p:grpSpPr>
      <p:pic>
        <p:nvPicPr>
          <p:cNvPr id="2" name="Image 0" descr="logo_vin.png">    </p:cNvPr>
          <p:cNvPicPr>
            <a:picLocks noChangeAspect="1"/>
          </p:cNvPicPr>
          <p:nvPr/>
        </p:nvPicPr>
        <p:blipFill>
          <a:blip r:embed="rId1"/>
          <a:stretch>
            <a:fillRect/>
          </a:stretch>
        </p:blipFill>
        <p:spPr>
          <a:xfrm>
            <a:off x="10844784" y="384048"/>
            <a:ext cx="914400" cy="563270"/>
          </a:xfrm>
          <a:prstGeom prst="rect">
            <a:avLst/>
          </a:prstGeom>
        </p:spPr>
      </p:pic>
      <p:sp>
        <p:nvSpPr>
          <p:cNvPr id="3" name="Text 0"/>
          <p:cNvSpPr/>
          <p:nvPr/>
        </p:nvSpPr>
        <p:spPr>
          <a:xfrm>
            <a:off x="548640" y="384048"/>
            <a:ext cx="7315200" cy="256032"/>
          </a:xfrm>
          <a:prstGeom prst="rect">
            <a:avLst/>
          </a:prstGeom>
          <a:noFill/>
          <a:ln/>
        </p:spPr>
        <p:txBody>
          <a:bodyPr wrap="square" lIns="0" tIns="0" rIns="0" bIns="0" rtlCol="0" anchor="t"/>
          <a:lstStyle/>
          <a:p>
            <a:pPr indent="0" marL="0">
              <a:buNone/>
            </a:pPr>
            <a:r>
              <a:rPr lang="en-US" sz="1100" b="1" spc="200" kern="0" dirty="0">
                <a:solidFill>
                  <a:srgbClr val="E41B23"/>
                </a:solidFill>
                <a:latin typeface="Inter" pitchFamily="34" charset="0"/>
                <a:ea typeface="Inter" pitchFamily="34" charset="-122"/>
                <a:cs typeface="Inter" pitchFamily="34" charset="-120"/>
              </a:rPr>
              <a:t>02 · GIẢI PHÁP</a:t>
            </a:r>
            <a:endParaRPr lang="en-US" sz="1100" dirty="0"/>
          </a:p>
        </p:txBody>
      </p:sp>
      <p:sp>
        <p:nvSpPr>
          <p:cNvPr id="4" name="Text 1"/>
          <p:cNvSpPr/>
          <p:nvPr/>
        </p:nvSpPr>
        <p:spPr>
          <a:xfrm>
            <a:off x="548640" y="658368"/>
            <a:ext cx="10104120" cy="548640"/>
          </a:xfrm>
          <a:prstGeom prst="rect">
            <a:avLst/>
          </a:prstGeom>
          <a:noFill/>
          <a:ln/>
        </p:spPr>
        <p:txBody>
          <a:bodyPr wrap="square" lIns="0" tIns="0" rIns="0" bIns="0" rtlCol="0" anchor="t"/>
          <a:lstStyle/>
          <a:p>
            <a:pPr indent="0" marL="0">
              <a:buNone/>
            </a:pPr>
            <a:r>
              <a:rPr lang="en-US" sz="2500" b="1" dirty="0">
                <a:solidFill>
                  <a:srgbClr val="0F1C34"/>
                </a:solidFill>
                <a:latin typeface="Inter" pitchFamily="34" charset="0"/>
                <a:ea typeface="Inter" pitchFamily="34" charset="-122"/>
                <a:cs typeface="Inter" pitchFamily="34" charset="-120"/>
              </a:rPr>
              <a:t>Pre-push gate: chặn lỗi trước khi code rời máy dev</a:t>
            </a:r>
            <a:endParaRPr lang="en-US" sz="2500" dirty="0"/>
          </a:p>
        </p:txBody>
      </p:sp>
      <p:sp>
        <p:nvSpPr>
          <p:cNvPr id="5" name="Shape 2"/>
          <p:cNvSpPr/>
          <p:nvPr/>
        </p:nvSpPr>
        <p:spPr>
          <a:xfrm>
            <a:off x="548640" y="1600200"/>
            <a:ext cx="3886200" cy="4114800"/>
          </a:xfrm>
          <a:prstGeom prst="roundRect">
            <a:avLst>
              <a:gd name="adj" fmla="val 2353"/>
            </a:avLst>
          </a:prstGeom>
          <a:solidFill>
            <a:srgbClr val="FFFFFF">
              <a:alpha val="92000"/>
            </a:srgbClr>
          </a:solidFill>
          <a:ln w="12700">
            <a:solidFill>
              <a:srgbClr val="E3E9F2"/>
            </a:solidFill>
            <a:prstDash val="solid"/>
          </a:ln>
          <a:effectLst>
            <a:outerShdw sx="100000" sy="100000" kx="0" ky="0" algn="bl" rotWithShape="0" blurRad="177800" dist="25400" dir="5400000">
              <a:srgbClr val="AFBFD4">
                <a:alpha val="40000"/>
              </a:srgbClr>
            </a:outerShdw>
          </a:effectLst>
        </p:spPr>
      </p:sp>
      <p:sp>
        <p:nvSpPr>
          <p:cNvPr id="6" name="Text 3"/>
          <p:cNvSpPr/>
          <p:nvPr/>
        </p:nvSpPr>
        <p:spPr>
          <a:xfrm>
            <a:off x="841248" y="1810512"/>
            <a:ext cx="3291840" cy="502920"/>
          </a:xfrm>
          <a:prstGeom prst="rect">
            <a:avLst/>
          </a:prstGeom>
          <a:noFill/>
          <a:ln/>
        </p:spPr>
        <p:txBody>
          <a:bodyPr wrap="square" lIns="0" tIns="0" rIns="0" bIns="0" rtlCol="0" anchor="t"/>
          <a:lstStyle/>
          <a:p>
            <a:pPr indent="0" marL="0">
              <a:lnSpc>
                <a:spcPct val="115000"/>
              </a:lnSpc>
              <a:buNone/>
            </a:pPr>
            <a:r>
              <a:rPr lang="en-US" sz="1300" b="1" dirty="0">
                <a:solidFill>
                  <a:srgbClr val="0F1C34"/>
                </a:solidFill>
                <a:latin typeface="Inter" pitchFamily="34" charset="0"/>
                <a:ea typeface="Inter" pitchFamily="34" charset="-122"/>
                <a:cs typeface="Inter" pitchFamily="34" charset="-120"/>
              </a:rPr>
              <a:t>Chặn tại máy dev, không dọn dẹp trên remote</a:t>
            </a:r>
            <a:endParaRPr lang="en-US" sz="1300" dirty="0"/>
          </a:p>
        </p:txBody>
      </p:sp>
      <p:sp>
        <p:nvSpPr>
          <p:cNvPr id="7" name="Shape 4"/>
          <p:cNvSpPr/>
          <p:nvPr/>
        </p:nvSpPr>
        <p:spPr>
          <a:xfrm>
            <a:off x="914400" y="2450592"/>
            <a:ext cx="3154680" cy="502920"/>
          </a:xfrm>
          <a:prstGeom prst="roundRect">
            <a:avLst>
              <a:gd name="adj" fmla="val 10909"/>
            </a:avLst>
          </a:prstGeom>
          <a:solidFill>
            <a:srgbClr val="0F1C34"/>
          </a:solidFill>
          <a:ln w="12700">
            <a:solidFill>
              <a:srgbClr val="0F1C34"/>
            </a:solidFill>
            <a:prstDash val="solid"/>
          </a:ln>
        </p:spPr>
      </p:sp>
      <p:sp>
        <p:nvSpPr>
          <p:cNvPr id="8" name="Text 5"/>
          <p:cNvSpPr/>
          <p:nvPr/>
        </p:nvSpPr>
        <p:spPr>
          <a:xfrm>
            <a:off x="914400" y="2450592"/>
            <a:ext cx="3154680" cy="502920"/>
          </a:xfrm>
          <a:prstGeom prst="rect">
            <a:avLst/>
          </a:prstGeom>
          <a:noFill/>
          <a:ln/>
        </p:spPr>
        <p:txBody>
          <a:bodyPr wrap="square" lIns="0" tIns="0" rIns="0" bIns="0" rtlCol="0" anchor="ctr"/>
          <a:lstStyle/>
          <a:p>
            <a:pPr algn="ctr" indent="0" marL="0">
              <a:buNone/>
            </a:pPr>
            <a:r>
              <a:rPr lang="en-US" sz="1150" b="1" dirty="0">
                <a:solidFill>
                  <a:srgbClr val="FFFFFF"/>
                </a:solidFill>
                <a:latin typeface="Inter" pitchFamily="34" charset="0"/>
                <a:ea typeface="Inter" pitchFamily="34" charset="-122"/>
                <a:cs typeface="Inter" pitchFamily="34" charset="-120"/>
              </a:rPr>
              <a:t>dev chạy  git push</a:t>
            </a:r>
            <a:endParaRPr lang="en-US" sz="1150" dirty="0"/>
          </a:p>
        </p:txBody>
      </p:sp>
      <p:sp>
        <p:nvSpPr>
          <p:cNvPr id="9" name="Shape 6"/>
          <p:cNvSpPr/>
          <p:nvPr/>
        </p:nvSpPr>
        <p:spPr>
          <a:xfrm>
            <a:off x="2377440" y="3017520"/>
            <a:ext cx="219456" cy="219456"/>
          </a:xfrm>
          <a:prstGeom prst="downArrow">
            <a:avLst/>
          </a:prstGeom>
          <a:solidFill>
            <a:srgbClr val="BFCBDC"/>
          </a:solidFill>
          <a:ln w="12700">
            <a:solidFill>
              <a:srgbClr val="BFCBDC"/>
            </a:solidFill>
            <a:prstDash val="solid"/>
          </a:ln>
        </p:spPr>
      </p:sp>
      <p:sp>
        <p:nvSpPr>
          <p:cNvPr id="10" name="Shape 7"/>
          <p:cNvSpPr/>
          <p:nvPr/>
        </p:nvSpPr>
        <p:spPr>
          <a:xfrm>
            <a:off x="914400" y="3310128"/>
            <a:ext cx="3154680" cy="566928"/>
          </a:xfrm>
          <a:prstGeom prst="roundRect">
            <a:avLst>
              <a:gd name="adj" fmla="val 9677"/>
            </a:avLst>
          </a:prstGeom>
          <a:solidFill>
            <a:srgbClr val="0F6EFD"/>
          </a:solidFill>
          <a:ln w="12700">
            <a:solidFill>
              <a:srgbClr val="0F6EFD"/>
            </a:solidFill>
            <a:prstDash val="solid"/>
          </a:ln>
        </p:spPr>
      </p:sp>
      <p:sp>
        <p:nvSpPr>
          <p:cNvPr id="11" name="Text 8"/>
          <p:cNvSpPr/>
          <p:nvPr/>
        </p:nvSpPr>
        <p:spPr>
          <a:xfrm>
            <a:off x="914400" y="3310128"/>
            <a:ext cx="3154680" cy="566928"/>
          </a:xfrm>
          <a:prstGeom prst="rect">
            <a:avLst/>
          </a:prstGeom>
          <a:noFill/>
          <a:ln/>
        </p:spPr>
        <p:txBody>
          <a:bodyPr wrap="square" lIns="0" tIns="0" rIns="0" bIns="0" rtlCol="0" anchor="ctr"/>
          <a:lstStyle/>
          <a:p>
            <a:pPr algn="ctr" indent="0" marL="0">
              <a:buNone/>
            </a:pPr>
            <a:r>
              <a:rPr lang="en-US" sz="1050" b="1" dirty="0">
                <a:solidFill>
                  <a:srgbClr val="FFFFFF"/>
                </a:solidFill>
                <a:latin typeface="Inter" pitchFamily="34" charset="0"/>
                <a:ea typeface="Inter" pitchFamily="34" charset="-122"/>
                <a:cs typeface="Inter" pitchFamily="34" charset="-120"/>
              </a:rPr>
              <a:t>AI DEV GUARDIAN  ·  pre-push hook</a:t>
            </a:r>
            <a:endParaRPr lang="en-US" sz="1050" dirty="0"/>
          </a:p>
        </p:txBody>
      </p:sp>
      <p:sp>
        <p:nvSpPr>
          <p:cNvPr id="12" name="Shape 9"/>
          <p:cNvSpPr/>
          <p:nvPr/>
        </p:nvSpPr>
        <p:spPr>
          <a:xfrm>
            <a:off x="2377440" y="3950208"/>
            <a:ext cx="219456" cy="219456"/>
          </a:xfrm>
          <a:prstGeom prst="downArrow">
            <a:avLst/>
          </a:prstGeom>
          <a:solidFill>
            <a:srgbClr val="BFCBDC"/>
          </a:solidFill>
          <a:ln w="12700">
            <a:solidFill>
              <a:srgbClr val="BFCBDC"/>
            </a:solidFill>
            <a:prstDash val="solid"/>
          </a:ln>
        </p:spPr>
      </p:sp>
      <p:sp>
        <p:nvSpPr>
          <p:cNvPr id="13" name="Shape 10"/>
          <p:cNvSpPr/>
          <p:nvPr/>
        </p:nvSpPr>
        <p:spPr>
          <a:xfrm>
            <a:off x="914400" y="4261104"/>
            <a:ext cx="1517904" cy="512064"/>
          </a:xfrm>
          <a:prstGeom prst="roundRect">
            <a:avLst>
              <a:gd name="adj" fmla="val 10714"/>
            </a:avLst>
          </a:prstGeom>
          <a:solidFill>
            <a:srgbClr val="E9F1FE"/>
          </a:solidFill>
          <a:ln w="12700">
            <a:solidFill>
              <a:srgbClr val="E9F1FE"/>
            </a:solidFill>
            <a:prstDash val="solid"/>
          </a:ln>
        </p:spPr>
      </p:sp>
      <p:sp>
        <p:nvSpPr>
          <p:cNvPr id="14" name="Text 11"/>
          <p:cNvSpPr/>
          <p:nvPr/>
        </p:nvSpPr>
        <p:spPr>
          <a:xfrm>
            <a:off x="914400" y="4261104"/>
            <a:ext cx="1517904" cy="512064"/>
          </a:xfrm>
          <a:prstGeom prst="rect">
            <a:avLst/>
          </a:prstGeom>
          <a:noFill/>
          <a:ln/>
        </p:spPr>
        <p:txBody>
          <a:bodyPr wrap="square" lIns="0" tIns="0" rIns="0" bIns="0" rtlCol="0" anchor="ctr"/>
          <a:lstStyle/>
          <a:p>
            <a:pPr algn="ctr" indent="0" marL="0">
              <a:buNone/>
            </a:pPr>
            <a:r>
              <a:rPr lang="en-US" sz="1000" b="1" dirty="0">
                <a:solidFill>
                  <a:srgbClr val="0F6EFD"/>
                </a:solidFill>
                <a:latin typeface="Inter" pitchFamily="34" charset="0"/>
                <a:ea typeface="Inter" pitchFamily="34" charset="-122"/>
                <a:cs typeface="Inter" pitchFamily="34" charset="-120"/>
              </a:rPr>
              <a:t>PASS → remote</a:t>
            </a:r>
            <a:endParaRPr lang="en-US" sz="1000" dirty="0"/>
          </a:p>
        </p:txBody>
      </p:sp>
      <p:sp>
        <p:nvSpPr>
          <p:cNvPr id="15" name="Shape 12"/>
          <p:cNvSpPr/>
          <p:nvPr/>
        </p:nvSpPr>
        <p:spPr>
          <a:xfrm>
            <a:off x="2551176" y="4261104"/>
            <a:ext cx="1517904" cy="512064"/>
          </a:xfrm>
          <a:prstGeom prst="roundRect">
            <a:avLst>
              <a:gd name="adj" fmla="val 10714"/>
            </a:avLst>
          </a:prstGeom>
          <a:solidFill>
            <a:srgbClr val="FDECEC"/>
          </a:solidFill>
          <a:ln w="12700">
            <a:solidFill>
              <a:srgbClr val="FDECEC"/>
            </a:solidFill>
            <a:prstDash val="solid"/>
          </a:ln>
        </p:spPr>
      </p:sp>
      <p:sp>
        <p:nvSpPr>
          <p:cNvPr id="16" name="Text 13"/>
          <p:cNvSpPr/>
          <p:nvPr/>
        </p:nvSpPr>
        <p:spPr>
          <a:xfrm>
            <a:off x="2551176" y="4261104"/>
            <a:ext cx="1517904" cy="512064"/>
          </a:xfrm>
          <a:prstGeom prst="rect">
            <a:avLst/>
          </a:prstGeom>
          <a:noFill/>
          <a:ln/>
        </p:spPr>
        <p:txBody>
          <a:bodyPr wrap="square" lIns="0" tIns="0" rIns="0" bIns="0" rtlCol="0" anchor="ctr"/>
          <a:lstStyle/>
          <a:p>
            <a:pPr algn="ctr" indent="0" marL="0">
              <a:buNone/>
            </a:pPr>
            <a:r>
              <a:rPr lang="en-US" sz="1000" b="1" dirty="0">
                <a:solidFill>
                  <a:srgbClr val="E41B23"/>
                </a:solidFill>
                <a:latin typeface="Inter" pitchFamily="34" charset="0"/>
                <a:ea typeface="Inter" pitchFamily="34" charset="-122"/>
                <a:cs typeface="Inter" pitchFamily="34" charset="-120"/>
              </a:rPr>
              <a:t>BLOCK → dev sửa</a:t>
            </a:r>
            <a:endParaRPr lang="en-US" sz="1000" dirty="0"/>
          </a:p>
        </p:txBody>
      </p:sp>
      <p:sp>
        <p:nvSpPr>
          <p:cNvPr id="17" name="Text 14"/>
          <p:cNvSpPr/>
          <p:nvPr/>
        </p:nvSpPr>
        <p:spPr>
          <a:xfrm>
            <a:off x="914400" y="4956048"/>
            <a:ext cx="3154680" cy="640080"/>
          </a:xfrm>
          <a:prstGeom prst="rect">
            <a:avLst/>
          </a:prstGeom>
          <a:noFill/>
          <a:ln/>
        </p:spPr>
        <p:txBody>
          <a:bodyPr wrap="square" lIns="0" tIns="0" rIns="0" bIns="0" rtlCol="0" anchor="t"/>
          <a:lstStyle/>
          <a:p>
            <a:pPr indent="0" marL="0">
              <a:lnSpc>
                <a:spcPct val="115000"/>
              </a:lnSpc>
              <a:buNone/>
            </a:pPr>
            <a:r>
              <a:rPr lang="en-US" sz="950" dirty="0">
                <a:solidFill>
                  <a:srgbClr val="8A99AD"/>
                </a:solidFill>
                <a:latin typeface="Inter" pitchFamily="34" charset="0"/>
                <a:ea typeface="Inter" pitchFamily="34" charset="-122"/>
                <a:cs typeface="Inter" pitchFamily="34" charset="-120"/>
              </a:rPr>
              <a:t>Không tốn CI/compute · phản hồi ngay trong terminal · BLOCK không bao giờ được cache</a:t>
            </a:r>
            <a:endParaRPr lang="en-US" sz="950" dirty="0"/>
          </a:p>
        </p:txBody>
      </p:sp>
      <p:sp>
        <p:nvSpPr>
          <p:cNvPr id="18" name="Shape 15"/>
          <p:cNvSpPr/>
          <p:nvPr/>
        </p:nvSpPr>
        <p:spPr>
          <a:xfrm>
            <a:off x="4663440" y="1600200"/>
            <a:ext cx="6976872" cy="932688"/>
          </a:xfrm>
          <a:prstGeom prst="roundRect">
            <a:avLst>
              <a:gd name="adj" fmla="val 9804"/>
            </a:avLst>
          </a:prstGeom>
          <a:solidFill>
            <a:srgbClr val="FFFFFF">
              <a:alpha val="92000"/>
            </a:srgbClr>
          </a:solidFill>
          <a:ln w="12700">
            <a:solidFill>
              <a:srgbClr val="E3E9F2"/>
            </a:solidFill>
            <a:prstDash val="solid"/>
          </a:ln>
          <a:effectLst>
            <a:outerShdw sx="100000" sy="100000" kx="0" ky="0" algn="bl" rotWithShape="0" blurRad="177800" dist="25400" dir="5400000">
              <a:srgbClr val="AFBFD4">
                <a:alpha val="40000"/>
              </a:srgbClr>
            </a:outerShdw>
          </a:effectLst>
        </p:spPr>
      </p:sp>
      <p:sp>
        <p:nvSpPr>
          <p:cNvPr id="19" name="Shape 16"/>
          <p:cNvSpPr/>
          <p:nvPr/>
        </p:nvSpPr>
        <p:spPr>
          <a:xfrm>
            <a:off x="4892040" y="1792224"/>
            <a:ext cx="548640" cy="548640"/>
          </a:xfrm>
          <a:prstGeom prst="ellipse">
            <a:avLst/>
          </a:prstGeom>
          <a:solidFill>
            <a:srgbClr val="0F6EFD"/>
          </a:solidFill>
          <a:ln w="12700">
            <a:solidFill>
              <a:srgbClr val="0F6EFD"/>
            </a:solidFill>
            <a:prstDash val="solid"/>
          </a:ln>
        </p:spPr>
      </p:sp>
      <p:pic>
        <p:nvPicPr>
          <p:cNvPr id="20" name="Image 1" descr="img/shield_w.png">    </p:cNvPr>
          <p:cNvPicPr>
            <a:picLocks noChangeAspect="1"/>
          </p:cNvPicPr>
          <p:nvPr/>
        </p:nvPicPr>
        <p:blipFill>
          <a:blip r:embed="rId2"/>
          <a:stretch>
            <a:fillRect/>
          </a:stretch>
        </p:blipFill>
        <p:spPr>
          <a:xfrm>
            <a:off x="5034686" y="1934870"/>
            <a:ext cx="263347" cy="263347"/>
          </a:xfrm>
          <a:prstGeom prst="rect">
            <a:avLst/>
          </a:prstGeom>
        </p:spPr>
      </p:pic>
      <p:sp>
        <p:nvSpPr>
          <p:cNvPr id="21" name="Text 17"/>
          <p:cNvSpPr/>
          <p:nvPr/>
        </p:nvSpPr>
        <p:spPr>
          <a:xfrm>
            <a:off x="5577840" y="1728216"/>
            <a:ext cx="5852160" cy="256032"/>
          </a:xfrm>
          <a:prstGeom prst="rect">
            <a:avLst/>
          </a:prstGeom>
          <a:noFill/>
          <a:ln/>
        </p:spPr>
        <p:txBody>
          <a:bodyPr wrap="square" lIns="0" tIns="0" rIns="0" bIns="0" rtlCol="0" anchor="t"/>
          <a:lstStyle/>
          <a:p>
            <a:pPr indent="0" marL="0">
              <a:buNone/>
            </a:pPr>
            <a:r>
              <a:rPr lang="en-US" sz="1300" b="1" dirty="0">
                <a:solidFill>
                  <a:srgbClr val="0F1C34"/>
                </a:solidFill>
                <a:latin typeface="Inter" pitchFamily="34" charset="0"/>
                <a:ea typeface="Inter" pitchFamily="34" charset="-122"/>
                <a:cs typeface="Inter" pitchFamily="34" charset="-120"/>
              </a:rPr>
              <a:t>Deterministic + Probabilistic</a:t>
            </a:r>
            <a:endParaRPr lang="en-US" sz="1300" dirty="0"/>
          </a:p>
        </p:txBody>
      </p:sp>
      <p:sp>
        <p:nvSpPr>
          <p:cNvPr id="22" name="Text 18"/>
          <p:cNvSpPr/>
          <p:nvPr/>
        </p:nvSpPr>
        <p:spPr>
          <a:xfrm>
            <a:off x="5577840" y="2011680"/>
            <a:ext cx="5852160" cy="457200"/>
          </a:xfrm>
          <a:prstGeom prst="rect">
            <a:avLst/>
          </a:prstGeom>
          <a:noFill/>
          <a:ln/>
        </p:spPr>
        <p:txBody>
          <a:bodyPr wrap="square" lIns="0" tIns="0" rIns="0" bIns="0" rtlCol="0" anchor="t"/>
          <a:lstStyle/>
          <a:p>
            <a:pPr indent="0" marL="0">
              <a:lnSpc>
                <a:spcPct val="115000"/>
              </a:lnSpc>
              <a:buNone/>
            </a:pPr>
            <a:r>
              <a:rPr lang="en-US" sz="1000" dirty="0">
                <a:solidFill>
                  <a:srgbClr val="46586F"/>
                </a:solidFill>
                <a:latin typeface="Inter" pitchFamily="34" charset="0"/>
                <a:ea typeface="Inter" pitchFamily="34" charset="-122"/>
                <a:cs typeface="Inter" pitchFamily="34" charset="-120"/>
              </a:rPr>
              <a:t>Luật chắc chắn (secret lộ, circular dependency, static rule) chạy bằng công cụ xác định 100%; chỉ việc cần hiểu ngữ nghĩa mới giao cho LLM.</a:t>
            </a:r>
            <a:endParaRPr lang="en-US" sz="1000" dirty="0"/>
          </a:p>
        </p:txBody>
      </p:sp>
      <p:sp>
        <p:nvSpPr>
          <p:cNvPr id="23" name="Shape 19"/>
          <p:cNvSpPr/>
          <p:nvPr/>
        </p:nvSpPr>
        <p:spPr>
          <a:xfrm>
            <a:off x="4663440" y="2660904"/>
            <a:ext cx="6976872" cy="932688"/>
          </a:xfrm>
          <a:prstGeom prst="roundRect">
            <a:avLst>
              <a:gd name="adj" fmla="val 9804"/>
            </a:avLst>
          </a:prstGeom>
          <a:solidFill>
            <a:srgbClr val="FFFFFF">
              <a:alpha val="92000"/>
            </a:srgbClr>
          </a:solidFill>
          <a:ln w="12700">
            <a:solidFill>
              <a:srgbClr val="E3E9F2"/>
            </a:solidFill>
            <a:prstDash val="solid"/>
          </a:ln>
          <a:effectLst>
            <a:outerShdw sx="100000" sy="100000" kx="0" ky="0" algn="bl" rotWithShape="0" blurRad="177800" dist="25400" dir="5400000">
              <a:srgbClr val="AFBFD4">
                <a:alpha val="40000"/>
              </a:srgbClr>
            </a:outerShdw>
          </a:effectLst>
        </p:spPr>
      </p:sp>
      <p:sp>
        <p:nvSpPr>
          <p:cNvPr id="24" name="Shape 20"/>
          <p:cNvSpPr/>
          <p:nvPr/>
        </p:nvSpPr>
        <p:spPr>
          <a:xfrm>
            <a:off x="4892040" y="2852928"/>
            <a:ext cx="548640" cy="548640"/>
          </a:xfrm>
          <a:prstGeom prst="ellipse">
            <a:avLst/>
          </a:prstGeom>
          <a:solidFill>
            <a:srgbClr val="0F6EFD"/>
          </a:solidFill>
          <a:ln w="12700">
            <a:solidFill>
              <a:srgbClr val="0F6EFD"/>
            </a:solidFill>
            <a:prstDash val="solid"/>
          </a:ln>
        </p:spPr>
      </p:sp>
      <p:pic>
        <p:nvPicPr>
          <p:cNvPr id="25" name="Image 2" descr="img/file_w.png">    </p:cNvPr>
          <p:cNvPicPr>
            <a:picLocks noChangeAspect="1"/>
          </p:cNvPicPr>
          <p:nvPr/>
        </p:nvPicPr>
        <p:blipFill>
          <a:blip r:embed="rId3"/>
          <a:stretch>
            <a:fillRect/>
          </a:stretch>
        </p:blipFill>
        <p:spPr>
          <a:xfrm>
            <a:off x="5034686" y="2995574"/>
            <a:ext cx="263347" cy="263347"/>
          </a:xfrm>
          <a:prstGeom prst="rect">
            <a:avLst/>
          </a:prstGeom>
        </p:spPr>
      </p:pic>
      <p:sp>
        <p:nvSpPr>
          <p:cNvPr id="26" name="Text 21"/>
          <p:cNvSpPr/>
          <p:nvPr/>
        </p:nvSpPr>
        <p:spPr>
          <a:xfrm>
            <a:off x="5577840" y="2788920"/>
            <a:ext cx="5852160" cy="256032"/>
          </a:xfrm>
          <a:prstGeom prst="rect">
            <a:avLst/>
          </a:prstGeom>
          <a:noFill/>
          <a:ln/>
        </p:spPr>
        <p:txBody>
          <a:bodyPr wrap="square" lIns="0" tIns="0" rIns="0" bIns="0" rtlCol="0" anchor="t"/>
          <a:lstStyle/>
          <a:p>
            <a:pPr indent="0" marL="0">
              <a:buNone/>
            </a:pPr>
            <a:r>
              <a:rPr lang="en-US" sz="1300" b="1" dirty="0">
                <a:solidFill>
                  <a:srgbClr val="0F1C34"/>
                </a:solidFill>
                <a:latin typeface="Inter" pitchFamily="34" charset="0"/>
                <a:ea typeface="Inter" pitchFamily="34" charset="-122"/>
                <a:cs typeface="Inter" pitchFamily="34" charset="-120"/>
              </a:rPr>
              <a:t>Policy-as-Code</a:t>
            </a:r>
            <a:endParaRPr lang="en-US" sz="1300" dirty="0"/>
          </a:p>
        </p:txBody>
      </p:sp>
      <p:sp>
        <p:nvSpPr>
          <p:cNvPr id="27" name="Text 22"/>
          <p:cNvSpPr/>
          <p:nvPr/>
        </p:nvSpPr>
        <p:spPr>
          <a:xfrm>
            <a:off x="5577840" y="3072384"/>
            <a:ext cx="5852160" cy="457200"/>
          </a:xfrm>
          <a:prstGeom prst="rect">
            <a:avLst/>
          </a:prstGeom>
          <a:noFill/>
          <a:ln/>
        </p:spPr>
        <p:txBody>
          <a:bodyPr wrap="square" lIns="0" tIns="0" rIns="0" bIns="0" rtlCol="0" anchor="t"/>
          <a:lstStyle/>
          <a:p>
            <a:pPr indent="0" marL="0">
              <a:lnSpc>
                <a:spcPct val="115000"/>
              </a:lnSpc>
              <a:buNone/>
            </a:pPr>
            <a:r>
              <a:rPr lang="en-US" sz="1000" dirty="0">
                <a:solidFill>
                  <a:srgbClr val="46586F"/>
                </a:solidFill>
                <a:latin typeface="Inter" pitchFamily="34" charset="0"/>
                <a:ea typeface="Inter" pitchFamily="34" charset="-122"/>
                <a:cs typeface="Inter" pitchFamily="34" charset="-120"/>
              </a:rPr>
              <a:t>Luật không phải cấu hình cứng từ nhà cung cấp mà là file Markdown do chính team viết (.guardian/policies/*.md), LLM đọc và áp dụng trực tiếp.</a:t>
            </a:r>
            <a:endParaRPr lang="en-US" sz="1000" dirty="0"/>
          </a:p>
        </p:txBody>
      </p:sp>
      <p:sp>
        <p:nvSpPr>
          <p:cNvPr id="28" name="Shape 23"/>
          <p:cNvSpPr/>
          <p:nvPr/>
        </p:nvSpPr>
        <p:spPr>
          <a:xfrm>
            <a:off x="4663440" y="3721608"/>
            <a:ext cx="6976872" cy="932688"/>
          </a:xfrm>
          <a:prstGeom prst="roundRect">
            <a:avLst>
              <a:gd name="adj" fmla="val 9804"/>
            </a:avLst>
          </a:prstGeom>
          <a:solidFill>
            <a:srgbClr val="FFFFFF">
              <a:alpha val="92000"/>
            </a:srgbClr>
          </a:solidFill>
          <a:ln w="12700">
            <a:solidFill>
              <a:srgbClr val="E3E9F2"/>
            </a:solidFill>
            <a:prstDash val="solid"/>
          </a:ln>
          <a:effectLst>
            <a:outerShdw sx="100000" sy="100000" kx="0" ky="0" algn="bl" rotWithShape="0" blurRad="177800" dist="25400" dir="5400000">
              <a:srgbClr val="AFBFD4">
                <a:alpha val="40000"/>
              </a:srgbClr>
            </a:outerShdw>
          </a:effectLst>
        </p:spPr>
      </p:sp>
      <p:sp>
        <p:nvSpPr>
          <p:cNvPr id="29" name="Shape 24"/>
          <p:cNvSpPr/>
          <p:nvPr/>
        </p:nvSpPr>
        <p:spPr>
          <a:xfrm>
            <a:off x="4892040" y="3913632"/>
            <a:ext cx="548640" cy="548640"/>
          </a:xfrm>
          <a:prstGeom prst="ellipse">
            <a:avLst/>
          </a:prstGeom>
          <a:solidFill>
            <a:srgbClr val="0F6EFD"/>
          </a:solidFill>
          <a:ln w="12700">
            <a:solidFill>
              <a:srgbClr val="0F6EFD"/>
            </a:solidFill>
            <a:prstDash val="solid"/>
          </a:ln>
        </p:spPr>
      </p:sp>
      <p:pic>
        <p:nvPicPr>
          <p:cNvPr id="30" name="Image 3" descr="img/tool_w.png">    </p:cNvPr>
          <p:cNvPicPr>
            <a:picLocks noChangeAspect="1"/>
          </p:cNvPicPr>
          <p:nvPr/>
        </p:nvPicPr>
        <p:blipFill>
          <a:blip r:embed="rId4"/>
          <a:stretch>
            <a:fillRect/>
          </a:stretch>
        </p:blipFill>
        <p:spPr>
          <a:xfrm>
            <a:off x="5034686" y="4056278"/>
            <a:ext cx="263347" cy="263347"/>
          </a:xfrm>
          <a:prstGeom prst="rect">
            <a:avLst/>
          </a:prstGeom>
        </p:spPr>
      </p:pic>
      <p:sp>
        <p:nvSpPr>
          <p:cNvPr id="31" name="Text 25"/>
          <p:cNvSpPr/>
          <p:nvPr/>
        </p:nvSpPr>
        <p:spPr>
          <a:xfrm>
            <a:off x="5577840" y="3849624"/>
            <a:ext cx="5852160" cy="256032"/>
          </a:xfrm>
          <a:prstGeom prst="rect">
            <a:avLst/>
          </a:prstGeom>
          <a:noFill/>
          <a:ln/>
        </p:spPr>
        <p:txBody>
          <a:bodyPr wrap="square" lIns="0" tIns="0" rIns="0" bIns="0" rtlCol="0" anchor="t"/>
          <a:lstStyle/>
          <a:p>
            <a:pPr indent="0" marL="0">
              <a:buNone/>
            </a:pPr>
            <a:r>
              <a:rPr lang="en-US" sz="1300" b="1" dirty="0">
                <a:solidFill>
                  <a:srgbClr val="0F1C34"/>
                </a:solidFill>
                <a:latin typeface="Inter" pitchFamily="34" charset="0"/>
                <a:ea typeface="Inter" pitchFamily="34" charset="-122"/>
                <a:cs typeface="Inter" pitchFamily="34" charset="-120"/>
              </a:rPr>
              <a:t>Không tự động vá code</a:t>
            </a:r>
            <a:endParaRPr lang="en-US" sz="1300" dirty="0"/>
          </a:p>
        </p:txBody>
      </p:sp>
      <p:sp>
        <p:nvSpPr>
          <p:cNvPr id="32" name="Text 26"/>
          <p:cNvSpPr/>
          <p:nvPr/>
        </p:nvSpPr>
        <p:spPr>
          <a:xfrm>
            <a:off x="5577840" y="4133088"/>
            <a:ext cx="5852160" cy="457200"/>
          </a:xfrm>
          <a:prstGeom prst="rect">
            <a:avLst/>
          </a:prstGeom>
          <a:noFill/>
          <a:ln/>
        </p:spPr>
        <p:txBody>
          <a:bodyPr wrap="square" lIns="0" tIns="0" rIns="0" bIns="0" rtlCol="0" anchor="t"/>
          <a:lstStyle/>
          <a:p>
            <a:pPr indent="0" marL="0">
              <a:lnSpc>
                <a:spcPct val="115000"/>
              </a:lnSpc>
              <a:buNone/>
            </a:pPr>
            <a:r>
              <a:rPr lang="en-US" sz="1000" dirty="0">
                <a:solidFill>
                  <a:srgbClr val="46586F"/>
                </a:solidFill>
                <a:latin typeface="Inter" pitchFamily="34" charset="0"/>
                <a:ea typeface="Inter" pitchFamily="34" charset="-122"/>
                <a:cs typeface="Inter" pitchFamily="34" charset="-120"/>
              </a:rPr>
              <a:t>Mỗi vi phạm chỉ đi kèm một promptToFix sẵn sàng copy-paste vào AI assistant của dev — quyết định sửa thế nào vẫn thuộc về con người.</a:t>
            </a:r>
            <a:endParaRPr lang="en-US" sz="1000" dirty="0"/>
          </a:p>
        </p:txBody>
      </p:sp>
      <p:sp>
        <p:nvSpPr>
          <p:cNvPr id="33" name="Shape 27"/>
          <p:cNvSpPr/>
          <p:nvPr/>
        </p:nvSpPr>
        <p:spPr>
          <a:xfrm>
            <a:off x="4663440" y="4782312"/>
            <a:ext cx="6976872" cy="932688"/>
          </a:xfrm>
          <a:prstGeom prst="roundRect">
            <a:avLst>
              <a:gd name="adj" fmla="val 9804"/>
            </a:avLst>
          </a:prstGeom>
          <a:solidFill>
            <a:srgbClr val="FFFFFF">
              <a:alpha val="92000"/>
            </a:srgbClr>
          </a:solidFill>
          <a:ln w="12700">
            <a:solidFill>
              <a:srgbClr val="E3E9F2"/>
            </a:solidFill>
            <a:prstDash val="solid"/>
          </a:ln>
          <a:effectLst>
            <a:outerShdw sx="100000" sy="100000" kx="0" ky="0" algn="bl" rotWithShape="0" blurRad="177800" dist="25400" dir="5400000">
              <a:srgbClr val="AFBFD4">
                <a:alpha val="40000"/>
              </a:srgbClr>
            </a:outerShdw>
          </a:effectLst>
        </p:spPr>
      </p:sp>
      <p:sp>
        <p:nvSpPr>
          <p:cNvPr id="34" name="Shape 28"/>
          <p:cNvSpPr/>
          <p:nvPr/>
        </p:nvSpPr>
        <p:spPr>
          <a:xfrm>
            <a:off x="4892040" y="4974336"/>
            <a:ext cx="548640" cy="548640"/>
          </a:xfrm>
          <a:prstGeom prst="ellipse">
            <a:avLst/>
          </a:prstGeom>
          <a:solidFill>
            <a:srgbClr val="0F6EFD"/>
          </a:solidFill>
          <a:ln w="12700">
            <a:solidFill>
              <a:srgbClr val="0F6EFD"/>
            </a:solidFill>
            <a:prstDash val="solid"/>
          </a:ln>
        </p:spPr>
      </p:sp>
      <p:pic>
        <p:nvPicPr>
          <p:cNvPr id="35" name="Image 4" descr="img/check_w.png">    </p:cNvPr>
          <p:cNvPicPr>
            <a:picLocks noChangeAspect="1"/>
          </p:cNvPicPr>
          <p:nvPr/>
        </p:nvPicPr>
        <p:blipFill>
          <a:blip r:embed="rId5"/>
          <a:stretch>
            <a:fillRect/>
          </a:stretch>
        </p:blipFill>
        <p:spPr>
          <a:xfrm>
            <a:off x="5034686" y="5116982"/>
            <a:ext cx="263347" cy="263347"/>
          </a:xfrm>
          <a:prstGeom prst="rect">
            <a:avLst/>
          </a:prstGeom>
        </p:spPr>
      </p:pic>
      <p:sp>
        <p:nvSpPr>
          <p:cNvPr id="36" name="Text 29"/>
          <p:cNvSpPr/>
          <p:nvPr/>
        </p:nvSpPr>
        <p:spPr>
          <a:xfrm>
            <a:off x="5577840" y="4910328"/>
            <a:ext cx="5852160" cy="256032"/>
          </a:xfrm>
          <a:prstGeom prst="rect">
            <a:avLst/>
          </a:prstGeom>
          <a:noFill/>
          <a:ln/>
        </p:spPr>
        <p:txBody>
          <a:bodyPr wrap="square" lIns="0" tIns="0" rIns="0" bIns="0" rtlCol="0" anchor="t"/>
          <a:lstStyle/>
          <a:p>
            <a:pPr indent="0" marL="0">
              <a:buNone/>
            </a:pPr>
            <a:r>
              <a:rPr lang="en-US" sz="1300" b="1" dirty="0">
                <a:solidFill>
                  <a:srgbClr val="0F1C34"/>
                </a:solidFill>
                <a:latin typeface="Inter" pitchFamily="34" charset="0"/>
                <a:ea typeface="Inter" pitchFamily="34" charset="-122"/>
                <a:cs typeface="Inter" pitchFamily="34" charset="-120"/>
              </a:rPr>
              <a:t>Một verdict duy nhất</a:t>
            </a:r>
            <a:endParaRPr lang="en-US" sz="1300" dirty="0"/>
          </a:p>
        </p:txBody>
      </p:sp>
      <p:sp>
        <p:nvSpPr>
          <p:cNvPr id="37" name="Text 30"/>
          <p:cNvSpPr/>
          <p:nvPr/>
        </p:nvSpPr>
        <p:spPr>
          <a:xfrm>
            <a:off x="5577840" y="5193792"/>
            <a:ext cx="5852160" cy="457200"/>
          </a:xfrm>
          <a:prstGeom prst="rect">
            <a:avLst/>
          </a:prstGeom>
          <a:noFill/>
          <a:ln/>
        </p:spPr>
        <p:txBody>
          <a:bodyPr wrap="square" lIns="0" tIns="0" rIns="0" bIns="0" rtlCol="0" anchor="t"/>
          <a:lstStyle/>
          <a:p>
            <a:pPr indent="0" marL="0">
              <a:lnSpc>
                <a:spcPct val="115000"/>
              </a:lnSpc>
              <a:buNone/>
            </a:pPr>
            <a:r>
              <a:rPr lang="en-US" sz="1000" dirty="0">
                <a:solidFill>
                  <a:srgbClr val="46586F"/>
                </a:solidFill>
                <a:latin typeface="Inter" pitchFamily="34" charset="0"/>
                <a:ea typeface="Inter" pitchFamily="34" charset="-122"/>
                <a:cs typeface="Inter" pitchFamily="34" charset="-120"/>
              </a:rPr>
              <a:t>PASS hoặc BLOCK, không có vùng xám. BLOCK khi có ít nhất một vi phạm từ mức medium trở lên.</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p:bgPr>
    </p:bg>
    <p:spTree>
      <p:nvGrpSpPr>
        <p:cNvPr id="1" name=""/>
        <p:cNvGrpSpPr/>
        <p:nvPr/>
      </p:nvGrpSpPr>
      <p:grpSpPr>
        <a:xfrm>
          <a:off x="0" y="0"/>
          <a:ext cx="0" cy="0"/>
          <a:chOff x="0" y="0"/>
          <a:chExt cx="0" cy="0"/>
        </a:xfrm>
      </p:grpSpPr>
      <p:pic>
        <p:nvPicPr>
          <p:cNvPr id="2" name="Image 0" descr="logo_vin.png">    </p:cNvPr>
          <p:cNvPicPr>
            <a:picLocks noChangeAspect="1"/>
          </p:cNvPicPr>
          <p:nvPr/>
        </p:nvPicPr>
        <p:blipFill>
          <a:blip r:embed="rId1"/>
          <a:stretch>
            <a:fillRect/>
          </a:stretch>
        </p:blipFill>
        <p:spPr>
          <a:xfrm>
            <a:off x="10844784" y="384048"/>
            <a:ext cx="914400" cy="563270"/>
          </a:xfrm>
          <a:prstGeom prst="rect">
            <a:avLst/>
          </a:prstGeom>
        </p:spPr>
      </p:pic>
      <p:sp>
        <p:nvSpPr>
          <p:cNvPr id="3" name="Text 0"/>
          <p:cNvSpPr/>
          <p:nvPr/>
        </p:nvSpPr>
        <p:spPr>
          <a:xfrm>
            <a:off x="548640" y="384048"/>
            <a:ext cx="7315200" cy="256032"/>
          </a:xfrm>
          <a:prstGeom prst="rect">
            <a:avLst/>
          </a:prstGeom>
          <a:noFill/>
          <a:ln/>
        </p:spPr>
        <p:txBody>
          <a:bodyPr wrap="square" lIns="0" tIns="0" rIns="0" bIns="0" rtlCol="0" anchor="t"/>
          <a:lstStyle/>
          <a:p>
            <a:pPr indent="0" marL="0">
              <a:buNone/>
            </a:pPr>
            <a:r>
              <a:rPr lang="en-US" sz="1100" b="1" spc="200" kern="0" dirty="0">
                <a:solidFill>
                  <a:srgbClr val="E41B23"/>
                </a:solidFill>
                <a:latin typeface="Inter" pitchFamily="34" charset="0"/>
                <a:ea typeface="Inter" pitchFamily="34" charset="-122"/>
                <a:cs typeface="Inter" pitchFamily="34" charset="-120"/>
              </a:rPr>
              <a:t>03 · KIẾN TRÚC</a:t>
            </a:r>
            <a:endParaRPr lang="en-US" sz="1100" dirty="0"/>
          </a:p>
        </p:txBody>
      </p:sp>
      <p:sp>
        <p:nvSpPr>
          <p:cNvPr id="4" name="Text 1"/>
          <p:cNvSpPr/>
          <p:nvPr/>
        </p:nvSpPr>
        <p:spPr>
          <a:xfrm>
            <a:off x="548640" y="658368"/>
            <a:ext cx="10104120" cy="548640"/>
          </a:xfrm>
          <a:prstGeom prst="rect">
            <a:avLst/>
          </a:prstGeom>
          <a:noFill/>
          <a:ln/>
        </p:spPr>
        <p:txBody>
          <a:bodyPr wrap="square" lIns="0" tIns="0" rIns="0" bIns="0" rtlCol="0" anchor="t"/>
          <a:lstStyle/>
          <a:p>
            <a:pPr indent="0" marL="0">
              <a:buNone/>
            </a:pPr>
            <a:r>
              <a:rPr lang="en-US" sz="2500" b="1" dirty="0">
                <a:solidFill>
                  <a:srgbClr val="0F1C34"/>
                </a:solidFill>
                <a:latin typeface="Inter" pitchFamily="34" charset="0"/>
                <a:ea typeface="Inter" pitchFamily="34" charset="-122"/>
                <a:cs typeface="Inter" pitchFamily="34" charset="-120"/>
              </a:rPr>
              <a:t>Kiến trúc hệ thống — 4 tầng ánh xạ 1:1 với src/</a:t>
            </a:r>
            <a:endParaRPr lang="en-US" sz="2500" dirty="0"/>
          </a:p>
        </p:txBody>
      </p:sp>
      <p:sp>
        <p:nvSpPr>
          <p:cNvPr id="5" name="Shape 2"/>
          <p:cNvSpPr/>
          <p:nvPr/>
        </p:nvSpPr>
        <p:spPr>
          <a:xfrm>
            <a:off x="457200" y="2286000"/>
            <a:ext cx="1737360" cy="1481328"/>
          </a:xfrm>
          <a:prstGeom prst="roundRect">
            <a:avLst>
              <a:gd name="adj" fmla="val 6173"/>
            </a:avLst>
          </a:prstGeom>
          <a:solidFill>
            <a:srgbClr val="FFFFFF">
              <a:alpha val="92000"/>
            </a:srgbClr>
          </a:solidFill>
          <a:ln w="12700">
            <a:solidFill>
              <a:srgbClr val="E3E9F2"/>
            </a:solidFill>
            <a:prstDash val="solid"/>
          </a:ln>
          <a:effectLst>
            <a:outerShdw sx="100000" sy="100000" kx="0" ky="0" algn="bl" rotWithShape="0" blurRad="177800" dist="25400" dir="5400000">
              <a:srgbClr val="AFBFD4">
                <a:alpha val="40000"/>
              </a:srgbClr>
            </a:outerShdw>
          </a:effectLst>
        </p:spPr>
      </p:sp>
      <p:sp>
        <p:nvSpPr>
          <p:cNvPr id="6" name="Shape 3"/>
          <p:cNvSpPr/>
          <p:nvPr/>
        </p:nvSpPr>
        <p:spPr>
          <a:xfrm>
            <a:off x="603504" y="2432304"/>
            <a:ext cx="256032" cy="256032"/>
          </a:xfrm>
          <a:prstGeom prst="ellipse">
            <a:avLst/>
          </a:prstGeom>
          <a:solidFill>
            <a:srgbClr val="E41B23"/>
          </a:solidFill>
          <a:ln w="12700">
            <a:solidFill>
              <a:srgbClr val="E41B23"/>
            </a:solidFill>
            <a:prstDash val="solid"/>
          </a:ln>
        </p:spPr>
      </p:sp>
      <p:sp>
        <p:nvSpPr>
          <p:cNvPr id="7" name="Text 4"/>
          <p:cNvSpPr/>
          <p:nvPr/>
        </p:nvSpPr>
        <p:spPr>
          <a:xfrm>
            <a:off x="603504" y="2432304"/>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Inter" pitchFamily="34" charset="0"/>
                <a:ea typeface="Inter" pitchFamily="34" charset="-122"/>
                <a:cs typeface="Inter" pitchFamily="34" charset="-120"/>
              </a:rPr>
              <a:t>1</a:t>
            </a:r>
            <a:endParaRPr lang="en-US" sz="900" dirty="0"/>
          </a:p>
        </p:txBody>
      </p:sp>
      <p:sp>
        <p:nvSpPr>
          <p:cNvPr id="8" name="Text 5"/>
          <p:cNvSpPr/>
          <p:nvPr/>
        </p:nvSpPr>
        <p:spPr>
          <a:xfrm>
            <a:off x="914400" y="2468880"/>
            <a:ext cx="1188720" cy="219456"/>
          </a:xfrm>
          <a:prstGeom prst="rect">
            <a:avLst/>
          </a:prstGeom>
          <a:noFill/>
          <a:ln/>
        </p:spPr>
        <p:txBody>
          <a:bodyPr wrap="square" lIns="0" tIns="0" rIns="0" bIns="0" rtlCol="0" anchor="t"/>
          <a:lstStyle/>
          <a:p>
            <a:pPr indent="0" marL="0">
              <a:buNone/>
            </a:pPr>
            <a:r>
              <a:rPr lang="en-US" sz="900" b="1" spc="120" kern="0" dirty="0">
                <a:solidFill>
                  <a:srgbClr val="8A99AD"/>
                </a:solidFill>
                <a:latin typeface="Inter" pitchFamily="34" charset="0"/>
                <a:ea typeface="Inter" pitchFamily="34" charset="-122"/>
                <a:cs typeface="Inter" pitchFamily="34" charset="-120"/>
              </a:rPr>
              <a:t>TRIGGER</a:t>
            </a:r>
            <a:endParaRPr lang="en-US" sz="900" dirty="0"/>
          </a:p>
        </p:txBody>
      </p:sp>
      <p:sp>
        <p:nvSpPr>
          <p:cNvPr id="9" name="Text 6"/>
          <p:cNvSpPr/>
          <p:nvPr/>
        </p:nvSpPr>
        <p:spPr>
          <a:xfrm>
            <a:off x="603504" y="2798064"/>
            <a:ext cx="1463040" cy="868680"/>
          </a:xfrm>
          <a:prstGeom prst="rect">
            <a:avLst/>
          </a:prstGeom>
          <a:noFill/>
          <a:ln/>
        </p:spPr>
        <p:txBody>
          <a:bodyPr wrap="square" lIns="0" tIns="0" rIns="0" bIns="0" rtlCol="0" anchor="t"/>
          <a:lstStyle/>
          <a:p>
            <a:pPr indent="0" marL="0">
              <a:lnSpc>
                <a:spcPct val="110000"/>
              </a:lnSpc>
              <a:buNone/>
            </a:pPr>
            <a:r>
              <a:rPr lang="en-US" sz="850" dirty="0">
                <a:solidFill>
                  <a:srgbClr val="0F1C34"/>
                </a:solidFill>
                <a:latin typeface="Courier New" pitchFamily="34" charset="0"/>
                <a:ea typeface="Courier New" pitchFamily="34" charset="-122"/>
                <a:cs typeface="Courier New" pitchFamily="34" charset="-120"/>
              </a:rPr>
              <a:t>git push</a:t>
            </a:r>
            <a:endParaRPr lang="en-US" sz="850" dirty="0"/>
          </a:p>
          <a:p>
            <a:pPr indent="0" marL="0">
              <a:lnSpc>
                <a:spcPct val="110000"/>
              </a:lnSpc>
              <a:buNone/>
            </a:pPr>
            <a:r>
              <a:rPr lang="en-US" sz="850" dirty="0">
                <a:solidFill>
                  <a:srgbClr val="0F1C34"/>
                </a:solidFill>
                <a:latin typeface="Courier New" pitchFamily="34" charset="0"/>
                <a:ea typeface="Courier New" pitchFamily="34" charset="-122"/>
                <a:cs typeface="Courier New" pitchFamily="34" charset="-120"/>
              </a:rPr>
              <a:t>(pre-push hook)</a:t>
            </a:r>
            <a:endParaRPr lang="en-US" sz="850" dirty="0"/>
          </a:p>
          <a:p>
            <a:pPr indent="0" marL="0">
              <a:lnSpc>
                <a:spcPct val="110000"/>
              </a:lnSpc>
              <a:buNone/>
            </a:pPr>
            <a:endParaRPr lang="en-US" sz="850" dirty="0"/>
          </a:p>
          <a:p>
            <a:pPr indent="0" marL="0">
              <a:lnSpc>
                <a:spcPct val="110000"/>
              </a:lnSpc>
              <a:buNone/>
            </a:pPr>
            <a:r>
              <a:rPr lang="en-US" sz="850" dirty="0">
                <a:solidFill>
                  <a:srgbClr val="0F1C34"/>
                </a:solidFill>
                <a:latin typeface="Courier New" pitchFamily="34" charset="0"/>
                <a:ea typeface="Courier New" pitchFamily="34" charset="-122"/>
                <a:cs typeface="Courier New" pitchFamily="34" charset="-120"/>
              </a:rPr>
              <a:t>guardian check</a:t>
            </a:r>
            <a:endParaRPr lang="en-US" sz="850" dirty="0"/>
          </a:p>
          <a:p>
            <a:pPr indent="0" marL="0">
              <a:lnSpc>
                <a:spcPct val="110000"/>
              </a:lnSpc>
              <a:buNone/>
            </a:pPr>
            <a:r>
              <a:rPr lang="en-US" sz="850" dirty="0">
                <a:solidFill>
                  <a:srgbClr val="0F1C34"/>
                </a:solidFill>
                <a:latin typeface="Courier New" pitchFamily="34" charset="0"/>
                <a:ea typeface="Courier New" pitchFamily="34" charset="-122"/>
                <a:cs typeface="Courier New" pitchFamily="34" charset="-120"/>
              </a:rPr>
              <a:t>--staged</a:t>
            </a:r>
            <a:endParaRPr lang="en-US" sz="850" dirty="0"/>
          </a:p>
        </p:txBody>
      </p:sp>
      <p:sp>
        <p:nvSpPr>
          <p:cNvPr id="10" name="Shape 7"/>
          <p:cNvSpPr/>
          <p:nvPr/>
        </p:nvSpPr>
        <p:spPr>
          <a:xfrm>
            <a:off x="2249424" y="2962656"/>
            <a:ext cx="274320" cy="146304"/>
          </a:xfrm>
          <a:prstGeom prst="rightArrow">
            <a:avLst/>
          </a:prstGeom>
          <a:solidFill>
            <a:srgbClr val="BFCBDC"/>
          </a:solidFill>
          <a:ln w="12700">
            <a:solidFill>
              <a:srgbClr val="BFCBDC"/>
            </a:solidFill>
            <a:prstDash val="solid"/>
          </a:ln>
        </p:spPr>
      </p:sp>
      <p:sp>
        <p:nvSpPr>
          <p:cNvPr id="11" name="Shape 8"/>
          <p:cNvSpPr/>
          <p:nvPr/>
        </p:nvSpPr>
        <p:spPr>
          <a:xfrm>
            <a:off x="2578608" y="2286000"/>
            <a:ext cx="1700784" cy="1481328"/>
          </a:xfrm>
          <a:prstGeom prst="roundRect">
            <a:avLst>
              <a:gd name="adj" fmla="val 6173"/>
            </a:avLst>
          </a:prstGeom>
          <a:solidFill>
            <a:srgbClr val="FFFFFF">
              <a:alpha val="92000"/>
            </a:srgbClr>
          </a:solidFill>
          <a:ln w="12700">
            <a:solidFill>
              <a:srgbClr val="E3E9F2"/>
            </a:solidFill>
            <a:prstDash val="solid"/>
          </a:ln>
          <a:effectLst>
            <a:outerShdw sx="100000" sy="100000" kx="0" ky="0" algn="bl" rotWithShape="0" blurRad="177800" dist="25400" dir="5400000">
              <a:srgbClr val="AFBFD4">
                <a:alpha val="40000"/>
              </a:srgbClr>
            </a:outerShdw>
          </a:effectLst>
        </p:spPr>
      </p:sp>
      <p:sp>
        <p:nvSpPr>
          <p:cNvPr id="12" name="Shape 9"/>
          <p:cNvSpPr/>
          <p:nvPr/>
        </p:nvSpPr>
        <p:spPr>
          <a:xfrm>
            <a:off x="2724912" y="2432304"/>
            <a:ext cx="256032" cy="256032"/>
          </a:xfrm>
          <a:prstGeom prst="ellipse">
            <a:avLst/>
          </a:prstGeom>
          <a:solidFill>
            <a:srgbClr val="E41B23"/>
          </a:solidFill>
          <a:ln w="12700">
            <a:solidFill>
              <a:srgbClr val="E41B23"/>
            </a:solidFill>
            <a:prstDash val="solid"/>
          </a:ln>
        </p:spPr>
      </p:sp>
      <p:sp>
        <p:nvSpPr>
          <p:cNvPr id="13" name="Text 10"/>
          <p:cNvSpPr/>
          <p:nvPr/>
        </p:nvSpPr>
        <p:spPr>
          <a:xfrm>
            <a:off x="2724912" y="2432304"/>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Inter" pitchFamily="34" charset="0"/>
                <a:ea typeface="Inter" pitchFamily="34" charset="-122"/>
                <a:cs typeface="Inter" pitchFamily="34" charset="-120"/>
              </a:rPr>
              <a:t>2</a:t>
            </a:r>
            <a:endParaRPr lang="en-US" sz="900" dirty="0"/>
          </a:p>
        </p:txBody>
      </p:sp>
      <p:sp>
        <p:nvSpPr>
          <p:cNvPr id="14" name="Text 11"/>
          <p:cNvSpPr/>
          <p:nvPr/>
        </p:nvSpPr>
        <p:spPr>
          <a:xfrm>
            <a:off x="3035808" y="2468880"/>
            <a:ext cx="1371600" cy="219456"/>
          </a:xfrm>
          <a:prstGeom prst="rect">
            <a:avLst/>
          </a:prstGeom>
          <a:noFill/>
          <a:ln/>
        </p:spPr>
        <p:txBody>
          <a:bodyPr wrap="square" lIns="0" tIns="0" rIns="0" bIns="0" rtlCol="0" anchor="t"/>
          <a:lstStyle/>
          <a:p>
            <a:pPr indent="0" marL="0">
              <a:buNone/>
            </a:pPr>
            <a:r>
              <a:rPr lang="en-US" sz="900" b="1" spc="120" kern="0" dirty="0">
                <a:solidFill>
                  <a:srgbClr val="8A99AD"/>
                </a:solidFill>
                <a:latin typeface="Inter" pitchFamily="34" charset="0"/>
                <a:ea typeface="Inter" pitchFamily="34" charset="-122"/>
                <a:cs typeface="Inter" pitchFamily="34" charset="-120"/>
              </a:rPr>
              <a:t>CLI LAYER</a:t>
            </a:r>
            <a:endParaRPr lang="en-US" sz="900" dirty="0"/>
          </a:p>
        </p:txBody>
      </p:sp>
      <p:sp>
        <p:nvSpPr>
          <p:cNvPr id="15" name="Shape 12"/>
          <p:cNvSpPr/>
          <p:nvPr/>
        </p:nvSpPr>
        <p:spPr>
          <a:xfrm>
            <a:off x="2724912" y="2779776"/>
            <a:ext cx="1408176" cy="402336"/>
          </a:xfrm>
          <a:prstGeom prst="roundRect">
            <a:avLst>
              <a:gd name="adj" fmla="val 13636"/>
            </a:avLst>
          </a:prstGeom>
          <a:solidFill>
            <a:srgbClr val="E9F1FE"/>
          </a:solidFill>
          <a:ln w="12700">
            <a:solidFill>
              <a:srgbClr val="E9F1FE"/>
            </a:solidFill>
            <a:prstDash val="solid"/>
          </a:ln>
        </p:spPr>
      </p:sp>
      <p:sp>
        <p:nvSpPr>
          <p:cNvPr id="16" name="Text 13"/>
          <p:cNvSpPr/>
          <p:nvPr/>
        </p:nvSpPr>
        <p:spPr>
          <a:xfrm>
            <a:off x="2724912" y="2779776"/>
            <a:ext cx="1408176" cy="402336"/>
          </a:xfrm>
          <a:prstGeom prst="rect">
            <a:avLst/>
          </a:prstGeom>
          <a:noFill/>
          <a:ln/>
        </p:spPr>
        <p:txBody>
          <a:bodyPr wrap="square" lIns="0" tIns="0" rIns="0" bIns="0" rtlCol="0" anchor="ctr"/>
          <a:lstStyle/>
          <a:p>
            <a:pPr algn="ctr" indent="0" marL="0">
              <a:buNone/>
            </a:pPr>
            <a:r>
              <a:rPr lang="en-US" sz="900" b="1" dirty="0">
                <a:solidFill>
                  <a:srgbClr val="0F1C34"/>
                </a:solidFill>
                <a:latin typeface="Inter" pitchFamily="34" charset="0"/>
                <a:ea typeface="Inter" pitchFamily="34" charset="-122"/>
                <a:cs typeface="Inter" pitchFamily="34" charset="-120"/>
              </a:rPr>
              <a:t>CLI entrypoint</a:t>
            </a:r>
            <a:endParaRPr lang="en-US" sz="900" dirty="0"/>
          </a:p>
        </p:txBody>
      </p:sp>
      <p:sp>
        <p:nvSpPr>
          <p:cNvPr id="17" name="Shape 14"/>
          <p:cNvSpPr/>
          <p:nvPr/>
        </p:nvSpPr>
        <p:spPr>
          <a:xfrm>
            <a:off x="2724912" y="3236976"/>
            <a:ext cx="1408176" cy="402336"/>
          </a:xfrm>
          <a:prstGeom prst="roundRect">
            <a:avLst>
              <a:gd name="adj" fmla="val 13636"/>
            </a:avLst>
          </a:prstGeom>
          <a:solidFill>
            <a:srgbClr val="E9F1FE"/>
          </a:solidFill>
          <a:ln w="12700">
            <a:solidFill>
              <a:srgbClr val="E9F1FE"/>
            </a:solidFill>
            <a:prstDash val="solid"/>
          </a:ln>
        </p:spPr>
      </p:sp>
      <p:sp>
        <p:nvSpPr>
          <p:cNvPr id="18" name="Text 15"/>
          <p:cNvSpPr/>
          <p:nvPr/>
        </p:nvSpPr>
        <p:spPr>
          <a:xfrm>
            <a:off x="2724912" y="3236976"/>
            <a:ext cx="1408176" cy="402336"/>
          </a:xfrm>
          <a:prstGeom prst="rect">
            <a:avLst/>
          </a:prstGeom>
          <a:noFill/>
          <a:ln/>
        </p:spPr>
        <p:txBody>
          <a:bodyPr wrap="square" lIns="0" tIns="0" rIns="0" bIns="0" rtlCol="0" anchor="ctr"/>
          <a:lstStyle/>
          <a:p>
            <a:pPr algn="ctr" indent="0" marL="0">
              <a:buNone/>
            </a:pPr>
            <a:r>
              <a:rPr lang="en-US" sz="900" b="1" dirty="0">
                <a:solidFill>
                  <a:srgbClr val="0F1C34"/>
                </a:solidFill>
                <a:latin typeface="Inter" pitchFamily="34" charset="0"/>
                <a:ea typeface="Inter" pitchFamily="34" charset="-122"/>
                <a:cs typeface="Inter" pitchFamily="34" charset="-120"/>
              </a:rPr>
              <a:t>Git diff reader</a:t>
            </a:r>
            <a:endParaRPr lang="en-US" sz="900" dirty="0"/>
          </a:p>
        </p:txBody>
      </p:sp>
      <p:sp>
        <p:nvSpPr>
          <p:cNvPr id="19" name="Shape 16"/>
          <p:cNvSpPr/>
          <p:nvPr/>
        </p:nvSpPr>
        <p:spPr>
          <a:xfrm>
            <a:off x="4334256" y="2962656"/>
            <a:ext cx="274320" cy="146304"/>
          </a:xfrm>
          <a:prstGeom prst="rightArrow">
            <a:avLst/>
          </a:prstGeom>
          <a:solidFill>
            <a:srgbClr val="BFCBDC"/>
          </a:solidFill>
          <a:ln w="12700">
            <a:solidFill>
              <a:srgbClr val="BFCBDC"/>
            </a:solidFill>
            <a:prstDash val="solid"/>
          </a:ln>
        </p:spPr>
      </p:sp>
      <p:sp>
        <p:nvSpPr>
          <p:cNvPr id="20" name="Shape 17"/>
          <p:cNvSpPr/>
          <p:nvPr/>
        </p:nvSpPr>
        <p:spPr>
          <a:xfrm>
            <a:off x="4526280" y="1572768"/>
            <a:ext cx="4206240" cy="4315968"/>
          </a:xfrm>
          <a:prstGeom prst="roundRect">
            <a:avLst>
              <a:gd name="adj" fmla="val 2174"/>
            </a:avLst>
          </a:prstGeom>
          <a:solidFill>
            <a:srgbClr val="FFFFFF">
              <a:alpha val="92000"/>
            </a:srgbClr>
          </a:solidFill>
          <a:ln w="12700">
            <a:solidFill>
              <a:srgbClr val="E3E9F2"/>
            </a:solidFill>
            <a:prstDash val="solid"/>
          </a:ln>
          <a:effectLst>
            <a:outerShdw sx="100000" sy="100000" kx="0" ky="0" algn="bl" rotWithShape="0" blurRad="177800" dist="25400" dir="5400000">
              <a:srgbClr val="AFBFD4">
                <a:alpha val="40000"/>
              </a:srgbClr>
            </a:outerShdw>
          </a:effectLst>
        </p:spPr>
      </p:sp>
      <p:sp>
        <p:nvSpPr>
          <p:cNvPr id="21" name="Text 18"/>
          <p:cNvSpPr/>
          <p:nvPr/>
        </p:nvSpPr>
        <p:spPr>
          <a:xfrm>
            <a:off x="5074920" y="1737360"/>
            <a:ext cx="3657600" cy="219456"/>
          </a:xfrm>
          <a:prstGeom prst="rect">
            <a:avLst/>
          </a:prstGeom>
          <a:noFill/>
          <a:ln/>
        </p:spPr>
        <p:txBody>
          <a:bodyPr wrap="square" lIns="0" tIns="0" rIns="0" bIns="0" rtlCol="0" anchor="t"/>
          <a:lstStyle/>
          <a:p>
            <a:pPr indent="0" marL="0">
              <a:buNone/>
            </a:pPr>
            <a:r>
              <a:rPr lang="en-US" sz="900" b="1" spc="120" kern="0" dirty="0">
                <a:solidFill>
                  <a:srgbClr val="8A99AD"/>
                </a:solidFill>
                <a:latin typeface="Inter" pitchFamily="34" charset="0"/>
                <a:ea typeface="Inter" pitchFamily="34" charset="-122"/>
                <a:cs typeface="Inter" pitchFamily="34" charset="-120"/>
              </a:rPr>
              <a:t>CORE ENGINE / ORCHESTRATOR</a:t>
            </a:r>
            <a:endParaRPr lang="en-US" sz="900" dirty="0"/>
          </a:p>
        </p:txBody>
      </p:sp>
      <p:sp>
        <p:nvSpPr>
          <p:cNvPr id="22" name="Shape 19"/>
          <p:cNvSpPr/>
          <p:nvPr/>
        </p:nvSpPr>
        <p:spPr>
          <a:xfrm>
            <a:off x="5074920" y="2011680"/>
            <a:ext cx="3429000" cy="457200"/>
          </a:xfrm>
          <a:prstGeom prst="roundRect">
            <a:avLst>
              <a:gd name="adj" fmla="val 12000"/>
            </a:avLst>
          </a:prstGeom>
          <a:solidFill>
            <a:srgbClr val="EEF2F8"/>
          </a:solidFill>
          <a:ln w="12700">
            <a:solidFill>
              <a:srgbClr val="EEF2F8"/>
            </a:solidFill>
            <a:prstDash val="solid"/>
          </a:ln>
        </p:spPr>
      </p:sp>
      <p:sp>
        <p:nvSpPr>
          <p:cNvPr id="23" name="Text 20"/>
          <p:cNvSpPr/>
          <p:nvPr/>
        </p:nvSpPr>
        <p:spPr>
          <a:xfrm>
            <a:off x="5074920" y="2011680"/>
            <a:ext cx="3429000" cy="457200"/>
          </a:xfrm>
          <a:prstGeom prst="rect">
            <a:avLst/>
          </a:prstGeom>
          <a:noFill/>
          <a:ln/>
        </p:spPr>
        <p:txBody>
          <a:bodyPr wrap="square" lIns="0" tIns="0" rIns="0" bIns="0" rtlCol="0" anchor="ctr"/>
          <a:lstStyle/>
          <a:p>
            <a:pPr algn="ctr" indent="0" marL="0">
              <a:buNone/>
            </a:pPr>
            <a:r>
              <a:rPr lang="en-US" sz="950" b="1" dirty="0">
                <a:solidFill>
                  <a:srgbClr val="0F1C34"/>
                </a:solidFill>
                <a:latin typeface="Inter" pitchFamily="34" charset="0"/>
                <a:ea typeface="Inter" pitchFamily="34" charset="-122"/>
                <a:cs typeface="Inter" pitchFamily="34" charset="-120"/>
              </a:rPr>
              <a:t>Policy router  +  diff-hash cache (SHA-256)</a:t>
            </a:r>
            <a:endParaRPr lang="en-US" sz="950" dirty="0"/>
          </a:p>
        </p:txBody>
      </p:sp>
      <p:sp>
        <p:nvSpPr>
          <p:cNvPr id="24" name="Shape 21"/>
          <p:cNvSpPr/>
          <p:nvPr/>
        </p:nvSpPr>
        <p:spPr>
          <a:xfrm>
            <a:off x="4645152" y="2112264"/>
            <a:ext cx="256032" cy="256032"/>
          </a:xfrm>
          <a:prstGeom prst="ellipse">
            <a:avLst/>
          </a:prstGeom>
          <a:solidFill>
            <a:srgbClr val="E41B23"/>
          </a:solidFill>
          <a:ln w="12700">
            <a:solidFill>
              <a:srgbClr val="E41B23"/>
            </a:solidFill>
            <a:prstDash val="solid"/>
          </a:ln>
        </p:spPr>
      </p:sp>
      <p:sp>
        <p:nvSpPr>
          <p:cNvPr id="25" name="Text 22"/>
          <p:cNvSpPr/>
          <p:nvPr/>
        </p:nvSpPr>
        <p:spPr>
          <a:xfrm>
            <a:off x="4645152" y="2112264"/>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Inter" pitchFamily="34" charset="0"/>
                <a:ea typeface="Inter" pitchFamily="34" charset="-122"/>
                <a:cs typeface="Inter" pitchFamily="34" charset="-120"/>
              </a:rPr>
              <a:t>3</a:t>
            </a:r>
            <a:endParaRPr lang="en-US" sz="900" dirty="0"/>
          </a:p>
        </p:txBody>
      </p:sp>
      <p:sp>
        <p:nvSpPr>
          <p:cNvPr id="26" name="Shape 23"/>
          <p:cNvSpPr/>
          <p:nvPr/>
        </p:nvSpPr>
        <p:spPr>
          <a:xfrm>
            <a:off x="5074920" y="2615184"/>
            <a:ext cx="3429000" cy="1883664"/>
          </a:xfrm>
          <a:prstGeom prst="roundRect">
            <a:avLst>
              <a:gd name="adj" fmla="val 3883"/>
            </a:avLst>
          </a:prstGeom>
          <a:solidFill>
            <a:srgbClr val="E9F1FE">
              <a:alpha val="75000"/>
            </a:srgbClr>
          </a:solidFill>
          <a:ln w="12700">
            <a:solidFill>
              <a:srgbClr val="C9DCFB"/>
            </a:solidFill>
            <a:prstDash val="dash"/>
          </a:ln>
        </p:spPr>
      </p:sp>
      <p:sp>
        <p:nvSpPr>
          <p:cNvPr id="27" name="Text 24"/>
          <p:cNvSpPr/>
          <p:nvPr/>
        </p:nvSpPr>
        <p:spPr>
          <a:xfrm>
            <a:off x="5202936" y="2706624"/>
            <a:ext cx="3200400" cy="219456"/>
          </a:xfrm>
          <a:prstGeom prst="rect">
            <a:avLst/>
          </a:prstGeom>
          <a:noFill/>
          <a:ln/>
        </p:spPr>
        <p:txBody>
          <a:bodyPr wrap="square" lIns="0" tIns="0" rIns="0" bIns="0" rtlCol="0" anchor="t"/>
          <a:lstStyle/>
          <a:p>
            <a:pPr indent="0" marL="0">
              <a:buNone/>
            </a:pPr>
            <a:r>
              <a:rPr lang="en-US" sz="850" b="1" spc="80" kern="0" dirty="0">
                <a:solidFill>
                  <a:srgbClr val="0F6EFD"/>
                </a:solidFill>
                <a:latin typeface="Inter" pitchFamily="34" charset="0"/>
                <a:ea typeface="Inter" pitchFamily="34" charset="-122"/>
                <a:cs typeface="Inter" pitchFamily="34" charset="-120"/>
              </a:rPr>
              <a:t>CHECKERS LAYER — chạy song song (Promise.all)</a:t>
            </a:r>
            <a:endParaRPr lang="en-US" sz="850" dirty="0"/>
          </a:p>
        </p:txBody>
      </p:sp>
      <p:sp>
        <p:nvSpPr>
          <p:cNvPr id="28" name="Shape 25"/>
          <p:cNvSpPr/>
          <p:nvPr/>
        </p:nvSpPr>
        <p:spPr>
          <a:xfrm>
            <a:off x="4645152" y="3429000"/>
            <a:ext cx="256032" cy="256032"/>
          </a:xfrm>
          <a:prstGeom prst="ellipse">
            <a:avLst/>
          </a:prstGeom>
          <a:solidFill>
            <a:srgbClr val="E41B23"/>
          </a:solidFill>
          <a:ln w="12700">
            <a:solidFill>
              <a:srgbClr val="E41B23"/>
            </a:solidFill>
            <a:prstDash val="solid"/>
          </a:ln>
        </p:spPr>
      </p:sp>
      <p:sp>
        <p:nvSpPr>
          <p:cNvPr id="29" name="Text 26"/>
          <p:cNvSpPr/>
          <p:nvPr/>
        </p:nvSpPr>
        <p:spPr>
          <a:xfrm>
            <a:off x="4645152" y="342900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Inter" pitchFamily="34" charset="0"/>
                <a:ea typeface="Inter" pitchFamily="34" charset="-122"/>
                <a:cs typeface="Inter" pitchFamily="34" charset="-120"/>
              </a:rPr>
              <a:t>4</a:t>
            </a:r>
            <a:endParaRPr lang="en-US" sz="900" dirty="0"/>
          </a:p>
        </p:txBody>
      </p:sp>
      <p:sp>
        <p:nvSpPr>
          <p:cNvPr id="30" name="Shape 27"/>
          <p:cNvSpPr/>
          <p:nvPr/>
        </p:nvSpPr>
        <p:spPr>
          <a:xfrm>
            <a:off x="5202936" y="3017520"/>
            <a:ext cx="1517904" cy="585216"/>
          </a:xfrm>
          <a:prstGeom prst="roundRect">
            <a:avLst>
              <a:gd name="adj" fmla="val 9375"/>
            </a:avLst>
          </a:prstGeom>
          <a:solidFill>
            <a:srgbClr val="FFFFFF"/>
          </a:solidFill>
          <a:ln w="12700">
            <a:solidFill>
              <a:srgbClr val="E3E9F2"/>
            </a:solidFill>
            <a:prstDash val="solid"/>
          </a:ln>
        </p:spPr>
      </p:sp>
      <p:pic>
        <p:nvPicPr>
          <p:cNvPr id="31" name="Image 1" descr="img/key_n.png">    </p:cNvPr>
          <p:cNvPicPr>
            <a:picLocks noChangeAspect="1"/>
          </p:cNvPicPr>
          <p:nvPr/>
        </p:nvPicPr>
        <p:blipFill>
          <a:blip r:embed="rId2"/>
          <a:stretch>
            <a:fillRect/>
          </a:stretch>
        </p:blipFill>
        <p:spPr>
          <a:xfrm>
            <a:off x="5312664" y="3191256"/>
            <a:ext cx="237744" cy="237744"/>
          </a:xfrm>
          <a:prstGeom prst="rect">
            <a:avLst/>
          </a:prstGeom>
        </p:spPr>
      </p:pic>
      <p:sp>
        <p:nvSpPr>
          <p:cNvPr id="32" name="Text 28"/>
          <p:cNvSpPr/>
          <p:nvPr/>
        </p:nvSpPr>
        <p:spPr>
          <a:xfrm>
            <a:off x="5605272" y="3017520"/>
            <a:ext cx="1060704" cy="585216"/>
          </a:xfrm>
          <a:prstGeom prst="rect">
            <a:avLst/>
          </a:prstGeom>
          <a:noFill/>
          <a:ln/>
        </p:spPr>
        <p:txBody>
          <a:bodyPr wrap="square" lIns="0" tIns="0" rIns="0" bIns="0" rtlCol="0" anchor="ctr"/>
          <a:lstStyle/>
          <a:p>
            <a:pPr indent="0" marL="0">
              <a:buNone/>
            </a:pPr>
            <a:r>
              <a:rPr lang="en-US" sz="900" b="1" dirty="0">
                <a:solidFill>
                  <a:srgbClr val="0F1C34"/>
                </a:solidFill>
                <a:latin typeface="Inter" pitchFamily="34" charset="0"/>
                <a:ea typeface="Inter" pitchFamily="34" charset="-122"/>
                <a:cs typeface="Inter" pitchFamily="34" charset="-120"/>
              </a:rPr>
              <a:t>Secret scan</a:t>
            </a:r>
            <a:endParaRPr lang="en-US" sz="900" dirty="0"/>
          </a:p>
        </p:txBody>
      </p:sp>
      <p:sp>
        <p:nvSpPr>
          <p:cNvPr id="33" name="Shape 29"/>
          <p:cNvSpPr/>
          <p:nvPr/>
        </p:nvSpPr>
        <p:spPr>
          <a:xfrm>
            <a:off x="6858000" y="3017520"/>
            <a:ext cx="1517904" cy="585216"/>
          </a:xfrm>
          <a:prstGeom prst="roundRect">
            <a:avLst>
              <a:gd name="adj" fmla="val 9375"/>
            </a:avLst>
          </a:prstGeom>
          <a:solidFill>
            <a:srgbClr val="FFFFFF"/>
          </a:solidFill>
          <a:ln w="12700">
            <a:solidFill>
              <a:srgbClr val="E3E9F2"/>
            </a:solidFill>
            <a:prstDash val="solid"/>
          </a:ln>
        </p:spPr>
      </p:sp>
      <p:pic>
        <p:nvPicPr>
          <p:cNvPr id="34" name="Image 2" descr="img/merge_n.png">    </p:cNvPr>
          <p:cNvPicPr>
            <a:picLocks noChangeAspect="1"/>
          </p:cNvPicPr>
          <p:nvPr/>
        </p:nvPicPr>
        <p:blipFill>
          <a:blip r:embed="rId3"/>
          <a:stretch>
            <a:fillRect/>
          </a:stretch>
        </p:blipFill>
        <p:spPr>
          <a:xfrm>
            <a:off x="6967728" y="3191256"/>
            <a:ext cx="237744" cy="237744"/>
          </a:xfrm>
          <a:prstGeom prst="rect">
            <a:avLst/>
          </a:prstGeom>
        </p:spPr>
      </p:pic>
      <p:sp>
        <p:nvSpPr>
          <p:cNvPr id="35" name="Text 30"/>
          <p:cNvSpPr/>
          <p:nvPr/>
        </p:nvSpPr>
        <p:spPr>
          <a:xfrm>
            <a:off x="7260336" y="3017520"/>
            <a:ext cx="1060704" cy="585216"/>
          </a:xfrm>
          <a:prstGeom prst="rect">
            <a:avLst/>
          </a:prstGeom>
          <a:noFill/>
          <a:ln/>
        </p:spPr>
        <p:txBody>
          <a:bodyPr wrap="square" lIns="0" tIns="0" rIns="0" bIns="0" rtlCol="0" anchor="ctr"/>
          <a:lstStyle/>
          <a:p>
            <a:pPr indent="0" marL="0">
              <a:buNone/>
            </a:pPr>
            <a:r>
              <a:rPr lang="en-US" sz="900" b="1" dirty="0">
                <a:solidFill>
                  <a:srgbClr val="0F1C34"/>
                </a:solidFill>
                <a:latin typeface="Inter" pitchFamily="34" charset="0"/>
                <a:ea typeface="Inter" pitchFamily="34" charset="-122"/>
                <a:cs typeface="Inter" pitchFamily="34" charset="-120"/>
              </a:rPr>
              <a:t>Architecture</a:t>
            </a:r>
            <a:endParaRPr lang="en-US" sz="900" dirty="0"/>
          </a:p>
        </p:txBody>
      </p:sp>
      <p:sp>
        <p:nvSpPr>
          <p:cNvPr id="36" name="Shape 31"/>
          <p:cNvSpPr/>
          <p:nvPr/>
        </p:nvSpPr>
        <p:spPr>
          <a:xfrm>
            <a:off x="5202936" y="3712464"/>
            <a:ext cx="1517904" cy="585216"/>
          </a:xfrm>
          <a:prstGeom prst="roundRect">
            <a:avLst>
              <a:gd name="adj" fmla="val 9375"/>
            </a:avLst>
          </a:prstGeom>
          <a:solidFill>
            <a:srgbClr val="FFFFFF"/>
          </a:solidFill>
          <a:ln w="12700">
            <a:solidFill>
              <a:srgbClr val="E3E9F2"/>
            </a:solidFill>
            <a:prstDash val="solid"/>
          </a:ln>
        </p:spPr>
      </p:sp>
      <p:pic>
        <p:nvPicPr>
          <p:cNvPr id="37" name="Image 3" descr="img/search_n.png">    </p:cNvPr>
          <p:cNvPicPr>
            <a:picLocks noChangeAspect="1"/>
          </p:cNvPicPr>
          <p:nvPr/>
        </p:nvPicPr>
        <p:blipFill>
          <a:blip r:embed="rId4"/>
          <a:stretch>
            <a:fillRect/>
          </a:stretch>
        </p:blipFill>
        <p:spPr>
          <a:xfrm>
            <a:off x="5312664" y="3886200"/>
            <a:ext cx="237744" cy="237744"/>
          </a:xfrm>
          <a:prstGeom prst="rect">
            <a:avLst/>
          </a:prstGeom>
        </p:spPr>
      </p:pic>
      <p:sp>
        <p:nvSpPr>
          <p:cNvPr id="38" name="Text 32"/>
          <p:cNvSpPr/>
          <p:nvPr/>
        </p:nvSpPr>
        <p:spPr>
          <a:xfrm>
            <a:off x="5605272" y="3712464"/>
            <a:ext cx="1060704" cy="585216"/>
          </a:xfrm>
          <a:prstGeom prst="rect">
            <a:avLst/>
          </a:prstGeom>
          <a:noFill/>
          <a:ln/>
        </p:spPr>
        <p:txBody>
          <a:bodyPr wrap="square" lIns="0" tIns="0" rIns="0" bIns="0" rtlCol="0" anchor="ctr"/>
          <a:lstStyle/>
          <a:p>
            <a:pPr indent="0" marL="0">
              <a:buNone/>
            </a:pPr>
            <a:r>
              <a:rPr lang="en-US" sz="900" b="1" dirty="0">
                <a:solidFill>
                  <a:srgbClr val="0F1C34"/>
                </a:solidFill>
                <a:latin typeface="Inter" pitchFamily="34" charset="0"/>
                <a:ea typeface="Inter" pitchFamily="34" charset="-122"/>
                <a:cs typeface="Inter" pitchFamily="34" charset="-120"/>
              </a:rPr>
              <a:t>Semgrep</a:t>
            </a:r>
            <a:endParaRPr lang="en-US" sz="900" dirty="0"/>
          </a:p>
        </p:txBody>
      </p:sp>
      <p:sp>
        <p:nvSpPr>
          <p:cNvPr id="39" name="Shape 33"/>
          <p:cNvSpPr/>
          <p:nvPr/>
        </p:nvSpPr>
        <p:spPr>
          <a:xfrm>
            <a:off x="6858000" y="3712464"/>
            <a:ext cx="1517904" cy="585216"/>
          </a:xfrm>
          <a:prstGeom prst="roundRect">
            <a:avLst>
              <a:gd name="adj" fmla="val 9375"/>
            </a:avLst>
          </a:prstGeom>
          <a:solidFill>
            <a:srgbClr val="FFFFFF"/>
          </a:solidFill>
          <a:ln w="12700">
            <a:solidFill>
              <a:srgbClr val="E3E9F2"/>
            </a:solidFill>
            <a:prstDash val="solid"/>
          </a:ln>
        </p:spPr>
      </p:sp>
      <p:pic>
        <p:nvPicPr>
          <p:cNvPr id="40" name="Image 4" descr="img/cpu_n.png">    </p:cNvPr>
          <p:cNvPicPr>
            <a:picLocks noChangeAspect="1"/>
          </p:cNvPicPr>
          <p:nvPr/>
        </p:nvPicPr>
        <p:blipFill>
          <a:blip r:embed="rId5"/>
          <a:stretch>
            <a:fillRect/>
          </a:stretch>
        </p:blipFill>
        <p:spPr>
          <a:xfrm>
            <a:off x="6967728" y="3886200"/>
            <a:ext cx="237744" cy="237744"/>
          </a:xfrm>
          <a:prstGeom prst="rect">
            <a:avLst/>
          </a:prstGeom>
        </p:spPr>
      </p:pic>
      <p:sp>
        <p:nvSpPr>
          <p:cNvPr id="41" name="Text 34"/>
          <p:cNvSpPr/>
          <p:nvPr/>
        </p:nvSpPr>
        <p:spPr>
          <a:xfrm>
            <a:off x="7260336" y="3712464"/>
            <a:ext cx="1060704" cy="585216"/>
          </a:xfrm>
          <a:prstGeom prst="rect">
            <a:avLst/>
          </a:prstGeom>
          <a:noFill/>
          <a:ln/>
        </p:spPr>
        <p:txBody>
          <a:bodyPr wrap="square" lIns="0" tIns="0" rIns="0" bIns="0" rtlCol="0" anchor="ctr"/>
          <a:lstStyle/>
          <a:p>
            <a:pPr indent="0" marL="0">
              <a:buNone/>
            </a:pPr>
            <a:r>
              <a:rPr lang="en-US" sz="900" b="1" dirty="0">
                <a:solidFill>
                  <a:srgbClr val="0F1C34"/>
                </a:solidFill>
                <a:latin typeface="Inter" pitchFamily="34" charset="0"/>
                <a:ea typeface="Inter" pitchFamily="34" charset="-122"/>
                <a:cs typeface="Inter" pitchFamily="34" charset="-120"/>
              </a:rPr>
              <a:t>LLM + judge</a:t>
            </a:r>
            <a:endParaRPr lang="en-US" sz="900" dirty="0"/>
          </a:p>
        </p:txBody>
      </p:sp>
      <p:sp>
        <p:nvSpPr>
          <p:cNvPr id="42" name="Shape 35"/>
          <p:cNvSpPr/>
          <p:nvPr/>
        </p:nvSpPr>
        <p:spPr>
          <a:xfrm>
            <a:off x="5074920" y="4645152"/>
            <a:ext cx="3429000" cy="457200"/>
          </a:xfrm>
          <a:prstGeom prst="roundRect">
            <a:avLst>
              <a:gd name="adj" fmla="val 12000"/>
            </a:avLst>
          </a:prstGeom>
          <a:solidFill>
            <a:srgbClr val="EEF2F8"/>
          </a:solidFill>
          <a:ln w="12700">
            <a:solidFill>
              <a:srgbClr val="EEF2F8"/>
            </a:solidFill>
            <a:prstDash val="solid"/>
          </a:ln>
        </p:spPr>
      </p:sp>
      <p:sp>
        <p:nvSpPr>
          <p:cNvPr id="43" name="Text 36"/>
          <p:cNvSpPr/>
          <p:nvPr/>
        </p:nvSpPr>
        <p:spPr>
          <a:xfrm>
            <a:off x="5074920" y="4645152"/>
            <a:ext cx="3429000" cy="457200"/>
          </a:xfrm>
          <a:prstGeom prst="rect">
            <a:avLst/>
          </a:prstGeom>
          <a:noFill/>
          <a:ln/>
        </p:spPr>
        <p:txBody>
          <a:bodyPr wrap="square" lIns="0" tIns="0" rIns="0" bIns="0" rtlCol="0" anchor="ctr"/>
          <a:lstStyle/>
          <a:p>
            <a:pPr algn="ctr" indent="0" marL="0">
              <a:buNone/>
            </a:pPr>
            <a:r>
              <a:rPr lang="en-US" sz="950" b="1" dirty="0">
                <a:solidFill>
                  <a:srgbClr val="0F1C34"/>
                </a:solidFill>
                <a:latin typeface="Inter" pitchFamily="34" charset="0"/>
                <a:ea typeface="Inter" pitchFamily="34" charset="-122"/>
                <a:cs typeface="Inter" pitchFamily="34" charset="-120"/>
              </a:rPr>
              <a:t>Verdict aggregator</a:t>
            </a:r>
            <a:endParaRPr lang="en-US" sz="950" dirty="0"/>
          </a:p>
        </p:txBody>
      </p:sp>
      <p:sp>
        <p:nvSpPr>
          <p:cNvPr id="44" name="Shape 37"/>
          <p:cNvSpPr/>
          <p:nvPr/>
        </p:nvSpPr>
        <p:spPr>
          <a:xfrm>
            <a:off x="4645152" y="4745736"/>
            <a:ext cx="256032" cy="256032"/>
          </a:xfrm>
          <a:prstGeom prst="ellipse">
            <a:avLst/>
          </a:prstGeom>
          <a:solidFill>
            <a:srgbClr val="E41B23"/>
          </a:solidFill>
          <a:ln w="12700">
            <a:solidFill>
              <a:srgbClr val="E41B23"/>
            </a:solidFill>
            <a:prstDash val="solid"/>
          </a:ln>
        </p:spPr>
      </p:sp>
      <p:sp>
        <p:nvSpPr>
          <p:cNvPr id="45" name="Text 38"/>
          <p:cNvSpPr/>
          <p:nvPr/>
        </p:nvSpPr>
        <p:spPr>
          <a:xfrm>
            <a:off x="4645152" y="47457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Inter" pitchFamily="34" charset="0"/>
                <a:ea typeface="Inter" pitchFamily="34" charset="-122"/>
                <a:cs typeface="Inter" pitchFamily="34" charset="-120"/>
              </a:rPr>
              <a:t>5</a:t>
            </a:r>
            <a:endParaRPr lang="en-US" sz="900" dirty="0"/>
          </a:p>
        </p:txBody>
      </p:sp>
      <p:sp>
        <p:nvSpPr>
          <p:cNvPr id="46" name="Text 39"/>
          <p:cNvSpPr/>
          <p:nvPr/>
        </p:nvSpPr>
        <p:spPr>
          <a:xfrm>
            <a:off x="5074920" y="5175504"/>
            <a:ext cx="3429000" cy="274320"/>
          </a:xfrm>
          <a:prstGeom prst="rect">
            <a:avLst/>
          </a:prstGeom>
          <a:noFill/>
          <a:ln/>
        </p:spPr>
        <p:txBody>
          <a:bodyPr wrap="square" lIns="0" tIns="0" rIns="0" bIns="0" rtlCol="0" anchor="t"/>
          <a:lstStyle/>
          <a:p>
            <a:pPr algn="ctr" indent="0" marL="0">
              <a:buNone/>
            </a:pPr>
            <a:r>
              <a:rPr lang="en-US" sz="850" dirty="0">
                <a:solidFill>
                  <a:srgbClr val="46586F"/>
                </a:solidFill>
                <a:latin typeface="Inter" pitchFamily="34" charset="0"/>
                <a:ea typeface="Inter" pitchFamily="34" charset="-122"/>
                <a:cs typeface="Inter" pitchFamily="34" charset="-120"/>
              </a:rPr>
              <a:t>BLOCK nếu ≥ 1 vi phạm mức medium · ngược lại PASS và ghi hash vào cache</a:t>
            </a:r>
            <a:endParaRPr lang="en-US" sz="850" dirty="0"/>
          </a:p>
        </p:txBody>
      </p:sp>
      <p:sp>
        <p:nvSpPr>
          <p:cNvPr id="47" name="Shape 40"/>
          <p:cNvSpPr/>
          <p:nvPr/>
        </p:nvSpPr>
        <p:spPr>
          <a:xfrm>
            <a:off x="5074920" y="5468112"/>
            <a:ext cx="3429000" cy="310896"/>
          </a:xfrm>
          <a:prstGeom prst="roundRect">
            <a:avLst>
              <a:gd name="adj" fmla="val 14706"/>
            </a:avLst>
          </a:prstGeom>
          <a:solidFill>
            <a:srgbClr val="FDECEC"/>
          </a:solidFill>
          <a:ln w="12700">
            <a:solidFill>
              <a:srgbClr val="F6D2D3"/>
            </a:solidFill>
            <a:prstDash val="solid"/>
          </a:ln>
        </p:spPr>
      </p:sp>
      <p:sp>
        <p:nvSpPr>
          <p:cNvPr id="48" name="Text 41"/>
          <p:cNvSpPr/>
          <p:nvPr/>
        </p:nvSpPr>
        <p:spPr>
          <a:xfrm>
            <a:off x="5074920" y="5468112"/>
            <a:ext cx="3429000" cy="310896"/>
          </a:xfrm>
          <a:prstGeom prst="rect">
            <a:avLst/>
          </a:prstGeom>
          <a:noFill/>
          <a:ln/>
        </p:spPr>
        <p:txBody>
          <a:bodyPr wrap="square" lIns="0" tIns="0" rIns="0" bIns="0" rtlCol="0" anchor="ctr"/>
          <a:lstStyle/>
          <a:p>
            <a:pPr algn="ctr" indent="0" marL="0">
              <a:buNone/>
            </a:pPr>
            <a:r>
              <a:rPr lang="en-US" sz="850" b="1" dirty="0">
                <a:solidFill>
                  <a:srgbClr val="E41B23"/>
                </a:solidFill>
                <a:latin typeface="Inter" pitchFamily="34" charset="0"/>
                <a:ea typeface="Inter" pitchFamily="34" charset="-122"/>
                <a:cs typeface="Inter" pitchFamily="34" charset="-120"/>
              </a:rPr>
              <a:t>Cache bypass: hash trùng lần PASS gần đây → bỏ qua LLM + judge</a:t>
            </a:r>
            <a:endParaRPr lang="en-US" sz="850" dirty="0"/>
          </a:p>
        </p:txBody>
      </p:sp>
      <p:sp>
        <p:nvSpPr>
          <p:cNvPr id="49" name="Shape 42"/>
          <p:cNvSpPr/>
          <p:nvPr/>
        </p:nvSpPr>
        <p:spPr>
          <a:xfrm>
            <a:off x="8787384" y="2962656"/>
            <a:ext cx="274320" cy="146304"/>
          </a:xfrm>
          <a:prstGeom prst="rightArrow">
            <a:avLst/>
          </a:prstGeom>
          <a:solidFill>
            <a:srgbClr val="BFCBDC"/>
          </a:solidFill>
          <a:ln w="12700">
            <a:solidFill>
              <a:srgbClr val="BFCBDC"/>
            </a:solidFill>
            <a:prstDash val="solid"/>
          </a:ln>
        </p:spPr>
      </p:sp>
      <p:sp>
        <p:nvSpPr>
          <p:cNvPr id="50" name="Shape 43"/>
          <p:cNvSpPr/>
          <p:nvPr/>
        </p:nvSpPr>
        <p:spPr>
          <a:xfrm>
            <a:off x="9116568" y="2103120"/>
            <a:ext cx="2359152" cy="1883664"/>
          </a:xfrm>
          <a:prstGeom prst="roundRect">
            <a:avLst>
              <a:gd name="adj" fmla="val 4854"/>
            </a:avLst>
          </a:prstGeom>
          <a:solidFill>
            <a:srgbClr val="FFFFFF">
              <a:alpha val="92000"/>
            </a:srgbClr>
          </a:solidFill>
          <a:ln w="12700">
            <a:solidFill>
              <a:srgbClr val="E3E9F2"/>
            </a:solidFill>
            <a:prstDash val="solid"/>
          </a:ln>
          <a:effectLst>
            <a:outerShdw sx="100000" sy="100000" kx="0" ky="0" algn="bl" rotWithShape="0" blurRad="177800" dist="25400" dir="5400000">
              <a:srgbClr val="AFBFD4">
                <a:alpha val="40000"/>
              </a:srgbClr>
            </a:outerShdw>
          </a:effectLst>
        </p:spPr>
      </p:sp>
      <p:sp>
        <p:nvSpPr>
          <p:cNvPr id="51" name="Shape 44"/>
          <p:cNvSpPr/>
          <p:nvPr/>
        </p:nvSpPr>
        <p:spPr>
          <a:xfrm>
            <a:off x="9317736" y="2286000"/>
            <a:ext cx="256032" cy="256032"/>
          </a:xfrm>
          <a:prstGeom prst="ellipse">
            <a:avLst/>
          </a:prstGeom>
          <a:solidFill>
            <a:srgbClr val="E41B23"/>
          </a:solidFill>
          <a:ln w="12700">
            <a:solidFill>
              <a:srgbClr val="E41B23"/>
            </a:solidFill>
            <a:prstDash val="solid"/>
          </a:ln>
        </p:spPr>
      </p:sp>
      <p:sp>
        <p:nvSpPr>
          <p:cNvPr id="52" name="Text 45"/>
          <p:cNvSpPr/>
          <p:nvPr/>
        </p:nvSpPr>
        <p:spPr>
          <a:xfrm>
            <a:off x="9317736" y="228600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Inter" pitchFamily="34" charset="0"/>
                <a:ea typeface="Inter" pitchFamily="34" charset="-122"/>
                <a:cs typeface="Inter" pitchFamily="34" charset="-120"/>
              </a:rPr>
              <a:t>6</a:t>
            </a:r>
            <a:endParaRPr lang="en-US" sz="900" dirty="0"/>
          </a:p>
        </p:txBody>
      </p:sp>
      <p:sp>
        <p:nvSpPr>
          <p:cNvPr id="53" name="Text 46"/>
          <p:cNvSpPr/>
          <p:nvPr/>
        </p:nvSpPr>
        <p:spPr>
          <a:xfrm>
            <a:off x="9628632" y="2322576"/>
            <a:ext cx="1463040" cy="219456"/>
          </a:xfrm>
          <a:prstGeom prst="rect">
            <a:avLst/>
          </a:prstGeom>
          <a:noFill/>
          <a:ln/>
        </p:spPr>
        <p:txBody>
          <a:bodyPr wrap="square" lIns="0" tIns="0" rIns="0" bIns="0" rtlCol="0" anchor="t"/>
          <a:lstStyle/>
          <a:p>
            <a:pPr indent="0" marL="0">
              <a:buNone/>
            </a:pPr>
            <a:r>
              <a:rPr lang="en-US" sz="900" b="1" spc="120" kern="0" dirty="0">
                <a:solidFill>
                  <a:srgbClr val="8A99AD"/>
                </a:solidFill>
                <a:latin typeface="Inter" pitchFamily="34" charset="0"/>
                <a:ea typeface="Inter" pitchFamily="34" charset="-122"/>
                <a:cs typeface="Inter" pitchFamily="34" charset="-120"/>
              </a:rPr>
              <a:t>REPORTER</a:t>
            </a:r>
            <a:endParaRPr lang="en-US" sz="900" dirty="0"/>
          </a:p>
        </p:txBody>
      </p:sp>
      <p:sp>
        <p:nvSpPr>
          <p:cNvPr id="54" name="Shape 47"/>
          <p:cNvSpPr/>
          <p:nvPr/>
        </p:nvSpPr>
        <p:spPr>
          <a:xfrm>
            <a:off x="9317736" y="2651760"/>
            <a:ext cx="1956816" cy="402336"/>
          </a:xfrm>
          <a:prstGeom prst="roundRect">
            <a:avLst>
              <a:gd name="adj" fmla="val 13636"/>
            </a:avLst>
          </a:prstGeom>
          <a:solidFill>
            <a:srgbClr val="E9F1FE"/>
          </a:solidFill>
          <a:ln w="12700">
            <a:solidFill>
              <a:srgbClr val="E9F1FE"/>
            </a:solidFill>
            <a:prstDash val="solid"/>
          </a:ln>
        </p:spPr>
      </p:sp>
      <p:sp>
        <p:nvSpPr>
          <p:cNvPr id="55" name="Text 48"/>
          <p:cNvSpPr/>
          <p:nvPr/>
        </p:nvSpPr>
        <p:spPr>
          <a:xfrm>
            <a:off x="9317736" y="2651760"/>
            <a:ext cx="1956816" cy="402336"/>
          </a:xfrm>
          <a:prstGeom prst="rect">
            <a:avLst/>
          </a:prstGeom>
          <a:noFill/>
          <a:ln/>
        </p:spPr>
        <p:txBody>
          <a:bodyPr wrap="square" lIns="0" tIns="0" rIns="0" bIns="0" rtlCol="0" anchor="ctr"/>
          <a:lstStyle/>
          <a:p>
            <a:pPr algn="ctr" indent="0" marL="0">
              <a:buNone/>
            </a:pPr>
            <a:r>
              <a:rPr lang="en-US" sz="900" b="1" dirty="0">
                <a:solidFill>
                  <a:srgbClr val="0F1C34"/>
                </a:solidFill>
                <a:latin typeface="Inter" pitchFamily="34" charset="0"/>
                <a:ea typeface="Inter" pitchFamily="34" charset="-122"/>
                <a:cs typeface="Inter" pitchFamily="34" charset="-120"/>
              </a:rPr>
              <a:t>Fix-prompt generator</a:t>
            </a:r>
            <a:endParaRPr lang="en-US" sz="900" dirty="0"/>
          </a:p>
        </p:txBody>
      </p:sp>
      <p:sp>
        <p:nvSpPr>
          <p:cNvPr id="56" name="Shape 49"/>
          <p:cNvSpPr/>
          <p:nvPr/>
        </p:nvSpPr>
        <p:spPr>
          <a:xfrm>
            <a:off x="9317736" y="3108960"/>
            <a:ext cx="1956816" cy="402336"/>
          </a:xfrm>
          <a:prstGeom prst="roundRect">
            <a:avLst>
              <a:gd name="adj" fmla="val 13636"/>
            </a:avLst>
          </a:prstGeom>
          <a:solidFill>
            <a:srgbClr val="E9F1FE"/>
          </a:solidFill>
          <a:ln w="12700">
            <a:solidFill>
              <a:srgbClr val="E9F1FE"/>
            </a:solidFill>
            <a:prstDash val="solid"/>
          </a:ln>
        </p:spPr>
      </p:sp>
      <p:sp>
        <p:nvSpPr>
          <p:cNvPr id="57" name="Text 50"/>
          <p:cNvSpPr/>
          <p:nvPr/>
        </p:nvSpPr>
        <p:spPr>
          <a:xfrm>
            <a:off x="9317736" y="3108960"/>
            <a:ext cx="1956816" cy="402336"/>
          </a:xfrm>
          <a:prstGeom prst="rect">
            <a:avLst/>
          </a:prstGeom>
          <a:noFill/>
          <a:ln/>
        </p:spPr>
        <p:txBody>
          <a:bodyPr wrap="square" lIns="0" tIns="0" rIns="0" bIns="0" rtlCol="0" anchor="ctr"/>
          <a:lstStyle/>
          <a:p>
            <a:pPr algn="ctr" indent="0" marL="0">
              <a:buNone/>
            </a:pPr>
            <a:r>
              <a:rPr lang="en-US" sz="900" b="1" dirty="0">
                <a:solidFill>
                  <a:srgbClr val="0F1C34"/>
                </a:solidFill>
                <a:latin typeface="Inter" pitchFamily="34" charset="0"/>
                <a:ea typeface="Inter" pitchFamily="34" charset="-122"/>
                <a:cs typeface="Inter" pitchFamily="34" charset="-120"/>
              </a:rPr>
              <a:t>Terminal renderer</a:t>
            </a:r>
            <a:endParaRPr lang="en-US" sz="900" dirty="0"/>
          </a:p>
        </p:txBody>
      </p:sp>
      <p:sp>
        <p:nvSpPr>
          <p:cNvPr id="58" name="Shape 51"/>
          <p:cNvSpPr/>
          <p:nvPr/>
        </p:nvSpPr>
        <p:spPr>
          <a:xfrm>
            <a:off x="9317736" y="3566160"/>
            <a:ext cx="932688" cy="310896"/>
          </a:xfrm>
          <a:prstGeom prst="roundRect">
            <a:avLst>
              <a:gd name="adj" fmla="val 17647"/>
            </a:avLst>
          </a:prstGeom>
          <a:solidFill>
            <a:srgbClr val="0F6EFD"/>
          </a:solidFill>
          <a:ln w="12700">
            <a:solidFill>
              <a:srgbClr val="0F6EFD"/>
            </a:solidFill>
            <a:prstDash val="solid"/>
          </a:ln>
        </p:spPr>
      </p:sp>
      <p:sp>
        <p:nvSpPr>
          <p:cNvPr id="59" name="Text 52"/>
          <p:cNvSpPr/>
          <p:nvPr/>
        </p:nvSpPr>
        <p:spPr>
          <a:xfrm>
            <a:off x="9317736" y="3566160"/>
            <a:ext cx="932688" cy="310896"/>
          </a:xfrm>
          <a:prstGeom prst="rect">
            <a:avLst/>
          </a:prstGeom>
          <a:noFill/>
          <a:ln/>
        </p:spPr>
        <p:txBody>
          <a:bodyPr wrap="square" lIns="0" tIns="0" rIns="0" bIns="0" rtlCol="0" anchor="ctr"/>
          <a:lstStyle/>
          <a:p>
            <a:pPr algn="ctr" indent="0" marL="0">
              <a:buNone/>
            </a:pPr>
            <a:r>
              <a:rPr lang="en-US" sz="850" b="1" dirty="0">
                <a:solidFill>
                  <a:srgbClr val="FFFFFF"/>
                </a:solidFill>
                <a:latin typeface="Inter" pitchFamily="34" charset="0"/>
                <a:ea typeface="Inter" pitchFamily="34" charset="-122"/>
                <a:cs typeface="Inter" pitchFamily="34" charset="-120"/>
              </a:rPr>
              <a:t>PASS</a:t>
            </a:r>
            <a:endParaRPr lang="en-US" sz="850" dirty="0"/>
          </a:p>
        </p:txBody>
      </p:sp>
      <p:sp>
        <p:nvSpPr>
          <p:cNvPr id="60" name="Shape 53"/>
          <p:cNvSpPr/>
          <p:nvPr/>
        </p:nvSpPr>
        <p:spPr>
          <a:xfrm>
            <a:off x="10341864" y="3566160"/>
            <a:ext cx="932688" cy="310896"/>
          </a:xfrm>
          <a:prstGeom prst="roundRect">
            <a:avLst>
              <a:gd name="adj" fmla="val 17647"/>
            </a:avLst>
          </a:prstGeom>
          <a:solidFill>
            <a:srgbClr val="E41B23"/>
          </a:solidFill>
          <a:ln w="12700">
            <a:solidFill>
              <a:srgbClr val="E41B23"/>
            </a:solidFill>
            <a:prstDash val="solid"/>
          </a:ln>
        </p:spPr>
      </p:sp>
      <p:sp>
        <p:nvSpPr>
          <p:cNvPr id="61" name="Text 54"/>
          <p:cNvSpPr/>
          <p:nvPr/>
        </p:nvSpPr>
        <p:spPr>
          <a:xfrm>
            <a:off x="10341864" y="3566160"/>
            <a:ext cx="932688" cy="310896"/>
          </a:xfrm>
          <a:prstGeom prst="rect">
            <a:avLst/>
          </a:prstGeom>
          <a:noFill/>
          <a:ln/>
        </p:spPr>
        <p:txBody>
          <a:bodyPr wrap="square" lIns="0" tIns="0" rIns="0" bIns="0" rtlCol="0" anchor="ctr"/>
          <a:lstStyle/>
          <a:p>
            <a:pPr algn="ctr" indent="0" marL="0">
              <a:buNone/>
            </a:pPr>
            <a:r>
              <a:rPr lang="en-US" sz="850" b="1" dirty="0">
                <a:solidFill>
                  <a:srgbClr val="FFFFFF"/>
                </a:solidFill>
                <a:latin typeface="Inter" pitchFamily="34" charset="0"/>
                <a:ea typeface="Inter" pitchFamily="34" charset="-122"/>
                <a:cs typeface="Inter" pitchFamily="34" charset="-120"/>
              </a:rPr>
              <a:t>BLOCK</a:t>
            </a:r>
            <a:endParaRPr lang="en-US" sz="850" dirty="0"/>
          </a:p>
        </p:txBody>
      </p:sp>
      <p:sp>
        <p:nvSpPr>
          <p:cNvPr id="62" name="Text 55"/>
          <p:cNvSpPr/>
          <p:nvPr/>
        </p:nvSpPr>
        <p:spPr>
          <a:xfrm>
            <a:off x="9116568" y="4114800"/>
            <a:ext cx="2359152" cy="640080"/>
          </a:xfrm>
          <a:prstGeom prst="rect">
            <a:avLst/>
          </a:prstGeom>
          <a:noFill/>
          <a:ln/>
        </p:spPr>
        <p:txBody>
          <a:bodyPr wrap="square" lIns="0" tIns="0" rIns="0" bIns="0" rtlCol="0" anchor="t"/>
          <a:lstStyle/>
          <a:p>
            <a:pPr indent="0" marL="0">
              <a:lnSpc>
                <a:spcPct val="115000"/>
              </a:lnSpc>
              <a:buNone/>
            </a:pPr>
            <a:r>
              <a:rPr lang="en-US" sz="850" dirty="0">
                <a:solidFill>
                  <a:srgbClr val="8A99AD"/>
                </a:solidFill>
                <a:latin typeface="Inter" pitchFamily="34" charset="0"/>
                <a:ea typeface="Inter" pitchFamily="34" charset="-122"/>
                <a:cs typeface="Inter" pitchFamily="34" charset="-120"/>
              </a:rPr>
              <a:t>promptToFix cho từng vi phạm — dev copy vào AI assistant của mình, Guardian không tự vá code.</a:t>
            </a:r>
            <a:endParaRPr lang="en-US" sz="850" dirty="0"/>
          </a:p>
        </p:txBody>
      </p:sp>
      <p:sp>
        <p:nvSpPr>
          <p:cNvPr id="63" name="Text 56"/>
          <p:cNvSpPr/>
          <p:nvPr/>
        </p:nvSpPr>
        <p:spPr>
          <a:xfrm>
            <a:off x="457200" y="6053328"/>
            <a:ext cx="11338560" cy="274320"/>
          </a:xfrm>
          <a:prstGeom prst="rect">
            <a:avLst/>
          </a:prstGeom>
          <a:noFill/>
          <a:ln/>
        </p:spPr>
        <p:txBody>
          <a:bodyPr wrap="square" lIns="0" tIns="0" rIns="0" bIns="0" rtlCol="0" anchor="t"/>
          <a:lstStyle/>
          <a:p>
            <a:pPr indent="0" marL="0">
              <a:buNone/>
            </a:pPr>
            <a:r>
              <a:rPr lang="en-US" sz="950" dirty="0">
                <a:solidFill>
                  <a:srgbClr val="8A99AD"/>
                </a:solidFill>
                <a:latin typeface="Inter" pitchFamily="34" charset="0"/>
                <a:ea typeface="Inter" pitchFamily="34" charset="-122"/>
                <a:cs typeface="Inter" pitchFamily="34" charset="-120"/>
              </a:rPr>
              <a:t>Mọi khối tương ứng 1:1 với module thật: src/cli.ts · src/orchestrator.ts · src/checks/*.ts · src/report/*.ts — ảnh chụp trạng thái code hiện tại, không phải sơ đồ khái niệm.</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p:bgPr>
    </p:bg>
    <p:spTree>
      <p:nvGrpSpPr>
        <p:cNvPr id="1" name=""/>
        <p:cNvGrpSpPr/>
        <p:nvPr/>
      </p:nvGrpSpPr>
      <p:grpSpPr>
        <a:xfrm>
          <a:off x="0" y="0"/>
          <a:ext cx="0" cy="0"/>
          <a:chOff x="0" y="0"/>
          <a:chExt cx="0" cy="0"/>
        </a:xfrm>
      </p:grpSpPr>
      <p:pic>
        <p:nvPicPr>
          <p:cNvPr id="2" name="Image 0" descr="logo_vin.png">    </p:cNvPr>
          <p:cNvPicPr>
            <a:picLocks noChangeAspect="1"/>
          </p:cNvPicPr>
          <p:nvPr/>
        </p:nvPicPr>
        <p:blipFill>
          <a:blip r:embed="rId1"/>
          <a:stretch>
            <a:fillRect/>
          </a:stretch>
        </p:blipFill>
        <p:spPr>
          <a:xfrm>
            <a:off x="10844784" y="384048"/>
            <a:ext cx="914400" cy="563270"/>
          </a:xfrm>
          <a:prstGeom prst="rect">
            <a:avLst/>
          </a:prstGeom>
        </p:spPr>
      </p:pic>
      <p:sp>
        <p:nvSpPr>
          <p:cNvPr id="3" name="Text 0"/>
          <p:cNvSpPr/>
          <p:nvPr/>
        </p:nvSpPr>
        <p:spPr>
          <a:xfrm>
            <a:off x="548640" y="384048"/>
            <a:ext cx="7315200" cy="256032"/>
          </a:xfrm>
          <a:prstGeom prst="rect">
            <a:avLst/>
          </a:prstGeom>
          <a:noFill/>
          <a:ln/>
        </p:spPr>
        <p:txBody>
          <a:bodyPr wrap="square" lIns="0" tIns="0" rIns="0" bIns="0" rtlCol="0" anchor="t"/>
          <a:lstStyle/>
          <a:p>
            <a:pPr indent="0" marL="0">
              <a:buNone/>
            </a:pPr>
            <a:r>
              <a:rPr lang="en-US" sz="1100" b="1" spc="200" kern="0" dirty="0">
                <a:solidFill>
                  <a:srgbClr val="E41B23"/>
                </a:solidFill>
                <a:latin typeface="Inter" pitchFamily="34" charset="0"/>
                <a:ea typeface="Inter" pitchFamily="34" charset="-122"/>
                <a:cs typeface="Inter" pitchFamily="34" charset="-120"/>
              </a:rPr>
              <a:t>04 · LÕI KỸ THUẬT</a:t>
            </a:r>
            <a:endParaRPr lang="en-US" sz="1100" dirty="0"/>
          </a:p>
        </p:txBody>
      </p:sp>
      <p:sp>
        <p:nvSpPr>
          <p:cNvPr id="4" name="Text 1"/>
          <p:cNvSpPr/>
          <p:nvPr/>
        </p:nvSpPr>
        <p:spPr>
          <a:xfrm>
            <a:off x="548640" y="658368"/>
            <a:ext cx="10104120" cy="548640"/>
          </a:xfrm>
          <a:prstGeom prst="rect">
            <a:avLst/>
          </a:prstGeom>
          <a:noFill/>
          <a:ln/>
        </p:spPr>
        <p:txBody>
          <a:bodyPr wrap="square" lIns="0" tIns="0" rIns="0" bIns="0" rtlCol="0" anchor="t"/>
          <a:lstStyle/>
          <a:p>
            <a:pPr indent="0" marL="0">
              <a:buNone/>
            </a:pPr>
            <a:r>
              <a:rPr lang="en-US" sz="2500" b="1" dirty="0">
                <a:solidFill>
                  <a:srgbClr val="0F1C34"/>
                </a:solidFill>
                <a:latin typeface="Inter" pitchFamily="34" charset="0"/>
                <a:ea typeface="Inter" pitchFamily="34" charset="-122"/>
                <a:cs typeface="Inter" pitchFamily="34" charset="-120"/>
              </a:rPr>
              <a:t>5 lớp khiên chống ảo giác LLM</a:t>
            </a:r>
            <a:endParaRPr lang="en-US" sz="2500" dirty="0"/>
          </a:p>
        </p:txBody>
      </p:sp>
      <p:sp>
        <p:nvSpPr>
          <p:cNvPr id="5" name="Text 2"/>
          <p:cNvSpPr/>
          <p:nvPr/>
        </p:nvSpPr>
        <p:spPr>
          <a:xfrm>
            <a:off x="548640" y="1298448"/>
            <a:ext cx="10058400" cy="256032"/>
          </a:xfrm>
          <a:prstGeom prst="rect">
            <a:avLst/>
          </a:prstGeom>
          <a:noFill/>
          <a:ln/>
        </p:spPr>
        <p:txBody>
          <a:bodyPr wrap="square" lIns="0" tIns="0" rIns="0" bIns="0" rtlCol="0" anchor="t"/>
          <a:lstStyle/>
          <a:p>
            <a:pPr indent="0" marL="0">
              <a:buNone/>
            </a:pPr>
            <a:r>
              <a:rPr lang="en-US" sz="1150" dirty="0">
                <a:solidFill>
                  <a:srgbClr val="8A99AD"/>
                </a:solidFill>
                <a:latin typeface="Inter" pitchFamily="34" charset="0"/>
                <a:ea typeface="Inter" pitchFamily="34" charset="-122"/>
                <a:cs typeface="Inter" pitchFamily="34" charset="-120"/>
              </a:rPr>
              <a:t>Mỗi vi phạm phải sống sót qua cả 5 lớp xếp chồng, độc lập — mỗi lớp chặn đúng một loại lỗi khác nhau mà LLM có thể mắc phải.</a:t>
            </a:r>
            <a:endParaRPr lang="en-US" sz="1150" dirty="0"/>
          </a:p>
        </p:txBody>
      </p:sp>
      <p:sp>
        <p:nvSpPr>
          <p:cNvPr id="6" name="Shape 3"/>
          <p:cNvSpPr/>
          <p:nvPr/>
        </p:nvSpPr>
        <p:spPr>
          <a:xfrm>
            <a:off x="475488" y="1627632"/>
            <a:ext cx="2103120" cy="3200400"/>
          </a:xfrm>
          <a:prstGeom prst="roundRect">
            <a:avLst>
              <a:gd name="adj" fmla="val 4348"/>
            </a:avLst>
          </a:prstGeom>
          <a:solidFill>
            <a:srgbClr val="FFFFFF">
              <a:alpha val="92000"/>
            </a:srgbClr>
          </a:solidFill>
          <a:ln w="12700">
            <a:solidFill>
              <a:srgbClr val="E3E9F2"/>
            </a:solidFill>
            <a:prstDash val="solid"/>
          </a:ln>
          <a:effectLst>
            <a:outerShdw sx="100000" sy="100000" kx="0" ky="0" algn="bl" rotWithShape="0" blurRad="177800" dist="25400" dir="5400000">
              <a:srgbClr val="AFBFD4">
                <a:alpha val="40000"/>
              </a:srgbClr>
            </a:outerShdw>
          </a:effectLst>
        </p:spPr>
      </p:sp>
      <p:sp>
        <p:nvSpPr>
          <p:cNvPr id="7" name="Shape 4"/>
          <p:cNvSpPr/>
          <p:nvPr/>
        </p:nvSpPr>
        <p:spPr>
          <a:xfrm>
            <a:off x="676656" y="1828800"/>
            <a:ext cx="475488" cy="475488"/>
          </a:xfrm>
          <a:prstGeom prst="ellipse">
            <a:avLst/>
          </a:prstGeom>
          <a:solidFill>
            <a:srgbClr val="0F6EFD"/>
          </a:solidFill>
          <a:ln w="12700">
            <a:solidFill>
              <a:srgbClr val="0F6EFD"/>
            </a:solidFill>
            <a:prstDash val="solid"/>
          </a:ln>
        </p:spPr>
      </p:sp>
      <p:sp>
        <p:nvSpPr>
          <p:cNvPr id="8" name="Text 5"/>
          <p:cNvSpPr/>
          <p:nvPr/>
        </p:nvSpPr>
        <p:spPr>
          <a:xfrm>
            <a:off x="676656" y="1828800"/>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Inter" pitchFamily="34" charset="0"/>
                <a:ea typeface="Inter" pitchFamily="34" charset="-122"/>
                <a:cs typeface="Inter" pitchFamily="34" charset="-120"/>
              </a:rPr>
              <a:t>1</a:t>
            </a:r>
            <a:endParaRPr lang="en-US" sz="1600" dirty="0"/>
          </a:p>
        </p:txBody>
      </p:sp>
      <p:sp>
        <p:nvSpPr>
          <p:cNvPr id="9" name="Text 6"/>
          <p:cNvSpPr/>
          <p:nvPr/>
        </p:nvSpPr>
        <p:spPr>
          <a:xfrm>
            <a:off x="676656" y="2432304"/>
            <a:ext cx="1700784" cy="566928"/>
          </a:xfrm>
          <a:prstGeom prst="rect">
            <a:avLst/>
          </a:prstGeom>
          <a:noFill/>
          <a:ln/>
        </p:spPr>
        <p:txBody>
          <a:bodyPr wrap="square" lIns="0" tIns="0" rIns="0" bIns="0" rtlCol="0" anchor="t"/>
          <a:lstStyle/>
          <a:p>
            <a:pPr indent="0" marL="0">
              <a:lnSpc>
                <a:spcPct val="110000"/>
              </a:lnSpc>
              <a:buNone/>
            </a:pPr>
            <a:r>
              <a:rPr lang="en-US" sz="1200" b="1" dirty="0">
                <a:solidFill>
                  <a:srgbClr val="0F1C34"/>
                </a:solidFill>
                <a:latin typeface="Inter" pitchFamily="34" charset="0"/>
                <a:ea typeface="Inter" pitchFamily="34" charset="-122"/>
                <a:cs typeface="Inter" pitchFamily="34" charset="-120"/>
              </a:rPr>
              <a:t>Grounding theo schema</a:t>
            </a:r>
            <a:endParaRPr lang="en-US" sz="1200" dirty="0"/>
          </a:p>
        </p:txBody>
      </p:sp>
      <p:sp>
        <p:nvSpPr>
          <p:cNvPr id="10" name="Text 7"/>
          <p:cNvSpPr/>
          <p:nvPr/>
        </p:nvSpPr>
        <p:spPr>
          <a:xfrm>
            <a:off x="676656" y="3054096"/>
            <a:ext cx="1700784" cy="1280160"/>
          </a:xfrm>
          <a:prstGeom prst="rect">
            <a:avLst/>
          </a:prstGeom>
          <a:noFill/>
          <a:ln/>
        </p:spPr>
        <p:txBody>
          <a:bodyPr wrap="square" lIns="0" tIns="0" rIns="0" bIns="0" rtlCol="0" anchor="t"/>
          <a:lstStyle/>
          <a:p>
            <a:pPr indent="0" marL="0">
              <a:lnSpc>
                <a:spcPct val="120000"/>
              </a:lnSpc>
              <a:buNone/>
            </a:pPr>
            <a:r>
              <a:rPr lang="en-US" sz="900" dirty="0">
                <a:solidFill>
                  <a:srgbClr val="46586F"/>
                </a:solidFill>
                <a:latin typeface="Inter" pitchFamily="34" charset="0"/>
                <a:ea typeface="Inter" pitchFamily="34" charset="-122"/>
                <a:cs typeface="Inter" pitchFamily="34" charset="-120"/>
              </a:rPr>
              <a:t>policyId bị ràng buộc bằng enum trong JSON Schema — chỉ chứa id policy đã thực sự nạp cho file. Model không thể bịa policy.</a:t>
            </a:r>
            <a:endParaRPr lang="en-US" sz="900" dirty="0"/>
          </a:p>
        </p:txBody>
      </p:sp>
      <p:sp>
        <p:nvSpPr>
          <p:cNvPr id="11" name="Shape 8"/>
          <p:cNvSpPr/>
          <p:nvPr/>
        </p:nvSpPr>
        <p:spPr>
          <a:xfrm>
            <a:off x="676656" y="4407408"/>
            <a:ext cx="1700784" cy="292608"/>
          </a:xfrm>
          <a:prstGeom prst="roundRect">
            <a:avLst>
              <a:gd name="adj" fmla="val 15625"/>
            </a:avLst>
          </a:prstGeom>
          <a:solidFill>
            <a:srgbClr val="EEF2F8"/>
          </a:solidFill>
          <a:ln w="12700">
            <a:solidFill>
              <a:srgbClr val="EEF2F8"/>
            </a:solidFill>
            <a:prstDash val="solid"/>
          </a:ln>
        </p:spPr>
      </p:sp>
      <p:sp>
        <p:nvSpPr>
          <p:cNvPr id="12" name="Text 9"/>
          <p:cNvSpPr/>
          <p:nvPr/>
        </p:nvSpPr>
        <p:spPr>
          <a:xfrm>
            <a:off x="731520" y="4407408"/>
            <a:ext cx="1591056" cy="292608"/>
          </a:xfrm>
          <a:prstGeom prst="rect">
            <a:avLst/>
          </a:prstGeom>
          <a:noFill/>
          <a:ln/>
        </p:spPr>
        <p:txBody>
          <a:bodyPr wrap="square" lIns="0" tIns="0" rIns="0" bIns="0" rtlCol="0" anchor="ctr"/>
          <a:lstStyle/>
          <a:p>
            <a:pPr algn="ctr" indent="0" marL="0">
              <a:buNone/>
            </a:pPr>
            <a:r>
              <a:rPr lang="en-US" sz="800" dirty="0">
                <a:solidFill>
                  <a:srgbClr val="0F1C34"/>
                </a:solidFill>
                <a:latin typeface="Courier New" pitchFamily="34" charset="0"/>
                <a:ea typeface="Courier New" pitchFamily="34" charset="-122"/>
                <a:cs typeface="Courier New" pitchFamily="34" charset="-120"/>
              </a:rPr>
              <a:t>buildViolationsSchema()</a:t>
            </a:r>
            <a:endParaRPr lang="en-US" sz="800" dirty="0"/>
          </a:p>
        </p:txBody>
      </p:sp>
      <p:sp>
        <p:nvSpPr>
          <p:cNvPr id="13" name="Shape 10"/>
          <p:cNvSpPr/>
          <p:nvPr/>
        </p:nvSpPr>
        <p:spPr>
          <a:xfrm>
            <a:off x="2761488" y="1627632"/>
            <a:ext cx="2103120" cy="3200400"/>
          </a:xfrm>
          <a:prstGeom prst="roundRect">
            <a:avLst>
              <a:gd name="adj" fmla="val 4348"/>
            </a:avLst>
          </a:prstGeom>
          <a:solidFill>
            <a:srgbClr val="FFFFFF">
              <a:alpha val="92000"/>
            </a:srgbClr>
          </a:solidFill>
          <a:ln w="12700">
            <a:solidFill>
              <a:srgbClr val="E3E9F2"/>
            </a:solidFill>
            <a:prstDash val="solid"/>
          </a:ln>
          <a:effectLst>
            <a:outerShdw sx="100000" sy="100000" kx="0" ky="0" algn="bl" rotWithShape="0" blurRad="177800" dist="25400" dir="5400000">
              <a:srgbClr val="AFBFD4">
                <a:alpha val="40000"/>
              </a:srgbClr>
            </a:outerShdw>
          </a:effectLst>
        </p:spPr>
      </p:sp>
      <p:sp>
        <p:nvSpPr>
          <p:cNvPr id="14" name="Shape 11"/>
          <p:cNvSpPr/>
          <p:nvPr/>
        </p:nvSpPr>
        <p:spPr>
          <a:xfrm>
            <a:off x="2962656" y="1828800"/>
            <a:ext cx="475488" cy="475488"/>
          </a:xfrm>
          <a:prstGeom prst="ellipse">
            <a:avLst/>
          </a:prstGeom>
          <a:solidFill>
            <a:srgbClr val="0F6EFD"/>
          </a:solidFill>
          <a:ln w="12700">
            <a:solidFill>
              <a:srgbClr val="0F6EFD"/>
            </a:solidFill>
            <a:prstDash val="solid"/>
          </a:ln>
        </p:spPr>
      </p:sp>
      <p:sp>
        <p:nvSpPr>
          <p:cNvPr id="15" name="Text 12"/>
          <p:cNvSpPr/>
          <p:nvPr/>
        </p:nvSpPr>
        <p:spPr>
          <a:xfrm>
            <a:off x="2962656" y="1828800"/>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Inter" pitchFamily="34" charset="0"/>
                <a:ea typeface="Inter" pitchFamily="34" charset="-122"/>
                <a:cs typeface="Inter" pitchFamily="34" charset="-120"/>
              </a:rPr>
              <a:t>2</a:t>
            </a:r>
            <a:endParaRPr lang="en-US" sz="1600" dirty="0"/>
          </a:p>
        </p:txBody>
      </p:sp>
      <p:sp>
        <p:nvSpPr>
          <p:cNvPr id="16" name="Text 13"/>
          <p:cNvSpPr/>
          <p:nvPr/>
        </p:nvSpPr>
        <p:spPr>
          <a:xfrm>
            <a:off x="2962656" y="2432304"/>
            <a:ext cx="1700784" cy="566928"/>
          </a:xfrm>
          <a:prstGeom prst="rect">
            <a:avLst/>
          </a:prstGeom>
          <a:noFill/>
          <a:ln/>
        </p:spPr>
        <p:txBody>
          <a:bodyPr wrap="square" lIns="0" tIns="0" rIns="0" bIns="0" rtlCol="0" anchor="t"/>
          <a:lstStyle/>
          <a:p>
            <a:pPr indent="0" marL="0">
              <a:lnSpc>
                <a:spcPct val="110000"/>
              </a:lnSpc>
              <a:buNone/>
            </a:pPr>
            <a:r>
              <a:rPr lang="en-US" sz="1200" b="1" dirty="0">
                <a:solidFill>
                  <a:srgbClr val="0F1C34"/>
                </a:solidFill>
                <a:latin typeface="Inter" pitchFamily="34" charset="0"/>
                <a:ea typeface="Inter" pitchFamily="34" charset="-122"/>
                <a:cs typeface="Inter" pitchFamily="34" charset="-120"/>
              </a:rPr>
              <a:t>Reasoning-first (CoT)</a:t>
            </a:r>
            <a:endParaRPr lang="en-US" sz="1200" dirty="0"/>
          </a:p>
        </p:txBody>
      </p:sp>
      <p:sp>
        <p:nvSpPr>
          <p:cNvPr id="17" name="Text 14"/>
          <p:cNvSpPr/>
          <p:nvPr/>
        </p:nvSpPr>
        <p:spPr>
          <a:xfrm>
            <a:off x="2962656" y="3054096"/>
            <a:ext cx="1700784" cy="1280160"/>
          </a:xfrm>
          <a:prstGeom prst="rect">
            <a:avLst/>
          </a:prstGeom>
          <a:noFill/>
          <a:ln/>
        </p:spPr>
        <p:txBody>
          <a:bodyPr wrap="square" lIns="0" tIns="0" rIns="0" bIns="0" rtlCol="0" anchor="t"/>
          <a:lstStyle/>
          <a:p>
            <a:pPr indent="0" marL="0">
              <a:lnSpc>
                <a:spcPct val="120000"/>
              </a:lnSpc>
              <a:buNone/>
            </a:pPr>
            <a:r>
              <a:rPr lang="en-US" sz="900" dirty="0">
                <a:solidFill>
                  <a:srgbClr val="46586F"/>
                </a:solidFill>
                <a:latin typeface="Inter" pitchFamily="34" charset="0"/>
                <a:ea typeface="Inter" pitchFamily="34" charset="-122"/>
                <a:cs typeface="Inter" pitchFamily="34" charset="-120"/>
              </a:rPr>
              <a:t>Field reasoning được khai báo đầu tiên trong schema, nên model buộc phải suy luận trước khi được phép chốt verdict.</a:t>
            </a:r>
            <a:endParaRPr lang="en-US" sz="900" dirty="0"/>
          </a:p>
        </p:txBody>
      </p:sp>
      <p:sp>
        <p:nvSpPr>
          <p:cNvPr id="18" name="Shape 15"/>
          <p:cNvSpPr/>
          <p:nvPr/>
        </p:nvSpPr>
        <p:spPr>
          <a:xfrm>
            <a:off x="2962656" y="4407408"/>
            <a:ext cx="1700784" cy="292608"/>
          </a:xfrm>
          <a:prstGeom prst="roundRect">
            <a:avLst>
              <a:gd name="adj" fmla="val 15625"/>
            </a:avLst>
          </a:prstGeom>
          <a:solidFill>
            <a:srgbClr val="EEF2F8"/>
          </a:solidFill>
          <a:ln w="12700">
            <a:solidFill>
              <a:srgbClr val="EEF2F8"/>
            </a:solidFill>
            <a:prstDash val="solid"/>
          </a:ln>
        </p:spPr>
      </p:sp>
      <p:sp>
        <p:nvSpPr>
          <p:cNvPr id="19" name="Text 16"/>
          <p:cNvSpPr/>
          <p:nvPr/>
        </p:nvSpPr>
        <p:spPr>
          <a:xfrm>
            <a:off x="3017520" y="4407408"/>
            <a:ext cx="1591056" cy="292608"/>
          </a:xfrm>
          <a:prstGeom prst="rect">
            <a:avLst/>
          </a:prstGeom>
          <a:noFill/>
          <a:ln/>
        </p:spPr>
        <p:txBody>
          <a:bodyPr wrap="square" lIns="0" tIns="0" rIns="0" bIns="0" rtlCol="0" anchor="ctr"/>
          <a:lstStyle/>
          <a:p>
            <a:pPr algn="ctr" indent="0" marL="0">
              <a:buNone/>
            </a:pPr>
            <a:r>
              <a:rPr lang="en-US" sz="800" dirty="0">
                <a:solidFill>
                  <a:srgbClr val="0F1C34"/>
                </a:solidFill>
                <a:latin typeface="Courier New" pitchFamily="34" charset="0"/>
                <a:ea typeface="Courier New" pitchFamily="34" charset="-122"/>
                <a:cs typeface="Courier New" pitchFamily="34" charset="-120"/>
              </a:rPr>
              <a:t>reasoning → verdict</a:t>
            </a:r>
            <a:endParaRPr lang="en-US" sz="800" dirty="0"/>
          </a:p>
        </p:txBody>
      </p:sp>
      <p:sp>
        <p:nvSpPr>
          <p:cNvPr id="20" name="Shape 17"/>
          <p:cNvSpPr/>
          <p:nvPr/>
        </p:nvSpPr>
        <p:spPr>
          <a:xfrm>
            <a:off x="5047488" y="1627632"/>
            <a:ext cx="2103120" cy="3200400"/>
          </a:xfrm>
          <a:prstGeom prst="roundRect">
            <a:avLst>
              <a:gd name="adj" fmla="val 4348"/>
            </a:avLst>
          </a:prstGeom>
          <a:solidFill>
            <a:srgbClr val="FFFFFF">
              <a:alpha val="92000"/>
            </a:srgbClr>
          </a:solidFill>
          <a:ln w="12700">
            <a:solidFill>
              <a:srgbClr val="E3E9F2"/>
            </a:solidFill>
            <a:prstDash val="solid"/>
          </a:ln>
          <a:effectLst>
            <a:outerShdw sx="100000" sy="100000" kx="0" ky="0" algn="bl" rotWithShape="0" blurRad="177800" dist="25400" dir="5400000">
              <a:srgbClr val="AFBFD4">
                <a:alpha val="40000"/>
              </a:srgbClr>
            </a:outerShdw>
          </a:effectLst>
        </p:spPr>
      </p:sp>
      <p:sp>
        <p:nvSpPr>
          <p:cNvPr id="21" name="Shape 18"/>
          <p:cNvSpPr/>
          <p:nvPr/>
        </p:nvSpPr>
        <p:spPr>
          <a:xfrm>
            <a:off x="5248656" y="1828800"/>
            <a:ext cx="475488" cy="475488"/>
          </a:xfrm>
          <a:prstGeom prst="ellipse">
            <a:avLst/>
          </a:prstGeom>
          <a:solidFill>
            <a:srgbClr val="0F6EFD"/>
          </a:solidFill>
          <a:ln w="12700">
            <a:solidFill>
              <a:srgbClr val="0F6EFD"/>
            </a:solidFill>
            <a:prstDash val="solid"/>
          </a:ln>
        </p:spPr>
      </p:sp>
      <p:sp>
        <p:nvSpPr>
          <p:cNvPr id="22" name="Text 19"/>
          <p:cNvSpPr/>
          <p:nvPr/>
        </p:nvSpPr>
        <p:spPr>
          <a:xfrm>
            <a:off x="5248656" y="1828800"/>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Inter" pitchFamily="34" charset="0"/>
                <a:ea typeface="Inter" pitchFamily="34" charset="-122"/>
                <a:cs typeface="Inter" pitchFamily="34" charset="-120"/>
              </a:rPr>
              <a:t>3</a:t>
            </a:r>
            <a:endParaRPr lang="en-US" sz="1600" dirty="0"/>
          </a:p>
        </p:txBody>
      </p:sp>
      <p:sp>
        <p:nvSpPr>
          <p:cNvPr id="23" name="Text 20"/>
          <p:cNvSpPr/>
          <p:nvPr/>
        </p:nvSpPr>
        <p:spPr>
          <a:xfrm>
            <a:off x="5248656" y="2432304"/>
            <a:ext cx="1700784" cy="566928"/>
          </a:xfrm>
          <a:prstGeom prst="rect">
            <a:avLst/>
          </a:prstGeom>
          <a:noFill/>
          <a:ln/>
        </p:spPr>
        <p:txBody>
          <a:bodyPr wrap="square" lIns="0" tIns="0" rIns="0" bIns="0" rtlCol="0" anchor="t"/>
          <a:lstStyle/>
          <a:p>
            <a:pPr indent="0" marL="0">
              <a:lnSpc>
                <a:spcPct val="110000"/>
              </a:lnSpc>
              <a:buNone/>
            </a:pPr>
            <a:r>
              <a:rPr lang="en-US" sz="1200" b="1" dirty="0">
                <a:solidFill>
                  <a:srgbClr val="0F1C34"/>
                </a:solidFill>
                <a:latin typeface="Inter" pitchFamily="34" charset="0"/>
                <a:ea typeface="Inter" pitchFamily="34" charset="-122"/>
                <a:cs typeface="Inter" pitchFamily="34" charset="-120"/>
              </a:rPr>
              <a:t>Grounded Evidence</a:t>
            </a:r>
            <a:endParaRPr lang="en-US" sz="1200" dirty="0"/>
          </a:p>
        </p:txBody>
      </p:sp>
      <p:sp>
        <p:nvSpPr>
          <p:cNvPr id="24" name="Text 21"/>
          <p:cNvSpPr/>
          <p:nvPr/>
        </p:nvSpPr>
        <p:spPr>
          <a:xfrm>
            <a:off x="5248656" y="3054096"/>
            <a:ext cx="1700784" cy="1280160"/>
          </a:xfrm>
          <a:prstGeom prst="rect">
            <a:avLst/>
          </a:prstGeom>
          <a:noFill/>
          <a:ln/>
        </p:spPr>
        <p:txBody>
          <a:bodyPr wrap="square" lIns="0" tIns="0" rIns="0" bIns="0" rtlCol="0" anchor="t"/>
          <a:lstStyle/>
          <a:p>
            <a:pPr indent="0" marL="0">
              <a:lnSpc>
                <a:spcPct val="120000"/>
              </a:lnSpc>
              <a:buNone/>
            </a:pPr>
            <a:r>
              <a:rPr lang="en-US" sz="900" dirty="0">
                <a:solidFill>
                  <a:srgbClr val="46586F"/>
                </a:solidFill>
                <a:latin typeface="Inter" pitchFamily="34" charset="0"/>
                <a:ea typeface="Inter" pitchFamily="34" charset="-122"/>
                <a:cs typeface="Inter" pitchFamily="34" charset="-120"/>
              </a:rPr>
              <a:t>evidenceSnippet phải trùng verbatim với diff thật. AST bọc tag &lt;comment&gt;/&lt;string&gt; để comment không bị tính là code.</a:t>
            </a:r>
            <a:endParaRPr lang="en-US" sz="900" dirty="0"/>
          </a:p>
        </p:txBody>
      </p:sp>
      <p:sp>
        <p:nvSpPr>
          <p:cNvPr id="25" name="Shape 22"/>
          <p:cNvSpPr/>
          <p:nvPr/>
        </p:nvSpPr>
        <p:spPr>
          <a:xfrm>
            <a:off x="5248656" y="4407408"/>
            <a:ext cx="1700784" cy="292608"/>
          </a:xfrm>
          <a:prstGeom prst="roundRect">
            <a:avLst>
              <a:gd name="adj" fmla="val 15625"/>
            </a:avLst>
          </a:prstGeom>
          <a:solidFill>
            <a:srgbClr val="EEF2F8"/>
          </a:solidFill>
          <a:ln w="12700">
            <a:solidFill>
              <a:srgbClr val="EEF2F8"/>
            </a:solidFill>
            <a:prstDash val="solid"/>
          </a:ln>
        </p:spPr>
      </p:sp>
      <p:sp>
        <p:nvSpPr>
          <p:cNvPr id="26" name="Text 23"/>
          <p:cNvSpPr/>
          <p:nvPr/>
        </p:nvSpPr>
        <p:spPr>
          <a:xfrm>
            <a:off x="5303520" y="4407408"/>
            <a:ext cx="1591056" cy="292608"/>
          </a:xfrm>
          <a:prstGeom prst="rect">
            <a:avLst/>
          </a:prstGeom>
          <a:noFill/>
          <a:ln/>
        </p:spPr>
        <p:txBody>
          <a:bodyPr wrap="square" lIns="0" tIns="0" rIns="0" bIns="0" rtlCol="0" anchor="ctr"/>
          <a:lstStyle/>
          <a:p>
            <a:pPr algn="ctr" indent="0" marL="0">
              <a:buNone/>
            </a:pPr>
            <a:r>
              <a:rPr lang="en-US" sz="800" dirty="0">
                <a:solidFill>
                  <a:srgbClr val="0F1C34"/>
                </a:solidFill>
                <a:latin typeface="Courier New" pitchFamily="34" charset="0"/>
                <a:ea typeface="Courier New" pitchFamily="34" charset="-122"/>
                <a:cs typeface="Courier New" pitchFamily="34" charset="-120"/>
              </a:rPr>
              <a:t>isEvidenceGrounded()</a:t>
            </a:r>
            <a:endParaRPr lang="en-US" sz="800" dirty="0"/>
          </a:p>
        </p:txBody>
      </p:sp>
      <p:sp>
        <p:nvSpPr>
          <p:cNvPr id="27" name="Shape 24"/>
          <p:cNvSpPr/>
          <p:nvPr/>
        </p:nvSpPr>
        <p:spPr>
          <a:xfrm>
            <a:off x="7333488" y="1627632"/>
            <a:ext cx="2103120" cy="3200400"/>
          </a:xfrm>
          <a:prstGeom prst="roundRect">
            <a:avLst>
              <a:gd name="adj" fmla="val 4348"/>
            </a:avLst>
          </a:prstGeom>
          <a:solidFill>
            <a:srgbClr val="FFFFFF">
              <a:alpha val="92000"/>
            </a:srgbClr>
          </a:solidFill>
          <a:ln w="12700">
            <a:solidFill>
              <a:srgbClr val="E3E9F2"/>
            </a:solidFill>
            <a:prstDash val="solid"/>
          </a:ln>
          <a:effectLst>
            <a:outerShdw sx="100000" sy="100000" kx="0" ky="0" algn="bl" rotWithShape="0" blurRad="177800" dist="25400" dir="5400000">
              <a:srgbClr val="AFBFD4">
                <a:alpha val="40000"/>
              </a:srgbClr>
            </a:outerShdw>
          </a:effectLst>
        </p:spPr>
      </p:sp>
      <p:sp>
        <p:nvSpPr>
          <p:cNvPr id="28" name="Shape 25"/>
          <p:cNvSpPr/>
          <p:nvPr/>
        </p:nvSpPr>
        <p:spPr>
          <a:xfrm>
            <a:off x="7534656" y="1828800"/>
            <a:ext cx="475488" cy="475488"/>
          </a:xfrm>
          <a:prstGeom prst="ellipse">
            <a:avLst/>
          </a:prstGeom>
          <a:solidFill>
            <a:srgbClr val="0F6EFD"/>
          </a:solidFill>
          <a:ln w="12700">
            <a:solidFill>
              <a:srgbClr val="0F6EFD"/>
            </a:solidFill>
            <a:prstDash val="solid"/>
          </a:ln>
        </p:spPr>
      </p:sp>
      <p:sp>
        <p:nvSpPr>
          <p:cNvPr id="29" name="Text 26"/>
          <p:cNvSpPr/>
          <p:nvPr/>
        </p:nvSpPr>
        <p:spPr>
          <a:xfrm>
            <a:off x="7534656" y="1828800"/>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Inter" pitchFamily="34" charset="0"/>
                <a:ea typeface="Inter" pitchFamily="34" charset="-122"/>
                <a:cs typeface="Inter" pitchFamily="34" charset="-120"/>
              </a:rPr>
              <a:t>4</a:t>
            </a:r>
            <a:endParaRPr lang="en-US" sz="1600" dirty="0"/>
          </a:p>
        </p:txBody>
      </p:sp>
      <p:sp>
        <p:nvSpPr>
          <p:cNvPr id="30" name="Text 27"/>
          <p:cNvSpPr/>
          <p:nvPr/>
        </p:nvSpPr>
        <p:spPr>
          <a:xfrm>
            <a:off x="7534656" y="2432304"/>
            <a:ext cx="1700784" cy="566928"/>
          </a:xfrm>
          <a:prstGeom prst="rect">
            <a:avLst/>
          </a:prstGeom>
          <a:noFill/>
          <a:ln/>
        </p:spPr>
        <p:txBody>
          <a:bodyPr wrap="square" lIns="0" tIns="0" rIns="0" bIns="0" rtlCol="0" anchor="t"/>
          <a:lstStyle/>
          <a:p>
            <a:pPr indent="0" marL="0">
              <a:lnSpc>
                <a:spcPct val="110000"/>
              </a:lnSpc>
              <a:buNone/>
            </a:pPr>
            <a:r>
              <a:rPr lang="en-US" sz="1200" b="1" dirty="0">
                <a:solidFill>
                  <a:srgbClr val="0F1C34"/>
                </a:solidFill>
                <a:latin typeface="Inter" pitchFamily="34" charset="0"/>
                <a:ea typeface="Inter" pitchFamily="34" charset="-122"/>
                <a:cs typeface="Inter" pitchFamily="34" charset="-120"/>
              </a:rPr>
              <a:t>Self-consistency</a:t>
            </a:r>
            <a:endParaRPr lang="en-US" sz="1200" dirty="0"/>
          </a:p>
        </p:txBody>
      </p:sp>
      <p:sp>
        <p:nvSpPr>
          <p:cNvPr id="31" name="Text 28"/>
          <p:cNvSpPr/>
          <p:nvPr/>
        </p:nvSpPr>
        <p:spPr>
          <a:xfrm>
            <a:off x="7534656" y="3054096"/>
            <a:ext cx="1700784" cy="1280160"/>
          </a:xfrm>
          <a:prstGeom prst="rect">
            <a:avLst/>
          </a:prstGeom>
          <a:noFill/>
          <a:ln/>
        </p:spPr>
        <p:txBody>
          <a:bodyPr wrap="square" lIns="0" tIns="0" rIns="0" bIns="0" rtlCol="0" anchor="t"/>
          <a:lstStyle/>
          <a:p>
            <a:pPr indent="0" marL="0">
              <a:lnSpc>
                <a:spcPct val="120000"/>
              </a:lnSpc>
              <a:buNone/>
            </a:pPr>
            <a:r>
              <a:rPr lang="en-US" sz="900" dirty="0">
                <a:solidFill>
                  <a:srgbClr val="46586F"/>
                </a:solidFill>
                <a:latin typeface="Inter" pitchFamily="34" charset="0"/>
                <a:ea typeface="Inter" pitchFamily="34" charset="-122"/>
                <a:cs typeface="Inter" pitchFamily="34" charset="-120"/>
              </a:rPr>
              <a:t>Phát hiện critical được hỏi lại y hệt prompt lần 2; chỉ giữ vi phạm nếu policyId xuất hiện ở cả hai lượt.</a:t>
            </a:r>
            <a:endParaRPr lang="en-US" sz="900" dirty="0"/>
          </a:p>
        </p:txBody>
      </p:sp>
      <p:sp>
        <p:nvSpPr>
          <p:cNvPr id="32" name="Shape 29"/>
          <p:cNvSpPr/>
          <p:nvPr/>
        </p:nvSpPr>
        <p:spPr>
          <a:xfrm>
            <a:off x="7534656" y="4407408"/>
            <a:ext cx="1700784" cy="292608"/>
          </a:xfrm>
          <a:prstGeom prst="roundRect">
            <a:avLst>
              <a:gd name="adj" fmla="val 15625"/>
            </a:avLst>
          </a:prstGeom>
          <a:solidFill>
            <a:srgbClr val="EEF2F8"/>
          </a:solidFill>
          <a:ln w="12700">
            <a:solidFill>
              <a:srgbClr val="EEF2F8"/>
            </a:solidFill>
            <a:prstDash val="solid"/>
          </a:ln>
        </p:spPr>
      </p:sp>
      <p:sp>
        <p:nvSpPr>
          <p:cNvPr id="33" name="Text 30"/>
          <p:cNvSpPr/>
          <p:nvPr/>
        </p:nvSpPr>
        <p:spPr>
          <a:xfrm>
            <a:off x="7589520" y="4407408"/>
            <a:ext cx="1591056" cy="292608"/>
          </a:xfrm>
          <a:prstGeom prst="rect">
            <a:avLst/>
          </a:prstGeom>
          <a:noFill/>
          <a:ln/>
        </p:spPr>
        <p:txBody>
          <a:bodyPr wrap="square" lIns="0" tIns="0" rIns="0" bIns="0" rtlCol="0" anchor="ctr"/>
          <a:lstStyle/>
          <a:p>
            <a:pPr algn="ctr" indent="0" marL="0">
              <a:buNone/>
            </a:pPr>
            <a:r>
              <a:rPr lang="en-US" sz="800" dirty="0">
                <a:solidFill>
                  <a:srgbClr val="0F1C34"/>
                </a:solidFill>
                <a:latin typeface="Courier New" pitchFamily="34" charset="0"/>
                <a:ea typeface="Courier New" pitchFamily="34" charset="-122"/>
                <a:cs typeface="Courier New" pitchFamily="34" charset="-120"/>
              </a:rPr>
              <a:t>2× gọi · chỉ critical</a:t>
            </a:r>
            <a:endParaRPr lang="en-US" sz="800" dirty="0"/>
          </a:p>
        </p:txBody>
      </p:sp>
      <p:sp>
        <p:nvSpPr>
          <p:cNvPr id="34" name="Shape 31"/>
          <p:cNvSpPr/>
          <p:nvPr/>
        </p:nvSpPr>
        <p:spPr>
          <a:xfrm>
            <a:off x="9619488" y="1627632"/>
            <a:ext cx="2103120" cy="3200400"/>
          </a:xfrm>
          <a:prstGeom prst="roundRect">
            <a:avLst>
              <a:gd name="adj" fmla="val 4348"/>
            </a:avLst>
          </a:prstGeom>
          <a:solidFill>
            <a:srgbClr val="FFFFFF">
              <a:alpha val="92000"/>
            </a:srgbClr>
          </a:solidFill>
          <a:ln w="12700">
            <a:solidFill>
              <a:srgbClr val="E3E9F2"/>
            </a:solidFill>
            <a:prstDash val="solid"/>
          </a:ln>
          <a:effectLst>
            <a:outerShdw sx="100000" sy="100000" kx="0" ky="0" algn="bl" rotWithShape="0" blurRad="177800" dist="25400" dir="5400000">
              <a:srgbClr val="AFBFD4">
                <a:alpha val="40000"/>
              </a:srgbClr>
            </a:outerShdw>
          </a:effectLst>
        </p:spPr>
      </p:sp>
      <p:sp>
        <p:nvSpPr>
          <p:cNvPr id="35" name="Shape 32"/>
          <p:cNvSpPr/>
          <p:nvPr/>
        </p:nvSpPr>
        <p:spPr>
          <a:xfrm>
            <a:off x="9820656" y="1828800"/>
            <a:ext cx="475488" cy="475488"/>
          </a:xfrm>
          <a:prstGeom prst="ellipse">
            <a:avLst/>
          </a:prstGeom>
          <a:solidFill>
            <a:srgbClr val="0F6EFD"/>
          </a:solidFill>
          <a:ln w="12700">
            <a:solidFill>
              <a:srgbClr val="0F6EFD"/>
            </a:solidFill>
            <a:prstDash val="solid"/>
          </a:ln>
        </p:spPr>
      </p:sp>
      <p:sp>
        <p:nvSpPr>
          <p:cNvPr id="36" name="Text 33"/>
          <p:cNvSpPr/>
          <p:nvPr/>
        </p:nvSpPr>
        <p:spPr>
          <a:xfrm>
            <a:off x="9820656" y="1828800"/>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Inter" pitchFamily="34" charset="0"/>
                <a:ea typeface="Inter" pitchFamily="34" charset="-122"/>
                <a:cs typeface="Inter" pitchFamily="34" charset="-120"/>
              </a:rPr>
              <a:t>5</a:t>
            </a:r>
            <a:endParaRPr lang="en-US" sz="1600" dirty="0"/>
          </a:p>
        </p:txBody>
      </p:sp>
      <p:sp>
        <p:nvSpPr>
          <p:cNvPr id="37" name="Text 34"/>
          <p:cNvSpPr/>
          <p:nvPr/>
        </p:nvSpPr>
        <p:spPr>
          <a:xfrm>
            <a:off x="9820656" y="2432304"/>
            <a:ext cx="1700784" cy="566928"/>
          </a:xfrm>
          <a:prstGeom prst="rect">
            <a:avLst/>
          </a:prstGeom>
          <a:noFill/>
          <a:ln/>
        </p:spPr>
        <p:txBody>
          <a:bodyPr wrap="square" lIns="0" tIns="0" rIns="0" bIns="0" rtlCol="0" anchor="t"/>
          <a:lstStyle/>
          <a:p>
            <a:pPr indent="0" marL="0">
              <a:lnSpc>
                <a:spcPct val="110000"/>
              </a:lnSpc>
              <a:buNone/>
            </a:pPr>
            <a:r>
              <a:rPr lang="en-US" sz="1200" b="1" dirty="0">
                <a:solidFill>
                  <a:srgbClr val="0F1C34"/>
                </a:solidFill>
                <a:latin typeface="Inter" pitchFamily="34" charset="0"/>
                <a:ea typeface="Inter" pitchFamily="34" charset="-122"/>
                <a:cs typeface="Inter" pitchFamily="34" charset="-120"/>
              </a:rPr>
              <a:t>AI-as-a-Judge</a:t>
            </a:r>
            <a:endParaRPr lang="en-US" sz="1200" dirty="0"/>
          </a:p>
        </p:txBody>
      </p:sp>
      <p:sp>
        <p:nvSpPr>
          <p:cNvPr id="38" name="Text 35"/>
          <p:cNvSpPr/>
          <p:nvPr/>
        </p:nvSpPr>
        <p:spPr>
          <a:xfrm>
            <a:off x="9820656" y="3054096"/>
            <a:ext cx="1700784" cy="1280160"/>
          </a:xfrm>
          <a:prstGeom prst="rect">
            <a:avLst/>
          </a:prstGeom>
          <a:noFill/>
          <a:ln/>
        </p:spPr>
        <p:txBody>
          <a:bodyPr wrap="square" lIns="0" tIns="0" rIns="0" bIns="0" rtlCol="0" anchor="t"/>
          <a:lstStyle/>
          <a:p>
            <a:pPr indent="0" marL="0">
              <a:lnSpc>
                <a:spcPct val="120000"/>
              </a:lnSpc>
              <a:buNone/>
            </a:pPr>
            <a:r>
              <a:rPr lang="en-US" sz="900" dirty="0">
                <a:solidFill>
                  <a:srgbClr val="46586F"/>
                </a:solidFill>
                <a:latin typeface="Inter" pitchFamily="34" charset="0"/>
                <a:ea typeface="Inter" pitchFamily="34" charset="-122"/>
                <a:cs typeface="Inter" pitchFamily="34" charset="-120"/>
              </a:rPr>
              <a:t>Model thứ hai độc lập tự đếm lại và suy luận lại từng claim, không tin reasoning gốc. Fail-open, chỉ loại false positive.</a:t>
            </a:r>
            <a:endParaRPr lang="en-US" sz="900" dirty="0"/>
          </a:p>
        </p:txBody>
      </p:sp>
      <p:sp>
        <p:nvSpPr>
          <p:cNvPr id="39" name="Shape 36"/>
          <p:cNvSpPr/>
          <p:nvPr/>
        </p:nvSpPr>
        <p:spPr>
          <a:xfrm>
            <a:off x="9820656" y="4407408"/>
            <a:ext cx="1700784" cy="292608"/>
          </a:xfrm>
          <a:prstGeom prst="roundRect">
            <a:avLst>
              <a:gd name="adj" fmla="val 15625"/>
            </a:avLst>
          </a:prstGeom>
          <a:solidFill>
            <a:srgbClr val="EEF2F8"/>
          </a:solidFill>
          <a:ln w="12700">
            <a:solidFill>
              <a:srgbClr val="EEF2F8"/>
            </a:solidFill>
            <a:prstDash val="solid"/>
          </a:ln>
        </p:spPr>
      </p:sp>
      <p:sp>
        <p:nvSpPr>
          <p:cNvPr id="40" name="Text 37"/>
          <p:cNvSpPr/>
          <p:nvPr/>
        </p:nvSpPr>
        <p:spPr>
          <a:xfrm>
            <a:off x="9875520" y="4407408"/>
            <a:ext cx="1591056" cy="292608"/>
          </a:xfrm>
          <a:prstGeom prst="rect">
            <a:avLst/>
          </a:prstGeom>
          <a:noFill/>
          <a:ln/>
        </p:spPr>
        <p:txBody>
          <a:bodyPr wrap="square" lIns="0" tIns="0" rIns="0" bIns="0" rtlCol="0" anchor="ctr"/>
          <a:lstStyle/>
          <a:p>
            <a:pPr algn="ctr" indent="0" marL="0">
              <a:buNone/>
            </a:pPr>
            <a:r>
              <a:rPr lang="en-US" sz="800" dirty="0">
                <a:solidFill>
                  <a:srgbClr val="0F1C34"/>
                </a:solidFill>
                <a:latin typeface="Courier New" pitchFamily="34" charset="0"/>
                <a:ea typeface="Courier New" pitchFamily="34" charset="-122"/>
                <a:cs typeface="Courier New" pitchFamily="34" charset="-120"/>
              </a:rPr>
              <a:t>claude-haiku-4-5</a:t>
            </a:r>
            <a:endParaRPr lang="en-US" sz="800" dirty="0"/>
          </a:p>
        </p:txBody>
      </p:sp>
      <p:sp>
        <p:nvSpPr>
          <p:cNvPr id="41" name="Shape 38"/>
          <p:cNvSpPr/>
          <p:nvPr/>
        </p:nvSpPr>
        <p:spPr>
          <a:xfrm>
            <a:off x="475488" y="5029200"/>
            <a:ext cx="11247120" cy="1188720"/>
          </a:xfrm>
          <a:prstGeom prst="roundRect">
            <a:avLst>
              <a:gd name="adj" fmla="val 7692"/>
            </a:avLst>
          </a:prstGeom>
          <a:solidFill>
            <a:srgbClr val="FDECEC">
              <a:alpha val="60000"/>
            </a:srgbClr>
          </a:solidFill>
          <a:ln w="12700">
            <a:solidFill>
              <a:srgbClr val="F6D2D3"/>
            </a:solidFill>
            <a:prstDash val="solid"/>
          </a:ln>
          <a:effectLst>
            <a:outerShdw sx="100000" sy="100000" kx="0" ky="0" algn="bl" rotWithShape="0" blurRad="177800" dist="25400" dir="5400000">
              <a:srgbClr val="AFBFD4">
                <a:alpha val="40000"/>
              </a:srgbClr>
            </a:outerShdw>
          </a:effectLst>
        </p:spPr>
      </p:sp>
      <p:sp>
        <p:nvSpPr>
          <p:cNvPr id="42" name="Shape 39"/>
          <p:cNvSpPr/>
          <p:nvPr/>
        </p:nvSpPr>
        <p:spPr>
          <a:xfrm>
            <a:off x="786384" y="5358384"/>
            <a:ext cx="530352" cy="530352"/>
          </a:xfrm>
          <a:prstGeom prst="ellipse">
            <a:avLst/>
          </a:prstGeom>
          <a:solidFill>
            <a:srgbClr val="E41B23"/>
          </a:solidFill>
          <a:ln w="12700">
            <a:solidFill>
              <a:srgbClr val="E41B23"/>
            </a:solidFill>
            <a:prstDash val="solid"/>
          </a:ln>
        </p:spPr>
      </p:sp>
      <p:pic>
        <p:nvPicPr>
          <p:cNvPr id="43" name="Image 1" descr="img/warn_w.png">    </p:cNvPr>
          <p:cNvPicPr>
            <a:picLocks noChangeAspect="1"/>
          </p:cNvPicPr>
          <p:nvPr/>
        </p:nvPicPr>
        <p:blipFill>
          <a:blip r:embed="rId2"/>
          <a:stretch>
            <a:fillRect/>
          </a:stretch>
        </p:blipFill>
        <p:spPr>
          <a:xfrm>
            <a:off x="924276" y="5496276"/>
            <a:ext cx="254569" cy="254569"/>
          </a:xfrm>
          <a:prstGeom prst="rect">
            <a:avLst/>
          </a:prstGeom>
        </p:spPr>
      </p:pic>
      <p:sp>
        <p:nvSpPr>
          <p:cNvPr id="44" name="Text 40"/>
          <p:cNvSpPr/>
          <p:nvPr/>
        </p:nvSpPr>
        <p:spPr>
          <a:xfrm>
            <a:off x="1481328" y="5266944"/>
            <a:ext cx="2743200" cy="256032"/>
          </a:xfrm>
          <a:prstGeom prst="rect">
            <a:avLst/>
          </a:prstGeom>
          <a:noFill/>
          <a:ln/>
        </p:spPr>
        <p:txBody>
          <a:bodyPr wrap="square" lIns="0" tIns="0" rIns="0" bIns="0" rtlCol="0" anchor="t"/>
          <a:lstStyle/>
          <a:p>
            <a:pPr indent="0" marL="0">
              <a:buNone/>
            </a:pPr>
            <a:r>
              <a:rPr lang="en-US" sz="1200" b="1" dirty="0">
                <a:solidFill>
                  <a:srgbClr val="E41B23"/>
                </a:solidFill>
                <a:latin typeface="Inter" pitchFamily="34" charset="0"/>
                <a:ea typeface="Inter" pitchFamily="34" charset="-122"/>
                <a:cs typeface="Inter" pitchFamily="34" charset="-120"/>
              </a:rPr>
              <a:t>Case đã xảy ra thật</a:t>
            </a:r>
            <a:endParaRPr lang="en-US" sz="1200" dirty="0"/>
          </a:p>
        </p:txBody>
      </p:sp>
      <p:sp>
        <p:nvSpPr>
          <p:cNvPr id="45" name="Text 41"/>
          <p:cNvSpPr/>
          <p:nvPr/>
        </p:nvSpPr>
        <p:spPr>
          <a:xfrm>
            <a:off x="1481328" y="5541264"/>
            <a:ext cx="9966960" cy="548640"/>
          </a:xfrm>
          <a:prstGeom prst="rect">
            <a:avLst/>
          </a:prstGeom>
          <a:noFill/>
          <a:ln/>
        </p:spPr>
        <p:txBody>
          <a:bodyPr wrap="square" lIns="0" tIns="0" rIns="0" bIns="0" rtlCol="0" anchor="t"/>
          <a:lstStyle/>
          <a:p>
            <a:pPr indent="0" marL="0">
              <a:lnSpc>
                <a:spcPct val="115000"/>
              </a:lnSpc>
              <a:buNone/>
            </a:pPr>
            <a:r>
              <a:rPr lang="en-US" sz="1000" dirty="0">
                <a:solidFill>
                  <a:srgbClr val="46586F"/>
                </a:solidFill>
                <a:latin typeface="Inter" pitchFamily="34" charset="0"/>
                <a:ea typeface="Inter" pitchFamily="34" charset="-122"/>
                <a:cs typeface="Inter" pitchFamily="34" charset="-120"/>
              </a:rPr>
              <a:t>Một hàm 24 dòng bị model đầu khẳng định “dài hơn 50 dòng” và chặn push 3 lần liên tiếp — AI Judge đếm lại đúng 24 dòng và lật verdict từ BLOCK sang PASS. Bỏ bất kỳ lớp nào cũng để lọt một kiểu hallucination cụ thể.</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p:bgPr>
    </p:bg>
    <p:spTree>
      <p:nvGrpSpPr>
        <p:cNvPr id="1" name=""/>
        <p:cNvGrpSpPr/>
        <p:nvPr/>
      </p:nvGrpSpPr>
      <p:grpSpPr>
        <a:xfrm>
          <a:off x="0" y="0"/>
          <a:ext cx="0" cy="0"/>
          <a:chOff x="0" y="0"/>
          <a:chExt cx="0" cy="0"/>
        </a:xfrm>
      </p:grpSpPr>
      <p:pic>
        <p:nvPicPr>
          <p:cNvPr id="2" name="Image 0" descr="logo_vin.png">    </p:cNvPr>
          <p:cNvPicPr>
            <a:picLocks noChangeAspect="1"/>
          </p:cNvPicPr>
          <p:nvPr/>
        </p:nvPicPr>
        <p:blipFill>
          <a:blip r:embed="rId1"/>
          <a:stretch>
            <a:fillRect/>
          </a:stretch>
        </p:blipFill>
        <p:spPr>
          <a:xfrm>
            <a:off x="10844784" y="384048"/>
            <a:ext cx="914400" cy="563270"/>
          </a:xfrm>
          <a:prstGeom prst="rect">
            <a:avLst/>
          </a:prstGeom>
        </p:spPr>
      </p:pic>
      <p:sp>
        <p:nvSpPr>
          <p:cNvPr id="3" name="Text 0"/>
          <p:cNvSpPr/>
          <p:nvPr/>
        </p:nvSpPr>
        <p:spPr>
          <a:xfrm>
            <a:off x="548640" y="384048"/>
            <a:ext cx="7315200" cy="256032"/>
          </a:xfrm>
          <a:prstGeom prst="rect">
            <a:avLst/>
          </a:prstGeom>
          <a:noFill/>
          <a:ln/>
        </p:spPr>
        <p:txBody>
          <a:bodyPr wrap="square" lIns="0" tIns="0" rIns="0" bIns="0" rtlCol="0" anchor="t"/>
          <a:lstStyle/>
          <a:p>
            <a:pPr indent="0" marL="0">
              <a:buNone/>
            </a:pPr>
            <a:r>
              <a:rPr lang="en-US" sz="1100" b="1" spc="200" kern="0" dirty="0">
                <a:solidFill>
                  <a:srgbClr val="E41B23"/>
                </a:solidFill>
                <a:latin typeface="Inter" pitchFamily="34" charset="0"/>
                <a:ea typeface="Inter" pitchFamily="34" charset="-122"/>
                <a:cs typeface="Inter" pitchFamily="34" charset="-120"/>
              </a:rPr>
              <a:t>05 · SO SÁNH</a:t>
            </a:r>
            <a:endParaRPr lang="en-US" sz="1100" dirty="0"/>
          </a:p>
        </p:txBody>
      </p:sp>
      <p:sp>
        <p:nvSpPr>
          <p:cNvPr id="4" name="Text 1"/>
          <p:cNvSpPr/>
          <p:nvPr/>
        </p:nvSpPr>
        <p:spPr>
          <a:xfrm>
            <a:off x="548640" y="658368"/>
            <a:ext cx="10104120" cy="548640"/>
          </a:xfrm>
          <a:prstGeom prst="rect">
            <a:avLst/>
          </a:prstGeom>
          <a:noFill/>
          <a:ln/>
        </p:spPr>
        <p:txBody>
          <a:bodyPr wrap="square" lIns="0" tIns="0" rIns="0" bIns="0" rtlCol="0" anchor="t"/>
          <a:lstStyle/>
          <a:p>
            <a:pPr indent="0" marL="0">
              <a:buNone/>
            </a:pPr>
            <a:r>
              <a:rPr lang="en-US" sz="2500" b="1" dirty="0">
                <a:solidFill>
                  <a:srgbClr val="0F1C34"/>
                </a:solidFill>
                <a:latin typeface="Inter" pitchFamily="34" charset="0"/>
                <a:ea typeface="Inter" pitchFamily="34" charset="-122"/>
                <a:cs typeface="Inter" pitchFamily="34" charset="-120"/>
              </a:rPr>
              <a:t>Đặt cạnh các công cụ đang có trên thị trường</a:t>
            </a:r>
            <a:endParaRPr lang="en-US" sz="25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572768"/>
          <a:ext cx="11091672" cy="914400"/>
        </p:xfrm>
        <a:graphic>
          <a:graphicData uri="http://schemas.openxmlformats.org/drawingml/2006/table">
            <a:tbl>
              <a:tblPr/>
              <a:tblGrid>
                <a:gridCol w="1783080"/>
                <a:gridCol w="2148840"/>
                <a:gridCol w="2057400"/>
                <a:gridCol w="2587752"/>
                <a:gridCol w="2514600"/>
              </a:tblGrid>
              <a:tr h="512064">
                <a:tc>
                  <a:txBody>
                    <a:bodyPr/>
                    <a:lstStyle/>
                    <a:p>
                      <a:pPr algn="ctr" indent="0" marL="0">
                        <a:buNone/>
                      </a:pPr>
                      <a:r>
                        <a:rPr lang="en-US" sz="1050" b="1" dirty="0">
                          <a:solidFill>
                            <a:srgbClr val="0F1C34"/>
                          </a:solidFill>
                          <a:latin typeface="Inter" pitchFamily="34" charset="0"/>
                          <a:ea typeface="Inter" pitchFamily="34" charset="-122"/>
                          <a:cs typeface="Inter" pitchFamily="34" charset="-120"/>
                        </a:rPr>
                        <a:t>Tiêu chí</a:t>
                      </a:r>
                      <a:endParaRPr lang="en-US" sz="1050" dirty="0">
                        <a:latin typeface="Inter" charset="0"/>
                        <a:ea typeface="Inter" charset="0"/>
                        <a:cs typeface="Inter" charset="0"/>
                      </a:endParaRPr>
                    </a:p>
                  </a:txBody>
                  <a:tcPr marL="73152" marR="73152" marT="73152" marB="73152"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solidFill>
                      <a:srgbClr val="EEF2F8"/>
                    </a:solidFill>
                  </a:tcPr>
                </a:tc>
                <a:tc>
                  <a:txBody>
                    <a:bodyPr/>
                    <a:lstStyle/>
                    <a:p>
                      <a:pPr algn="ctr" indent="0" marL="0">
                        <a:buNone/>
                      </a:pPr>
                      <a:r>
                        <a:rPr lang="en-US" sz="1050" b="1" dirty="0">
                          <a:solidFill>
                            <a:srgbClr val="0F1C34"/>
                          </a:solidFill>
                          <a:latin typeface="Inter" pitchFamily="34" charset="0"/>
                          <a:ea typeface="Inter" pitchFamily="34" charset="-122"/>
                          <a:cs typeface="Inter" pitchFamily="34" charset="-120"/>
                        </a:rPr>
                        <a:t>Human Review</a:t>
                      </a:r>
                      <a:endParaRPr lang="en-US" sz="1050" dirty="0">
                        <a:latin typeface="Inter" charset="0"/>
                        <a:ea typeface="Inter" charset="0"/>
                        <a:cs typeface="Inter" charset="0"/>
                      </a:endParaRPr>
                    </a:p>
                  </a:txBody>
                  <a:tcPr marL="73152" marR="73152" marT="73152" marB="73152"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solidFill>
                      <a:srgbClr val="EEF2F8"/>
                    </a:solidFill>
                  </a:tcPr>
                </a:tc>
                <a:tc>
                  <a:txBody>
                    <a:bodyPr/>
                    <a:lstStyle/>
                    <a:p>
                      <a:pPr algn="ctr" indent="0" marL="0">
                        <a:buNone/>
                      </a:pPr>
                      <a:r>
                        <a:rPr lang="en-US" sz="1050" b="1" dirty="0">
                          <a:solidFill>
                            <a:srgbClr val="0F1C34"/>
                          </a:solidFill>
                          <a:latin typeface="Inter" pitchFamily="34" charset="0"/>
                          <a:ea typeface="Inter" pitchFamily="34" charset="-122"/>
                          <a:cs typeface="Inter" pitchFamily="34" charset="-120"/>
                        </a:rPr>
                        <a:t>Static Analysis</a:t>
                      </a:r>
                      <a:endParaRPr lang="en-US" sz="1050" dirty="0">
                        <a:latin typeface="Inter" charset="0"/>
                        <a:ea typeface="Inter" charset="0"/>
                        <a:cs typeface="Inter" charset="0"/>
                      </a:endParaRPr>
                    </a:p>
                  </a:txBody>
                  <a:tcPr marL="73152" marR="73152" marT="73152" marB="73152"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solidFill>
                      <a:srgbClr val="EEF2F8"/>
                    </a:solidFill>
                  </a:tcPr>
                </a:tc>
                <a:tc>
                  <a:txBody>
                    <a:bodyPr/>
                    <a:lstStyle/>
                    <a:p>
                      <a:pPr algn="ctr" indent="0" marL="0">
                        <a:buNone/>
                      </a:pPr>
                      <a:r>
                        <a:rPr lang="en-US" sz="1050" b="1" dirty="0">
                          <a:solidFill>
                            <a:srgbClr val="0F1C34"/>
                          </a:solidFill>
                          <a:latin typeface="Inter" pitchFamily="34" charset="0"/>
                          <a:ea typeface="Inter" pitchFamily="34" charset="-122"/>
                          <a:cs typeface="Inter" pitchFamily="34" charset="-120"/>
                        </a:rPr>
                        <a:t>AI PR Bot thế hệ đầu</a:t>
                      </a:r>
                      <a:endParaRPr lang="en-US" sz="1050" dirty="0">
                        <a:latin typeface="Inter" charset="0"/>
                        <a:ea typeface="Inter" charset="0"/>
                        <a:cs typeface="Inter" charset="0"/>
                      </a:endParaRPr>
                    </a:p>
                  </a:txBody>
                  <a:tcPr marL="73152" marR="73152" marT="73152" marB="73152"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solidFill>
                      <a:srgbClr val="EEF2F8"/>
                    </a:solidFill>
                  </a:tcPr>
                </a:tc>
                <a:tc>
                  <a:txBody>
                    <a:bodyPr/>
                    <a:lstStyle/>
                    <a:p>
                      <a:pPr algn="ctr" indent="0" marL="0">
                        <a:buNone/>
                      </a:pPr>
                      <a:r>
                        <a:rPr lang="en-US" sz="1050" b="1" dirty="0">
                          <a:solidFill>
                            <a:srgbClr val="FFFFFF"/>
                          </a:solidFill>
                          <a:latin typeface="Inter" pitchFamily="34" charset="0"/>
                          <a:ea typeface="Inter" pitchFamily="34" charset="-122"/>
                          <a:cs typeface="Inter" pitchFamily="34" charset="-120"/>
                        </a:rPr>
                        <a:t>AI Dev Guardian</a:t>
                      </a:r>
                      <a:endParaRPr lang="en-US" sz="1050" dirty="0">
                        <a:latin typeface="Inter" charset="0"/>
                        <a:ea typeface="Inter" charset="0"/>
                        <a:cs typeface="Inter" charset="0"/>
                      </a:endParaRPr>
                    </a:p>
                  </a:txBody>
                  <a:tcPr marL="73152" marR="73152" marT="73152" marB="73152"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solidFill>
                      <a:srgbClr val="E41B23"/>
                    </a:solidFill>
                  </a:tcPr>
                </a:tc>
              </a:tr>
              <a:tr h="512064">
                <a:tc>
                  <a:txBody>
                    <a:bodyPr/>
                    <a:lstStyle/>
                    <a:p>
                      <a:pPr indent="0" marL="0">
                        <a:buNone/>
                      </a:pPr>
                      <a:r>
                        <a:rPr lang="en-US" sz="950" b="1" dirty="0">
                          <a:solidFill>
                            <a:srgbClr val="0F1C34"/>
                          </a:solidFill>
                          <a:latin typeface="Inter" pitchFamily="34" charset="0"/>
                          <a:ea typeface="Inter" pitchFamily="34" charset="-122"/>
                          <a:cs typeface="Inter" pitchFamily="34" charset="-120"/>
                        </a:rPr>
                        <a:t>Thời điểm chạy</a:t>
                      </a:r>
                      <a:endParaRPr lang="en-US" sz="950" dirty="0">
                        <a:latin typeface="Inter" charset="0"/>
                        <a:ea typeface="Inter" charset="0"/>
                        <a:cs typeface="Inter" charset="0"/>
                      </a:endParaRPr>
                    </a:p>
                  </a:txBody>
                  <a:tcPr marL="73152" marR="73152" marT="73152" marB="73152"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solidFill>
                      <a:srgbClr val="FFFFFF"/>
                    </a:solidFill>
                  </a:tcPr>
                </a:tc>
                <a:tc>
                  <a:txBody>
                    <a:bodyPr/>
                    <a:lstStyle/>
                    <a:p>
                      <a:pPr indent="0" marL="0">
                        <a:buNone/>
                      </a:pPr>
                      <a:r>
                        <a:rPr lang="en-US" sz="950" dirty="0">
                          <a:solidFill>
                            <a:srgbClr val="46586F"/>
                          </a:solidFill>
                          <a:latin typeface="Inter" pitchFamily="34" charset="0"/>
                          <a:ea typeface="Inter" pitchFamily="34" charset="-122"/>
                          <a:cs typeface="Inter" pitchFamily="34" charset="-120"/>
                        </a:rPr>
                        <a:t>Sau khi mở PR, phụ thuộc lịch reviewer</a:t>
                      </a:r>
                      <a:endParaRPr lang="en-US" sz="950" dirty="0">
                        <a:latin typeface="Inter" charset="0"/>
                        <a:ea typeface="Inter" charset="0"/>
                        <a:cs typeface="Inter" charset="0"/>
                      </a:endParaRPr>
                    </a:p>
                  </a:txBody>
                  <a:tcPr marL="73152" marR="73152" marT="73152" marB="73152"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solidFill>
                      <a:srgbClr val="FFFFFF"/>
                    </a:solidFill>
                  </a:tcPr>
                </a:tc>
                <a:tc>
                  <a:txBody>
                    <a:bodyPr/>
                    <a:lstStyle/>
                    <a:p>
                      <a:pPr indent="0" marL="0">
                        <a:buNone/>
                      </a:pPr>
                      <a:r>
                        <a:rPr lang="en-US" sz="950" dirty="0">
                          <a:solidFill>
                            <a:srgbClr val="46586F"/>
                          </a:solidFill>
                          <a:latin typeface="Inter" pitchFamily="34" charset="0"/>
                          <a:ea typeface="Inter" pitchFamily="34" charset="-122"/>
                          <a:cs typeface="Inter" pitchFamily="34" charset="-120"/>
                        </a:rPr>
                        <a:t>IDE / CI</a:t>
                      </a:r>
                      <a:endParaRPr lang="en-US" sz="950" dirty="0">
                        <a:latin typeface="Inter" charset="0"/>
                        <a:ea typeface="Inter" charset="0"/>
                        <a:cs typeface="Inter" charset="0"/>
                      </a:endParaRPr>
                    </a:p>
                  </a:txBody>
                  <a:tcPr marL="73152" marR="73152" marT="73152" marB="73152"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solidFill>
                      <a:srgbClr val="FFFFFF"/>
                    </a:solidFill>
                  </a:tcPr>
                </a:tc>
                <a:tc>
                  <a:txBody>
                    <a:bodyPr/>
                    <a:lstStyle/>
                    <a:p>
                      <a:pPr indent="0" marL="0">
                        <a:buNone/>
                      </a:pPr>
                      <a:r>
                        <a:rPr lang="en-US" sz="950" dirty="0">
                          <a:solidFill>
                            <a:srgbClr val="46586F"/>
                          </a:solidFill>
                          <a:latin typeface="Inter" pitchFamily="34" charset="0"/>
                          <a:ea typeface="Inter" pitchFamily="34" charset="-122"/>
                          <a:cs typeface="Inter" pitchFamily="34" charset="-120"/>
                        </a:rPr>
                        <a:t>Sau khi push — CI/CD hoặc PR bot</a:t>
                      </a:r>
                      <a:endParaRPr lang="en-US" sz="950" dirty="0">
                        <a:latin typeface="Inter" charset="0"/>
                        <a:ea typeface="Inter" charset="0"/>
                        <a:cs typeface="Inter" charset="0"/>
                      </a:endParaRPr>
                    </a:p>
                  </a:txBody>
                  <a:tcPr marL="73152" marR="73152" marT="73152" marB="73152"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solidFill>
                      <a:srgbClr val="FFFFFF"/>
                    </a:solidFill>
                  </a:tcPr>
                </a:tc>
                <a:tc>
                  <a:txBody>
                    <a:bodyPr/>
                    <a:lstStyle/>
                    <a:p>
                      <a:pPr indent="0" marL="0">
                        <a:buNone/>
                      </a:pPr>
                      <a:r>
                        <a:rPr lang="en-US" sz="950" b="1" dirty="0">
                          <a:solidFill>
                            <a:srgbClr val="0F1C34"/>
                          </a:solidFill>
                          <a:latin typeface="Inter" pitchFamily="34" charset="0"/>
                          <a:ea typeface="Inter" pitchFamily="34" charset="-122"/>
                          <a:cs typeface="Inter" pitchFamily="34" charset="-120"/>
                        </a:rPr>
                        <a:t>Trước khi push — git hook cục bộ</a:t>
                      </a:r>
                      <a:endParaRPr lang="en-US" sz="950" dirty="0">
                        <a:latin typeface="Inter" charset="0"/>
                        <a:ea typeface="Inter" charset="0"/>
                        <a:cs typeface="Inter" charset="0"/>
                      </a:endParaRPr>
                    </a:p>
                  </a:txBody>
                  <a:tcPr marL="73152" marR="73152" marT="73152" marB="73152"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solidFill>
                      <a:srgbClr val="E9F1FE"/>
                    </a:solidFill>
                  </a:tcPr>
                </a:tc>
              </a:tr>
              <a:tr h="512064">
                <a:tc>
                  <a:txBody>
                    <a:bodyPr/>
                    <a:lstStyle/>
                    <a:p>
                      <a:pPr indent="0" marL="0">
                        <a:buNone/>
                      </a:pPr>
                      <a:r>
                        <a:rPr lang="en-US" sz="950" b="1" dirty="0">
                          <a:solidFill>
                            <a:srgbClr val="0F1C34"/>
                          </a:solidFill>
                          <a:latin typeface="Inter" pitchFamily="34" charset="0"/>
                          <a:ea typeface="Inter" pitchFamily="34" charset="-122"/>
                          <a:cs typeface="Inter" pitchFamily="34" charset="-120"/>
                        </a:rPr>
                        <a:t>Hiểu logic nghiệp vụ</a:t>
                      </a:r>
                      <a:endParaRPr lang="en-US" sz="950" dirty="0">
                        <a:latin typeface="Inter" charset="0"/>
                        <a:ea typeface="Inter" charset="0"/>
                        <a:cs typeface="Inter" charset="0"/>
                      </a:endParaRPr>
                    </a:p>
                  </a:txBody>
                  <a:tcPr marL="73152" marR="73152" marT="73152" marB="73152"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solidFill>
                      <a:srgbClr val="FFFFFF"/>
                    </a:solidFill>
                  </a:tcPr>
                </a:tc>
                <a:tc>
                  <a:txBody>
                    <a:bodyPr/>
                    <a:lstStyle/>
                    <a:p>
                      <a:pPr indent="0" marL="0">
                        <a:buNone/>
                      </a:pPr>
                      <a:r>
                        <a:rPr lang="en-US" sz="950" dirty="0">
                          <a:solidFill>
                            <a:srgbClr val="46586F"/>
                          </a:solidFill>
                          <a:latin typeface="Inter" pitchFamily="34" charset="0"/>
                          <a:ea typeface="Inter" pitchFamily="34" charset="-122"/>
                          <a:cs typeface="Inter" pitchFamily="34" charset="-120"/>
                        </a:rPr>
                        <a:t>Có, nhưng cảm tính, không nhất quán</a:t>
                      </a:r>
                      <a:endParaRPr lang="en-US" sz="950" dirty="0">
                        <a:latin typeface="Inter" charset="0"/>
                        <a:ea typeface="Inter" charset="0"/>
                        <a:cs typeface="Inter" charset="0"/>
                      </a:endParaRPr>
                    </a:p>
                  </a:txBody>
                  <a:tcPr marL="73152" marR="73152" marT="73152" marB="73152"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solidFill>
                      <a:srgbClr val="FFFFFF"/>
                    </a:solidFill>
                  </a:tcPr>
                </a:tc>
                <a:tc>
                  <a:txBody>
                    <a:bodyPr/>
                    <a:lstStyle/>
                    <a:p>
                      <a:pPr indent="0" marL="0">
                        <a:buNone/>
                      </a:pPr>
                      <a:r>
                        <a:rPr lang="en-US" sz="950" dirty="0">
                          <a:solidFill>
                            <a:srgbClr val="46586F"/>
                          </a:solidFill>
                          <a:latin typeface="Inter" pitchFamily="34" charset="0"/>
                          <a:ea typeface="Inter" pitchFamily="34" charset="-122"/>
                          <a:cs typeface="Inter" pitchFamily="34" charset="-120"/>
                        </a:rPr>
                        <a:t>Không — chỉ cú pháp / style</a:t>
                      </a:r>
                      <a:endParaRPr lang="en-US" sz="950" dirty="0">
                        <a:latin typeface="Inter" charset="0"/>
                        <a:ea typeface="Inter" charset="0"/>
                        <a:cs typeface="Inter" charset="0"/>
                      </a:endParaRPr>
                    </a:p>
                  </a:txBody>
                  <a:tcPr marL="73152" marR="73152" marT="73152" marB="73152"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solidFill>
                      <a:srgbClr val="FFFFFF"/>
                    </a:solidFill>
                  </a:tcPr>
                </a:tc>
                <a:tc>
                  <a:txBody>
                    <a:bodyPr/>
                    <a:lstStyle/>
                    <a:p>
                      <a:pPr indent="0" marL="0">
                        <a:buNone/>
                      </a:pPr>
                      <a:r>
                        <a:rPr lang="en-US" sz="950" dirty="0">
                          <a:solidFill>
                            <a:srgbClr val="46586F"/>
                          </a:solidFill>
                          <a:latin typeface="Inter" pitchFamily="34" charset="0"/>
                          <a:ea typeface="Inter" pitchFamily="34" charset="-122"/>
                          <a:cs typeface="Inter" pitchFamily="34" charset="-120"/>
                        </a:rPr>
                        <a:t>Có phần, không tự định nghĩa policy</a:t>
                      </a:r>
                      <a:endParaRPr lang="en-US" sz="950" dirty="0">
                        <a:latin typeface="Inter" charset="0"/>
                        <a:ea typeface="Inter" charset="0"/>
                        <a:cs typeface="Inter" charset="0"/>
                      </a:endParaRPr>
                    </a:p>
                  </a:txBody>
                  <a:tcPr marL="73152" marR="73152" marT="73152" marB="73152"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solidFill>
                      <a:srgbClr val="FFFFFF"/>
                    </a:solidFill>
                  </a:tcPr>
                </a:tc>
                <a:tc>
                  <a:txBody>
                    <a:bodyPr/>
                    <a:lstStyle/>
                    <a:p>
                      <a:pPr indent="0" marL="0">
                        <a:buNone/>
                      </a:pPr>
                      <a:r>
                        <a:rPr lang="en-US" sz="950" b="1" dirty="0">
                          <a:solidFill>
                            <a:srgbClr val="0F1C34"/>
                          </a:solidFill>
                          <a:latin typeface="Inter" pitchFamily="34" charset="0"/>
                          <a:ea typeface="Inter" pitchFamily="34" charset="-122"/>
                          <a:cs typeface="Inter" pitchFamily="34" charset="-120"/>
                        </a:rPr>
                        <a:t>Có — Policy-as-Code bằng Markdown</a:t>
                      </a:r>
                      <a:endParaRPr lang="en-US" sz="950" dirty="0">
                        <a:latin typeface="Inter" charset="0"/>
                        <a:ea typeface="Inter" charset="0"/>
                        <a:cs typeface="Inter" charset="0"/>
                      </a:endParaRPr>
                    </a:p>
                  </a:txBody>
                  <a:tcPr marL="73152" marR="73152" marT="73152" marB="73152"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solidFill>
                      <a:srgbClr val="E9F1FE"/>
                    </a:solidFill>
                  </a:tcPr>
                </a:tc>
              </a:tr>
              <a:tr h="512064">
                <a:tc>
                  <a:txBody>
                    <a:bodyPr/>
                    <a:lstStyle/>
                    <a:p>
                      <a:pPr indent="0" marL="0">
                        <a:buNone/>
                      </a:pPr>
                      <a:r>
                        <a:rPr lang="en-US" sz="950" b="1" dirty="0">
                          <a:solidFill>
                            <a:srgbClr val="0F1C34"/>
                          </a:solidFill>
                          <a:latin typeface="Inter" pitchFamily="34" charset="0"/>
                          <a:ea typeface="Inter" pitchFamily="34" charset="-122"/>
                          <a:cs typeface="Inter" pitchFamily="34" charset="-120"/>
                        </a:rPr>
                        <a:t>Cấu hình luật</a:t>
                      </a:r>
                      <a:endParaRPr lang="en-US" sz="950" dirty="0">
                        <a:latin typeface="Inter" charset="0"/>
                        <a:ea typeface="Inter" charset="0"/>
                        <a:cs typeface="Inter" charset="0"/>
                      </a:endParaRPr>
                    </a:p>
                  </a:txBody>
                  <a:tcPr marL="73152" marR="73152" marT="73152" marB="73152"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solidFill>
                      <a:srgbClr val="FFFFFF"/>
                    </a:solidFill>
                  </a:tcPr>
                </a:tc>
                <a:tc>
                  <a:txBody>
                    <a:bodyPr/>
                    <a:lstStyle/>
                    <a:p>
                      <a:pPr indent="0" marL="0">
                        <a:buNone/>
                      </a:pPr>
                      <a:r>
                        <a:rPr lang="en-US" sz="950" dirty="0">
                          <a:solidFill>
                            <a:srgbClr val="46586F"/>
                          </a:solidFill>
                          <a:latin typeface="Inter" pitchFamily="34" charset="0"/>
                          <a:ea typeface="Inter" pitchFamily="34" charset="-122"/>
                          <a:cs typeface="Inter" pitchFamily="34" charset="-120"/>
                        </a:rPr>
                        <a:t>Không cấu hình được</a:t>
                      </a:r>
                      <a:endParaRPr lang="en-US" sz="950" dirty="0">
                        <a:latin typeface="Inter" charset="0"/>
                        <a:ea typeface="Inter" charset="0"/>
                        <a:cs typeface="Inter" charset="0"/>
                      </a:endParaRPr>
                    </a:p>
                  </a:txBody>
                  <a:tcPr marL="73152" marR="73152" marT="73152" marB="73152"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solidFill>
                      <a:srgbClr val="FFFFFF"/>
                    </a:solidFill>
                  </a:tcPr>
                </a:tc>
                <a:tc>
                  <a:txBody>
                    <a:bodyPr/>
                    <a:lstStyle/>
                    <a:p>
                      <a:pPr indent="0" marL="0">
                        <a:buNone/>
                      </a:pPr>
                      <a:r>
                        <a:rPr lang="en-US" sz="950" dirty="0">
                          <a:solidFill>
                            <a:srgbClr val="46586F"/>
                          </a:solidFill>
                          <a:latin typeface="Inter" pitchFamily="34" charset="0"/>
                          <a:ea typeface="Inter" pitchFamily="34" charset="-122"/>
                          <a:cs typeface="Inter" pitchFamily="34" charset="-120"/>
                        </a:rPr>
                        <a:t>Phức tạp — DSL/Rego hoặc YAML</a:t>
                      </a:r>
                      <a:endParaRPr lang="en-US" sz="950" dirty="0">
                        <a:latin typeface="Inter" charset="0"/>
                        <a:ea typeface="Inter" charset="0"/>
                        <a:cs typeface="Inter" charset="0"/>
                      </a:endParaRPr>
                    </a:p>
                  </a:txBody>
                  <a:tcPr marL="73152" marR="73152" marT="73152" marB="73152"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solidFill>
                      <a:srgbClr val="FFFFFF"/>
                    </a:solidFill>
                  </a:tcPr>
                </a:tc>
                <a:tc>
                  <a:txBody>
                    <a:bodyPr/>
                    <a:lstStyle/>
                    <a:p>
                      <a:pPr indent="0" marL="0">
                        <a:buNone/>
                      </a:pPr>
                      <a:r>
                        <a:rPr lang="en-US" sz="950" dirty="0">
                          <a:solidFill>
                            <a:srgbClr val="46586F"/>
                          </a:solidFill>
                          <a:latin typeface="Inter" pitchFamily="34" charset="0"/>
                          <a:ea typeface="Inter" pitchFamily="34" charset="-122"/>
                          <a:cs typeface="Inter" pitchFamily="34" charset="-120"/>
                        </a:rPr>
                        <a:t>Giới hạn qua UI / prompt cố định</a:t>
                      </a:r>
                      <a:endParaRPr lang="en-US" sz="950" dirty="0">
                        <a:latin typeface="Inter" charset="0"/>
                        <a:ea typeface="Inter" charset="0"/>
                        <a:cs typeface="Inter" charset="0"/>
                      </a:endParaRPr>
                    </a:p>
                  </a:txBody>
                  <a:tcPr marL="73152" marR="73152" marT="73152" marB="73152"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solidFill>
                      <a:srgbClr val="FFFFFF"/>
                    </a:solidFill>
                  </a:tcPr>
                </a:tc>
                <a:tc>
                  <a:txBody>
                    <a:bodyPr/>
                    <a:lstStyle/>
                    <a:p>
                      <a:pPr indent="0" marL="0">
                        <a:buNone/>
                      </a:pPr>
                      <a:r>
                        <a:rPr lang="en-US" sz="950" b="1" dirty="0">
                          <a:solidFill>
                            <a:srgbClr val="0F1C34"/>
                          </a:solidFill>
                          <a:latin typeface="Inter" pitchFamily="34" charset="0"/>
                          <a:ea typeface="Inter" pitchFamily="34" charset="-122"/>
                          <a:cs typeface="Inter" pitchFamily="34" charset="-120"/>
                        </a:rPr>
                        <a:t>1 file Markdown + YAML frontmatter</a:t>
                      </a:r>
                      <a:endParaRPr lang="en-US" sz="950" dirty="0">
                        <a:latin typeface="Inter" charset="0"/>
                        <a:ea typeface="Inter" charset="0"/>
                        <a:cs typeface="Inter" charset="0"/>
                      </a:endParaRPr>
                    </a:p>
                  </a:txBody>
                  <a:tcPr marL="73152" marR="73152" marT="73152" marB="73152"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solidFill>
                      <a:srgbClr val="E9F1FE"/>
                    </a:solidFill>
                  </a:tcPr>
                </a:tc>
              </a:tr>
              <a:tr h="512064">
                <a:tc>
                  <a:txBody>
                    <a:bodyPr/>
                    <a:lstStyle/>
                    <a:p>
                      <a:pPr indent="0" marL="0">
                        <a:buNone/>
                      </a:pPr>
                      <a:r>
                        <a:rPr lang="en-US" sz="950" b="1" dirty="0">
                          <a:solidFill>
                            <a:srgbClr val="0F1C34"/>
                          </a:solidFill>
                          <a:latin typeface="Inter" pitchFamily="34" charset="0"/>
                          <a:ea typeface="Inter" pitchFamily="34" charset="-122"/>
                          <a:cs typeface="Inter" pitchFamily="34" charset="-120"/>
                        </a:rPr>
                        <a:t>Chống hallucination</a:t>
                      </a:r>
                      <a:endParaRPr lang="en-US" sz="950" dirty="0">
                        <a:latin typeface="Inter" charset="0"/>
                        <a:ea typeface="Inter" charset="0"/>
                        <a:cs typeface="Inter" charset="0"/>
                      </a:endParaRPr>
                    </a:p>
                  </a:txBody>
                  <a:tcPr marL="73152" marR="73152" marT="73152" marB="73152"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solidFill>
                      <a:srgbClr val="FFFFFF"/>
                    </a:solidFill>
                  </a:tcPr>
                </a:tc>
                <a:tc>
                  <a:txBody>
                    <a:bodyPr/>
                    <a:lstStyle/>
                    <a:p>
                      <a:pPr indent="0" marL="0">
                        <a:buNone/>
                      </a:pPr>
                      <a:r>
                        <a:rPr lang="en-US" sz="950" dirty="0">
                          <a:solidFill>
                            <a:srgbClr val="46586F"/>
                          </a:solidFill>
                          <a:latin typeface="Inter" pitchFamily="34" charset="0"/>
                          <a:ea typeface="Inter" pitchFamily="34" charset="-122"/>
                          <a:cs typeface="Inter" pitchFamily="34" charset="-120"/>
                        </a:rPr>
                        <a:t>N/A — con người vẫn có thể sót</a:t>
                      </a:r>
                      <a:endParaRPr lang="en-US" sz="950" dirty="0">
                        <a:latin typeface="Inter" charset="0"/>
                        <a:ea typeface="Inter" charset="0"/>
                        <a:cs typeface="Inter" charset="0"/>
                      </a:endParaRPr>
                    </a:p>
                  </a:txBody>
                  <a:tcPr marL="73152" marR="73152" marT="73152" marB="73152"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solidFill>
                      <a:srgbClr val="FFFFFF"/>
                    </a:solidFill>
                  </a:tcPr>
                </a:tc>
                <a:tc>
                  <a:txBody>
                    <a:bodyPr/>
                    <a:lstStyle/>
                    <a:p>
                      <a:pPr indent="0" marL="0">
                        <a:buNone/>
                      </a:pPr>
                      <a:r>
                        <a:rPr lang="en-US" sz="950" dirty="0">
                          <a:solidFill>
                            <a:srgbClr val="46586F"/>
                          </a:solidFill>
                          <a:latin typeface="Inter" pitchFamily="34" charset="0"/>
                          <a:ea typeface="Inter" pitchFamily="34" charset="-122"/>
                          <a:cs typeface="Inter" pitchFamily="34" charset="-120"/>
                        </a:rPr>
                        <a:t>N/A — deterministic</a:t>
                      </a:r>
                      <a:endParaRPr lang="en-US" sz="950" dirty="0">
                        <a:latin typeface="Inter" charset="0"/>
                        <a:ea typeface="Inter" charset="0"/>
                        <a:cs typeface="Inter" charset="0"/>
                      </a:endParaRPr>
                    </a:p>
                  </a:txBody>
                  <a:tcPr marL="73152" marR="73152" marT="73152" marB="73152"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solidFill>
                      <a:srgbClr val="FFFFFF"/>
                    </a:solidFill>
                  </a:tcPr>
                </a:tc>
                <a:tc>
                  <a:txBody>
                    <a:bodyPr/>
                    <a:lstStyle/>
                    <a:p>
                      <a:pPr indent="0" marL="0">
                        <a:buNone/>
                      </a:pPr>
                      <a:r>
                        <a:rPr lang="en-US" sz="950" dirty="0">
                          <a:solidFill>
                            <a:srgbClr val="46586F"/>
                          </a:solidFill>
                          <a:latin typeface="Inter" pitchFamily="34" charset="0"/>
                          <a:ea typeface="Inter" pitchFamily="34" charset="-122"/>
                          <a:cs typeface="Inter" pitchFamily="34" charset="-120"/>
                        </a:rPr>
                        <a:t>Thường 1 lượt LLM, không có xác minh độc lập</a:t>
                      </a:r>
                      <a:endParaRPr lang="en-US" sz="950" dirty="0">
                        <a:latin typeface="Inter" charset="0"/>
                        <a:ea typeface="Inter" charset="0"/>
                        <a:cs typeface="Inter" charset="0"/>
                      </a:endParaRPr>
                    </a:p>
                  </a:txBody>
                  <a:tcPr marL="73152" marR="73152" marT="73152" marB="73152"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solidFill>
                      <a:srgbClr val="FFFFFF"/>
                    </a:solidFill>
                  </a:tcPr>
                </a:tc>
                <a:tc>
                  <a:txBody>
                    <a:bodyPr/>
                    <a:lstStyle/>
                    <a:p>
                      <a:pPr indent="0" marL="0">
                        <a:buNone/>
                      </a:pPr>
                      <a:r>
                        <a:rPr lang="en-US" sz="950" b="1" dirty="0">
                          <a:solidFill>
                            <a:srgbClr val="0F1C34"/>
                          </a:solidFill>
                          <a:latin typeface="Inter" pitchFamily="34" charset="0"/>
                          <a:ea typeface="Inter" pitchFamily="34" charset="-122"/>
                          <a:cs typeface="Inter" pitchFamily="34" charset="-120"/>
                        </a:rPr>
                        <a:t>5 lớp độc lập, xếp chồng</a:t>
                      </a:r>
                      <a:endParaRPr lang="en-US" sz="950" dirty="0">
                        <a:latin typeface="Inter" charset="0"/>
                        <a:ea typeface="Inter" charset="0"/>
                        <a:cs typeface="Inter" charset="0"/>
                      </a:endParaRPr>
                    </a:p>
                  </a:txBody>
                  <a:tcPr marL="73152" marR="73152" marT="73152" marB="73152"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solidFill>
                      <a:srgbClr val="E9F1FE"/>
                    </a:solidFill>
                  </a:tcPr>
                </a:tc>
              </a:tr>
              <a:tr h="512064">
                <a:tc>
                  <a:txBody>
                    <a:bodyPr/>
                    <a:lstStyle/>
                    <a:p>
                      <a:pPr indent="0" marL="0">
                        <a:buNone/>
                      </a:pPr>
                      <a:r>
                        <a:rPr lang="en-US" sz="950" b="1" dirty="0">
                          <a:solidFill>
                            <a:srgbClr val="0F1C34"/>
                          </a:solidFill>
                          <a:latin typeface="Inter" pitchFamily="34" charset="0"/>
                          <a:ea typeface="Inter" pitchFamily="34" charset="-122"/>
                          <a:cs typeface="Inter" pitchFamily="34" charset="-120"/>
                        </a:rPr>
                        <a:t>Auto-fix code</a:t>
                      </a:r>
                      <a:endParaRPr lang="en-US" sz="950" dirty="0">
                        <a:latin typeface="Inter" charset="0"/>
                        <a:ea typeface="Inter" charset="0"/>
                        <a:cs typeface="Inter" charset="0"/>
                      </a:endParaRPr>
                    </a:p>
                  </a:txBody>
                  <a:tcPr marL="73152" marR="73152" marT="73152" marB="73152"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solidFill>
                      <a:srgbClr val="FFFFFF"/>
                    </a:solidFill>
                  </a:tcPr>
                </a:tc>
                <a:tc>
                  <a:txBody>
                    <a:bodyPr/>
                    <a:lstStyle/>
                    <a:p>
                      <a:pPr indent="0" marL="0">
                        <a:buNone/>
                      </a:pPr>
                      <a:r>
                        <a:rPr lang="en-US" sz="950" dirty="0">
                          <a:solidFill>
                            <a:srgbClr val="46586F"/>
                          </a:solidFill>
                          <a:latin typeface="Inter" pitchFamily="34" charset="0"/>
                          <a:ea typeface="Inter" pitchFamily="34" charset="-122"/>
                          <a:cs typeface="Inter" pitchFamily="34" charset="-120"/>
                        </a:rPr>
                        <a:t>Không</a:t>
                      </a:r>
                      <a:endParaRPr lang="en-US" sz="950" dirty="0">
                        <a:latin typeface="Inter" charset="0"/>
                        <a:ea typeface="Inter" charset="0"/>
                        <a:cs typeface="Inter" charset="0"/>
                      </a:endParaRPr>
                    </a:p>
                  </a:txBody>
                  <a:tcPr marL="73152" marR="73152" marT="73152" marB="73152"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solidFill>
                      <a:srgbClr val="FFFFFF"/>
                    </a:solidFill>
                  </a:tcPr>
                </a:tc>
                <a:tc>
                  <a:txBody>
                    <a:bodyPr/>
                    <a:lstStyle/>
                    <a:p>
                      <a:pPr indent="0" marL="0">
                        <a:buNone/>
                      </a:pPr>
                      <a:r>
                        <a:rPr lang="en-US" sz="950" dirty="0">
                          <a:solidFill>
                            <a:srgbClr val="46586F"/>
                          </a:solidFill>
                          <a:latin typeface="Inter" pitchFamily="34" charset="0"/>
                          <a:ea typeface="Inter" pitchFamily="34" charset="-122"/>
                          <a:cs typeface="Inter" pitchFamily="34" charset="-120"/>
                        </a:rPr>
                        <a:t>Có (--fix) cho rule cứng</a:t>
                      </a:r>
                      <a:endParaRPr lang="en-US" sz="950" dirty="0">
                        <a:latin typeface="Inter" charset="0"/>
                        <a:ea typeface="Inter" charset="0"/>
                        <a:cs typeface="Inter" charset="0"/>
                      </a:endParaRPr>
                    </a:p>
                  </a:txBody>
                  <a:tcPr marL="73152" marR="73152" marT="73152" marB="73152"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solidFill>
                      <a:srgbClr val="FFFFFF"/>
                    </a:solidFill>
                  </a:tcPr>
                </a:tc>
                <a:tc>
                  <a:txBody>
                    <a:bodyPr/>
                    <a:lstStyle/>
                    <a:p>
                      <a:pPr indent="0" marL="0">
                        <a:buNone/>
                      </a:pPr>
                      <a:r>
                        <a:rPr lang="en-US" sz="950" dirty="0">
                          <a:solidFill>
                            <a:srgbClr val="46586F"/>
                          </a:solidFill>
                          <a:latin typeface="Inter" pitchFamily="34" charset="0"/>
                          <a:ea typeface="Inter" pitchFamily="34" charset="-122"/>
                          <a:cs typeface="Inter" pitchFamily="34" charset="-120"/>
                        </a:rPr>
                        <a:t>Một số tự commit fix — rủi ro patch sai</a:t>
                      </a:r>
                      <a:endParaRPr lang="en-US" sz="950" dirty="0">
                        <a:latin typeface="Inter" charset="0"/>
                        <a:ea typeface="Inter" charset="0"/>
                        <a:cs typeface="Inter" charset="0"/>
                      </a:endParaRPr>
                    </a:p>
                  </a:txBody>
                  <a:tcPr marL="73152" marR="73152" marT="73152" marB="73152"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solidFill>
                      <a:srgbClr val="FFFFFF"/>
                    </a:solidFill>
                  </a:tcPr>
                </a:tc>
                <a:tc>
                  <a:txBody>
                    <a:bodyPr/>
                    <a:lstStyle/>
                    <a:p>
                      <a:pPr indent="0" marL="0">
                        <a:buNone/>
                      </a:pPr>
                      <a:r>
                        <a:rPr lang="en-US" sz="950" b="1" dirty="0">
                          <a:solidFill>
                            <a:srgbClr val="0F1C34"/>
                          </a:solidFill>
                          <a:latin typeface="Inter" pitchFamily="34" charset="0"/>
                          <a:ea typeface="Inter" pitchFamily="34" charset="-122"/>
                          <a:cs typeface="Inter" pitchFamily="34" charset="-120"/>
                        </a:rPr>
                        <a:t>Không bao giờ — chỉ sinh promptToFix</a:t>
                      </a:r>
                      <a:endParaRPr lang="en-US" sz="950" dirty="0">
                        <a:latin typeface="Inter" charset="0"/>
                        <a:ea typeface="Inter" charset="0"/>
                        <a:cs typeface="Inter" charset="0"/>
                      </a:endParaRPr>
                    </a:p>
                  </a:txBody>
                  <a:tcPr marL="73152" marR="73152" marT="73152" marB="73152"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solidFill>
                      <a:srgbClr val="E9F1FE"/>
                    </a:solidFill>
                  </a:tcPr>
                </a:tc>
              </a:tr>
              <a:tr h="512064">
                <a:tc>
                  <a:txBody>
                    <a:bodyPr/>
                    <a:lstStyle/>
                    <a:p>
                      <a:pPr indent="0" marL="0">
                        <a:buNone/>
                      </a:pPr>
                      <a:r>
                        <a:rPr lang="en-US" sz="950" b="1" dirty="0">
                          <a:solidFill>
                            <a:srgbClr val="0F1C34"/>
                          </a:solidFill>
                          <a:latin typeface="Inter" pitchFamily="34" charset="0"/>
                          <a:ea typeface="Inter" pitchFamily="34" charset="-122"/>
                          <a:cs typeface="Inter" pitchFamily="34" charset="-120"/>
                        </a:rPr>
                        <a:t>Chi phí / dev / tháng</a:t>
                      </a:r>
                      <a:endParaRPr lang="en-US" sz="950" dirty="0">
                        <a:latin typeface="Inter" charset="0"/>
                        <a:ea typeface="Inter" charset="0"/>
                        <a:cs typeface="Inter" charset="0"/>
                      </a:endParaRPr>
                    </a:p>
                  </a:txBody>
                  <a:tcPr marL="73152" marR="73152" marT="73152" marB="73152"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solidFill>
                      <a:srgbClr val="FFFFFF"/>
                    </a:solidFill>
                  </a:tcPr>
                </a:tc>
                <a:tc>
                  <a:txBody>
                    <a:bodyPr/>
                    <a:lstStyle/>
                    <a:p>
                      <a:pPr indent="0" marL="0">
                        <a:buNone/>
                      </a:pPr>
                      <a:r>
                        <a:rPr lang="en-US" sz="950" dirty="0">
                          <a:solidFill>
                            <a:srgbClr val="46586F"/>
                          </a:solidFill>
                          <a:latin typeface="Inter" pitchFamily="34" charset="0"/>
                          <a:ea typeface="Inter" pitchFamily="34" charset="-122"/>
                          <a:cs typeface="Inter" pitchFamily="34" charset="-120"/>
                        </a:rPr>
                        <a:t>Thời gian reviewer, khó định lượng</a:t>
                      </a:r>
                      <a:endParaRPr lang="en-US" sz="950" dirty="0">
                        <a:latin typeface="Inter" charset="0"/>
                        <a:ea typeface="Inter" charset="0"/>
                        <a:cs typeface="Inter" charset="0"/>
                      </a:endParaRPr>
                    </a:p>
                  </a:txBody>
                  <a:tcPr marL="73152" marR="73152" marT="73152" marB="73152"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solidFill>
                      <a:srgbClr val="FFFFFF"/>
                    </a:solidFill>
                  </a:tcPr>
                </a:tc>
                <a:tc>
                  <a:txBody>
                    <a:bodyPr/>
                    <a:lstStyle/>
                    <a:p>
                      <a:pPr indent="0" marL="0">
                        <a:buNone/>
                      </a:pPr>
                      <a:r>
                        <a:rPr lang="en-US" sz="950" dirty="0">
                          <a:solidFill>
                            <a:srgbClr val="46586F"/>
                          </a:solidFill>
                          <a:latin typeface="Inter" pitchFamily="34" charset="0"/>
                          <a:ea typeface="Inter" pitchFamily="34" charset="-122"/>
                          <a:cs typeface="Inter" pitchFamily="34" charset="-120"/>
                        </a:rPr>
                        <a:t>Miễn phí</a:t>
                      </a:r>
                      <a:endParaRPr lang="en-US" sz="950" dirty="0">
                        <a:latin typeface="Inter" charset="0"/>
                        <a:ea typeface="Inter" charset="0"/>
                        <a:cs typeface="Inter" charset="0"/>
                      </a:endParaRPr>
                    </a:p>
                  </a:txBody>
                  <a:tcPr marL="73152" marR="73152" marT="73152" marB="73152"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solidFill>
                      <a:srgbClr val="FFFFFF"/>
                    </a:solidFill>
                  </a:tcPr>
                </a:tc>
                <a:tc>
                  <a:txBody>
                    <a:bodyPr/>
                    <a:lstStyle/>
                    <a:p>
                      <a:pPr indent="0" marL="0">
                        <a:buNone/>
                      </a:pPr>
                      <a:r>
                        <a:rPr lang="en-US" sz="950" dirty="0">
                          <a:solidFill>
                            <a:srgbClr val="46586F"/>
                          </a:solidFill>
                          <a:latin typeface="Inter" pitchFamily="34" charset="0"/>
                          <a:ea typeface="Inter" pitchFamily="34" charset="-122"/>
                          <a:cs typeface="Inter" pitchFamily="34" charset="-120"/>
                        </a:rPr>
                        <a:t>Thuê bao ~10–20 USD/seat</a:t>
                      </a:r>
                      <a:endParaRPr lang="en-US" sz="950" dirty="0">
                        <a:latin typeface="Inter" charset="0"/>
                        <a:ea typeface="Inter" charset="0"/>
                        <a:cs typeface="Inter" charset="0"/>
                      </a:endParaRPr>
                    </a:p>
                  </a:txBody>
                  <a:tcPr marL="73152" marR="73152" marT="73152" marB="73152"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solidFill>
                      <a:srgbClr val="FFFFFF"/>
                    </a:solidFill>
                  </a:tcPr>
                </a:tc>
                <a:tc>
                  <a:txBody>
                    <a:bodyPr/>
                    <a:lstStyle/>
                    <a:p>
                      <a:pPr indent="0" marL="0">
                        <a:buNone/>
                      </a:pPr>
                      <a:r>
                        <a:rPr lang="en-US" sz="950" b="1" dirty="0">
                          <a:solidFill>
                            <a:srgbClr val="0F1C34"/>
                          </a:solidFill>
                          <a:latin typeface="Inter" pitchFamily="34" charset="0"/>
                          <a:ea typeface="Inter" pitchFamily="34" charset="-122"/>
                          <a:cs typeface="Inter" pitchFamily="34" charset="-120"/>
                        </a:rPr>
                        <a:t>~$3.70 — trả theo token + cache</a:t>
                      </a:r>
                      <a:endParaRPr lang="en-US" sz="950" dirty="0">
                        <a:latin typeface="Inter" charset="0"/>
                        <a:ea typeface="Inter" charset="0"/>
                        <a:cs typeface="Inter" charset="0"/>
                      </a:endParaRPr>
                    </a:p>
                  </a:txBody>
                  <a:tcPr marL="73152" marR="73152" marT="73152" marB="73152"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solidFill>
                      <a:srgbClr val="E9F1FE"/>
                    </a:solidFill>
                  </a:tcPr>
                </a:tc>
              </a:tr>
              <a:tr h="512064">
                <a:tc>
                  <a:txBody>
                    <a:bodyPr/>
                    <a:lstStyle/>
                    <a:p>
                      <a:pPr indent="0" marL="0">
                        <a:buNone/>
                      </a:pPr>
                      <a:r>
                        <a:rPr lang="en-US" sz="950" b="1" dirty="0">
                          <a:solidFill>
                            <a:srgbClr val="0F1C34"/>
                          </a:solidFill>
                          <a:latin typeface="Inter" pitchFamily="34" charset="0"/>
                          <a:ea typeface="Inter" pitchFamily="34" charset="-122"/>
                          <a:cs typeface="Inter" pitchFamily="34" charset="-120"/>
                        </a:rPr>
                        <a:t>Nút thắt khi scale</a:t>
                      </a:r>
                      <a:endParaRPr lang="en-US" sz="950" dirty="0">
                        <a:latin typeface="Inter" charset="0"/>
                        <a:ea typeface="Inter" charset="0"/>
                        <a:cs typeface="Inter" charset="0"/>
                      </a:endParaRPr>
                    </a:p>
                  </a:txBody>
                  <a:tcPr marL="73152" marR="73152" marT="73152" marB="73152"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solidFill>
                      <a:srgbClr val="FFFFFF"/>
                    </a:solidFill>
                  </a:tcPr>
                </a:tc>
                <a:tc>
                  <a:txBody>
                    <a:bodyPr/>
                    <a:lstStyle/>
                    <a:p>
                      <a:pPr indent="0" marL="0">
                        <a:buNone/>
                      </a:pPr>
                      <a:r>
                        <a:rPr lang="en-US" sz="950" dirty="0">
                          <a:solidFill>
                            <a:srgbClr val="46586F"/>
                          </a:solidFill>
                          <a:latin typeface="Inter" pitchFamily="34" charset="0"/>
                          <a:ea typeface="Inter" pitchFamily="34" charset="-122"/>
                          <a:cs typeface="Inter" pitchFamily="34" charset="-120"/>
                        </a:rPr>
                        <a:t>Có — bottleneck rõ rệt</a:t>
                      </a:r>
                      <a:endParaRPr lang="en-US" sz="950" dirty="0">
                        <a:latin typeface="Inter" charset="0"/>
                        <a:ea typeface="Inter" charset="0"/>
                        <a:cs typeface="Inter" charset="0"/>
                      </a:endParaRPr>
                    </a:p>
                  </a:txBody>
                  <a:tcPr marL="73152" marR="73152" marT="73152" marB="73152"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solidFill>
                      <a:srgbClr val="FFFFFF"/>
                    </a:solidFill>
                  </a:tcPr>
                </a:tc>
                <a:tc>
                  <a:txBody>
                    <a:bodyPr/>
                    <a:lstStyle/>
                    <a:p>
                      <a:pPr indent="0" marL="0">
                        <a:buNone/>
                      </a:pPr>
                      <a:r>
                        <a:rPr lang="en-US" sz="950" dirty="0">
                          <a:solidFill>
                            <a:srgbClr val="46586F"/>
                          </a:solidFill>
                          <a:latin typeface="Inter" pitchFamily="34" charset="0"/>
                          <a:ea typeface="Inter" pitchFamily="34" charset="-122"/>
                          <a:cs typeface="Inter" pitchFamily="34" charset="-120"/>
                        </a:rPr>
                        <a:t>Không</a:t>
                      </a:r>
                      <a:endParaRPr lang="en-US" sz="950" dirty="0">
                        <a:latin typeface="Inter" charset="0"/>
                        <a:ea typeface="Inter" charset="0"/>
                        <a:cs typeface="Inter" charset="0"/>
                      </a:endParaRPr>
                    </a:p>
                  </a:txBody>
                  <a:tcPr marL="73152" marR="73152" marT="73152" marB="73152"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solidFill>
                      <a:srgbClr val="FFFFFF"/>
                    </a:solidFill>
                  </a:tcPr>
                </a:tc>
                <a:tc>
                  <a:txBody>
                    <a:bodyPr/>
                    <a:lstStyle/>
                    <a:p>
                      <a:pPr indent="0" marL="0">
                        <a:buNone/>
                      </a:pPr>
                      <a:r>
                        <a:rPr lang="en-US" sz="950" dirty="0">
                          <a:solidFill>
                            <a:srgbClr val="46586F"/>
                          </a:solidFill>
                          <a:latin typeface="Inter" pitchFamily="34" charset="0"/>
                          <a:ea typeface="Inter" pitchFamily="34" charset="-122"/>
                          <a:cs typeface="Inter" pitchFamily="34" charset="-120"/>
                        </a:rPr>
                        <a:t>Không, nhưng cộng dồn chi phí CI</a:t>
                      </a:r>
                      <a:endParaRPr lang="en-US" sz="950" dirty="0">
                        <a:latin typeface="Inter" charset="0"/>
                        <a:ea typeface="Inter" charset="0"/>
                        <a:cs typeface="Inter" charset="0"/>
                      </a:endParaRPr>
                    </a:p>
                  </a:txBody>
                  <a:tcPr marL="73152" marR="73152" marT="73152" marB="73152"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solidFill>
                      <a:srgbClr val="FFFFFF"/>
                    </a:solidFill>
                  </a:tcPr>
                </a:tc>
                <a:tc>
                  <a:txBody>
                    <a:bodyPr/>
                    <a:lstStyle/>
                    <a:p>
                      <a:pPr indent="0" marL="0">
                        <a:buNone/>
                      </a:pPr>
                      <a:r>
                        <a:rPr lang="en-US" sz="950" b="1" dirty="0">
                          <a:solidFill>
                            <a:srgbClr val="0F1C34"/>
                          </a:solidFill>
                          <a:latin typeface="Inter" pitchFamily="34" charset="0"/>
                          <a:ea typeface="Inter" pitchFamily="34" charset="-122"/>
                          <a:cs typeface="Inter" pitchFamily="34" charset="-120"/>
                        </a:rPr>
                        <a:t>Không — chạy song song, cache lại</a:t>
                      </a:r>
                      <a:endParaRPr lang="en-US" sz="950" dirty="0">
                        <a:latin typeface="Inter" charset="0"/>
                        <a:ea typeface="Inter" charset="0"/>
                        <a:cs typeface="Inter" charset="0"/>
                      </a:endParaRPr>
                    </a:p>
                  </a:txBody>
                  <a:tcPr marL="73152" marR="73152" marT="73152" marB="73152" anchor="ctr">
                    <a:lnL w="12700" cap="flat" cmpd="sng" algn="ctr">
                      <a:solidFill>
                        <a:srgbClr val="E3E9F2"/>
                      </a:solidFill>
                      <a:prstDash val="solid"/>
                      <a:round/>
                      <a:headEnd type="none" w="med" len="med"/>
                      <a:tailEnd type="none" w="med" len="med"/>
                    </a:lnL>
                    <a:lnR w="12700" cap="flat" cmpd="sng" algn="ctr">
                      <a:solidFill>
                        <a:srgbClr val="E3E9F2"/>
                      </a:solidFill>
                      <a:prstDash val="solid"/>
                      <a:round/>
                      <a:headEnd type="none" w="med" len="med"/>
                      <a:tailEnd type="none" w="med" len="med"/>
                    </a:lnR>
                    <a:lnT w="12700" cap="flat" cmpd="sng" algn="ctr">
                      <a:solidFill>
                        <a:srgbClr val="E3E9F2"/>
                      </a:solidFill>
                      <a:prstDash val="solid"/>
                      <a:round/>
                      <a:headEnd type="none" w="med" len="med"/>
                      <a:tailEnd type="none" w="med" len="med"/>
                    </a:lnT>
                    <a:lnB w="12700" cap="flat" cmpd="sng" algn="ctr">
                      <a:solidFill>
                        <a:srgbClr val="E3E9F2"/>
                      </a:solidFill>
                      <a:prstDash val="solid"/>
                      <a:round/>
                      <a:headEnd type="none" w="med" len="med"/>
                      <a:tailEnd type="none" w="med" len="med"/>
                    </a:lnB>
                    <a:solidFill>
                      <a:srgbClr val="E9F1FE"/>
                    </a:solidFill>
                  </a:tcPr>
                </a:tc>
              </a:tr>
            </a:tbl>
          </a:graphicData>
        </a:graphic>
      </p:graphicFrame>
      <p:sp>
        <p:nvSpPr>
          <p:cNvPr id="6" name="Text 2"/>
          <p:cNvSpPr/>
          <p:nvPr/>
        </p:nvSpPr>
        <p:spPr>
          <a:xfrm>
            <a:off x="548640" y="5870448"/>
            <a:ext cx="11091672" cy="274320"/>
          </a:xfrm>
          <a:prstGeom prst="rect">
            <a:avLst/>
          </a:prstGeom>
          <a:noFill/>
          <a:ln/>
        </p:spPr>
        <p:txBody>
          <a:bodyPr wrap="square" lIns="0" tIns="0" rIns="0" bIns="0" rtlCol="0" anchor="t"/>
          <a:lstStyle/>
          <a:p>
            <a:pPr indent="0" marL="0">
              <a:buNone/>
            </a:pPr>
            <a:r>
              <a:rPr lang="en-US" sz="900" i="1" dirty="0">
                <a:solidFill>
                  <a:srgbClr val="8A99AD"/>
                </a:solidFill>
                <a:latin typeface="Inter" pitchFamily="34" charset="0"/>
                <a:ea typeface="Inter" pitchFamily="34" charset="-122"/>
                <a:cs typeface="Inter" pitchFamily="34" charset="-120"/>
              </a:rPr>
              <a:t>Đặc điểm của công cụ bên thứ ba phản ánh xu hướng chung của nhóm sản phẩm, không phải benchmark đo trực tiếp trên phiên bản mới nhất của từng công cụ.</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C"/>
        </a:solidFill>
      </p:bgPr>
    </p:bg>
    <p:spTree>
      <p:nvGrpSpPr>
        <p:cNvPr id="1" name=""/>
        <p:cNvGrpSpPr/>
        <p:nvPr/>
      </p:nvGrpSpPr>
      <p:grpSpPr>
        <a:xfrm>
          <a:off x="0" y="0"/>
          <a:ext cx="0" cy="0"/>
          <a:chOff x="0" y="0"/>
          <a:chExt cx="0" cy="0"/>
        </a:xfrm>
      </p:grpSpPr>
      <p:pic>
        <p:nvPicPr>
          <p:cNvPr id="2" name="Image 0" descr="logo_vin.png">    </p:cNvPr>
          <p:cNvPicPr>
            <a:picLocks noChangeAspect="1"/>
          </p:cNvPicPr>
          <p:nvPr/>
        </p:nvPicPr>
        <p:blipFill>
          <a:blip r:embed="rId1"/>
          <a:stretch>
            <a:fillRect/>
          </a:stretch>
        </p:blipFill>
        <p:spPr>
          <a:xfrm>
            <a:off x="10844784" y="384048"/>
            <a:ext cx="914400" cy="563270"/>
          </a:xfrm>
          <a:prstGeom prst="rect">
            <a:avLst/>
          </a:prstGeom>
        </p:spPr>
      </p:pic>
      <p:sp>
        <p:nvSpPr>
          <p:cNvPr id="3" name="Text 0"/>
          <p:cNvSpPr/>
          <p:nvPr/>
        </p:nvSpPr>
        <p:spPr>
          <a:xfrm>
            <a:off x="548640" y="384048"/>
            <a:ext cx="7315200" cy="256032"/>
          </a:xfrm>
          <a:prstGeom prst="rect">
            <a:avLst/>
          </a:prstGeom>
          <a:noFill/>
          <a:ln/>
        </p:spPr>
        <p:txBody>
          <a:bodyPr wrap="square" lIns="0" tIns="0" rIns="0" bIns="0" rtlCol="0" anchor="t"/>
          <a:lstStyle/>
          <a:p>
            <a:pPr indent="0" marL="0">
              <a:buNone/>
            </a:pPr>
            <a:r>
              <a:rPr lang="en-US" sz="1100" b="1" spc="200" kern="0" dirty="0">
                <a:solidFill>
                  <a:srgbClr val="E41B23"/>
                </a:solidFill>
                <a:latin typeface="Inter" pitchFamily="34" charset="0"/>
                <a:ea typeface="Inter" pitchFamily="34" charset="-122"/>
                <a:cs typeface="Inter" pitchFamily="34" charset="-120"/>
              </a:rPr>
              <a:t>06 · FINOPS</a:t>
            </a:r>
            <a:endParaRPr lang="en-US" sz="1100" dirty="0"/>
          </a:p>
        </p:txBody>
      </p:sp>
      <p:sp>
        <p:nvSpPr>
          <p:cNvPr id="4" name="Text 1"/>
          <p:cNvSpPr/>
          <p:nvPr/>
        </p:nvSpPr>
        <p:spPr>
          <a:xfrm>
            <a:off x="548640" y="658368"/>
            <a:ext cx="10104120" cy="548640"/>
          </a:xfrm>
          <a:prstGeom prst="rect">
            <a:avLst/>
          </a:prstGeom>
          <a:noFill/>
          <a:ln/>
        </p:spPr>
        <p:txBody>
          <a:bodyPr wrap="square" lIns="0" tIns="0" rIns="0" bIns="0" rtlCol="0" anchor="t"/>
          <a:lstStyle/>
          <a:p>
            <a:pPr indent="0" marL="0">
              <a:buNone/>
            </a:pPr>
            <a:r>
              <a:rPr lang="en-US" sz="2500" b="1" dirty="0">
                <a:solidFill>
                  <a:srgbClr val="0F1C34"/>
                </a:solidFill>
                <a:latin typeface="Inter" pitchFamily="34" charset="0"/>
                <a:ea typeface="Inter" pitchFamily="34" charset="-122"/>
                <a:cs typeface="Inter" pitchFamily="34" charset="-120"/>
              </a:rPr>
              <a:t>Cost by Design: tối ưu chi phí từ lõi kiến trúc</a:t>
            </a:r>
            <a:endParaRPr lang="en-US" sz="2500" dirty="0"/>
          </a:p>
        </p:txBody>
      </p:sp>
      <p:sp>
        <p:nvSpPr>
          <p:cNvPr id="5" name="Shape 2"/>
          <p:cNvSpPr/>
          <p:nvPr/>
        </p:nvSpPr>
        <p:spPr>
          <a:xfrm>
            <a:off x="548640" y="1627632"/>
            <a:ext cx="4846320" cy="1243584"/>
          </a:xfrm>
          <a:prstGeom prst="roundRect">
            <a:avLst>
              <a:gd name="adj" fmla="val 7353"/>
            </a:avLst>
          </a:prstGeom>
          <a:solidFill>
            <a:srgbClr val="FFFFFF">
              <a:alpha val="92000"/>
            </a:srgbClr>
          </a:solidFill>
          <a:ln w="12700">
            <a:solidFill>
              <a:srgbClr val="E3E9F2"/>
            </a:solidFill>
            <a:prstDash val="solid"/>
          </a:ln>
          <a:effectLst>
            <a:outerShdw sx="100000" sy="100000" kx="0" ky="0" algn="bl" rotWithShape="0" blurRad="177800" dist="25400" dir="5400000">
              <a:srgbClr val="AFBFD4">
                <a:alpha val="40000"/>
              </a:srgbClr>
            </a:outerShdw>
          </a:effectLst>
        </p:spPr>
      </p:sp>
      <p:sp>
        <p:nvSpPr>
          <p:cNvPr id="6" name="Shape 3"/>
          <p:cNvSpPr/>
          <p:nvPr/>
        </p:nvSpPr>
        <p:spPr>
          <a:xfrm>
            <a:off x="786384" y="1810512"/>
            <a:ext cx="512064" cy="512064"/>
          </a:xfrm>
          <a:prstGeom prst="ellipse">
            <a:avLst/>
          </a:prstGeom>
          <a:solidFill>
            <a:srgbClr val="0F6EFD"/>
          </a:solidFill>
          <a:ln w="12700">
            <a:solidFill>
              <a:srgbClr val="0F6EFD"/>
            </a:solidFill>
            <a:prstDash val="solid"/>
          </a:ln>
        </p:spPr>
      </p:sp>
      <p:pic>
        <p:nvPicPr>
          <p:cNvPr id="7" name="Image 1" descr="img/zap_w.png">    </p:cNvPr>
          <p:cNvPicPr>
            <a:picLocks noChangeAspect="1"/>
          </p:cNvPicPr>
          <p:nvPr/>
        </p:nvPicPr>
        <p:blipFill>
          <a:blip r:embed="rId2"/>
          <a:stretch>
            <a:fillRect/>
          </a:stretch>
        </p:blipFill>
        <p:spPr>
          <a:xfrm>
            <a:off x="919521" y="1943649"/>
            <a:ext cx="245791" cy="245791"/>
          </a:xfrm>
          <a:prstGeom prst="rect">
            <a:avLst/>
          </a:prstGeom>
        </p:spPr>
      </p:pic>
      <p:sp>
        <p:nvSpPr>
          <p:cNvPr id="8" name="Text 4"/>
          <p:cNvSpPr/>
          <p:nvPr/>
        </p:nvSpPr>
        <p:spPr>
          <a:xfrm>
            <a:off x="1444752" y="1755648"/>
            <a:ext cx="3749040" cy="256032"/>
          </a:xfrm>
          <a:prstGeom prst="rect">
            <a:avLst/>
          </a:prstGeom>
          <a:noFill/>
          <a:ln/>
        </p:spPr>
        <p:txBody>
          <a:bodyPr wrap="square" lIns="0" tIns="0" rIns="0" bIns="0" rtlCol="0" anchor="t"/>
          <a:lstStyle/>
          <a:p>
            <a:pPr indent="0" marL="0">
              <a:buNone/>
            </a:pPr>
            <a:r>
              <a:rPr lang="en-US" sz="1250" b="1" dirty="0">
                <a:solidFill>
                  <a:srgbClr val="0F1C34"/>
                </a:solidFill>
                <a:latin typeface="Inter" pitchFamily="34" charset="0"/>
                <a:ea typeface="Inter" pitchFamily="34" charset="-122"/>
                <a:cs typeface="Inter" pitchFamily="34" charset="-120"/>
              </a:rPr>
              <a:t>Zero-Cost Baseline</a:t>
            </a:r>
            <a:endParaRPr lang="en-US" sz="1250" dirty="0"/>
          </a:p>
        </p:txBody>
      </p:sp>
      <p:sp>
        <p:nvSpPr>
          <p:cNvPr id="9" name="Text 5"/>
          <p:cNvSpPr/>
          <p:nvPr/>
        </p:nvSpPr>
        <p:spPr>
          <a:xfrm>
            <a:off x="1444752" y="2029968"/>
            <a:ext cx="3749040" cy="749808"/>
          </a:xfrm>
          <a:prstGeom prst="rect">
            <a:avLst/>
          </a:prstGeom>
          <a:noFill/>
          <a:ln/>
        </p:spPr>
        <p:txBody>
          <a:bodyPr wrap="square" lIns="0" tIns="0" rIns="0" bIns="0" rtlCol="0" anchor="t"/>
          <a:lstStyle/>
          <a:p>
            <a:pPr indent="0" marL="0">
              <a:lnSpc>
                <a:spcPct val="115000"/>
              </a:lnSpc>
              <a:buNone/>
            </a:pPr>
            <a:r>
              <a:rPr lang="en-US" sz="950" dirty="0">
                <a:solidFill>
                  <a:srgbClr val="46586F"/>
                </a:solidFill>
                <a:latin typeface="Inter" pitchFamily="34" charset="0"/>
                <a:ea typeface="Inter" pitchFamily="34" charset="-122"/>
                <a:cs typeface="Inter" pitchFamily="34" charset="-120"/>
              </a:rPr>
              <a:t>Secret scan, Architecture check và Semgrep chạy hoàn toàn deterministic — 0 token. ~75% lượt check không cần tới AI Judge.</a:t>
            </a:r>
            <a:endParaRPr lang="en-US" sz="950" dirty="0"/>
          </a:p>
        </p:txBody>
      </p:sp>
      <p:sp>
        <p:nvSpPr>
          <p:cNvPr id="10" name="Shape 6"/>
          <p:cNvSpPr/>
          <p:nvPr/>
        </p:nvSpPr>
        <p:spPr>
          <a:xfrm>
            <a:off x="548640" y="2999232"/>
            <a:ext cx="4846320" cy="1243584"/>
          </a:xfrm>
          <a:prstGeom prst="roundRect">
            <a:avLst>
              <a:gd name="adj" fmla="val 7353"/>
            </a:avLst>
          </a:prstGeom>
          <a:solidFill>
            <a:srgbClr val="FFFFFF">
              <a:alpha val="92000"/>
            </a:srgbClr>
          </a:solidFill>
          <a:ln w="12700">
            <a:solidFill>
              <a:srgbClr val="E3E9F2"/>
            </a:solidFill>
            <a:prstDash val="solid"/>
          </a:ln>
          <a:effectLst>
            <a:outerShdw sx="100000" sy="100000" kx="0" ky="0" algn="bl" rotWithShape="0" blurRad="177800" dist="25400" dir="5400000">
              <a:srgbClr val="AFBFD4">
                <a:alpha val="40000"/>
              </a:srgbClr>
            </a:outerShdw>
          </a:effectLst>
        </p:spPr>
      </p:sp>
      <p:sp>
        <p:nvSpPr>
          <p:cNvPr id="11" name="Shape 7"/>
          <p:cNvSpPr/>
          <p:nvPr/>
        </p:nvSpPr>
        <p:spPr>
          <a:xfrm>
            <a:off x="786384" y="3182112"/>
            <a:ext cx="512064" cy="512064"/>
          </a:xfrm>
          <a:prstGeom prst="ellipse">
            <a:avLst/>
          </a:prstGeom>
          <a:solidFill>
            <a:srgbClr val="0F6EFD"/>
          </a:solidFill>
          <a:ln w="12700">
            <a:solidFill>
              <a:srgbClr val="0F6EFD"/>
            </a:solidFill>
            <a:prstDash val="solid"/>
          </a:ln>
        </p:spPr>
      </p:sp>
      <p:pic>
        <p:nvPicPr>
          <p:cNvPr id="12" name="Image 2" descr="img/db_w.png">    </p:cNvPr>
          <p:cNvPicPr>
            <a:picLocks noChangeAspect="1"/>
          </p:cNvPicPr>
          <p:nvPr/>
        </p:nvPicPr>
        <p:blipFill>
          <a:blip r:embed="rId3"/>
          <a:stretch>
            <a:fillRect/>
          </a:stretch>
        </p:blipFill>
        <p:spPr>
          <a:xfrm>
            <a:off x="919521" y="3315249"/>
            <a:ext cx="245791" cy="245791"/>
          </a:xfrm>
          <a:prstGeom prst="rect">
            <a:avLst/>
          </a:prstGeom>
        </p:spPr>
      </p:pic>
      <p:sp>
        <p:nvSpPr>
          <p:cNvPr id="13" name="Text 8"/>
          <p:cNvSpPr/>
          <p:nvPr/>
        </p:nvSpPr>
        <p:spPr>
          <a:xfrm>
            <a:off x="1444752" y="3127248"/>
            <a:ext cx="3749040" cy="256032"/>
          </a:xfrm>
          <a:prstGeom prst="rect">
            <a:avLst/>
          </a:prstGeom>
          <a:noFill/>
          <a:ln/>
        </p:spPr>
        <p:txBody>
          <a:bodyPr wrap="square" lIns="0" tIns="0" rIns="0" bIns="0" rtlCol="0" anchor="t"/>
          <a:lstStyle/>
          <a:p>
            <a:pPr indent="0" marL="0">
              <a:buNone/>
            </a:pPr>
            <a:r>
              <a:rPr lang="en-US" sz="1250" b="1" dirty="0">
                <a:solidFill>
                  <a:srgbClr val="0F1C34"/>
                </a:solidFill>
                <a:latin typeface="Inter" pitchFamily="34" charset="0"/>
                <a:ea typeface="Inter" pitchFamily="34" charset="-122"/>
                <a:cs typeface="Inter" pitchFamily="34" charset="-120"/>
              </a:rPr>
              <a:t>Diff-hash cache</a:t>
            </a:r>
            <a:endParaRPr lang="en-US" sz="1250" dirty="0"/>
          </a:p>
        </p:txBody>
      </p:sp>
      <p:sp>
        <p:nvSpPr>
          <p:cNvPr id="14" name="Text 9"/>
          <p:cNvSpPr/>
          <p:nvPr/>
        </p:nvSpPr>
        <p:spPr>
          <a:xfrm>
            <a:off x="1444752" y="3401568"/>
            <a:ext cx="3749040" cy="749808"/>
          </a:xfrm>
          <a:prstGeom prst="rect">
            <a:avLst/>
          </a:prstGeom>
          <a:noFill/>
          <a:ln/>
        </p:spPr>
        <p:txBody>
          <a:bodyPr wrap="square" lIns="0" tIns="0" rIns="0" bIns="0" rtlCol="0" anchor="t"/>
          <a:lstStyle/>
          <a:p>
            <a:pPr indent="0" marL="0">
              <a:lnSpc>
                <a:spcPct val="115000"/>
              </a:lnSpc>
              <a:buNone/>
            </a:pPr>
            <a:r>
              <a:rPr lang="en-US" sz="950" dirty="0">
                <a:solidFill>
                  <a:srgbClr val="46586F"/>
                </a:solidFill>
                <a:latin typeface="Inter" pitchFamily="34" charset="0"/>
                <a:ea typeface="Inter" pitchFamily="34" charset="-122"/>
                <a:cs typeface="Inter" pitchFamily="34" charset="-120"/>
              </a:rPr>
              <a:t>SHA-256 + LRU 20 hash PASS gần nhất bỏ qua lượt gọi LLM cho push không đổi logic — cắt ~30% API thừa, TCO giảm ~30%.</a:t>
            </a:r>
            <a:endParaRPr lang="en-US" sz="950" dirty="0"/>
          </a:p>
        </p:txBody>
      </p:sp>
      <p:sp>
        <p:nvSpPr>
          <p:cNvPr id="15" name="Shape 10"/>
          <p:cNvSpPr/>
          <p:nvPr/>
        </p:nvSpPr>
        <p:spPr>
          <a:xfrm>
            <a:off x="548640" y="4370832"/>
            <a:ext cx="4846320" cy="1243584"/>
          </a:xfrm>
          <a:prstGeom prst="roundRect">
            <a:avLst>
              <a:gd name="adj" fmla="val 7353"/>
            </a:avLst>
          </a:prstGeom>
          <a:solidFill>
            <a:srgbClr val="FFFFFF">
              <a:alpha val="92000"/>
            </a:srgbClr>
          </a:solidFill>
          <a:ln w="12700">
            <a:solidFill>
              <a:srgbClr val="E3E9F2"/>
            </a:solidFill>
            <a:prstDash val="solid"/>
          </a:ln>
          <a:effectLst>
            <a:outerShdw sx="100000" sy="100000" kx="0" ky="0" algn="bl" rotWithShape="0" blurRad="177800" dist="25400" dir="5400000">
              <a:srgbClr val="AFBFD4">
                <a:alpha val="40000"/>
              </a:srgbClr>
            </a:outerShdw>
          </a:effectLst>
        </p:spPr>
      </p:sp>
      <p:sp>
        <p:nvSpPr>
          <p:cNvPr id="16" name="Shape 11"/>
          <p:cNvSpPr/>
          <p:nvPr/>
        </p:nvSpPr>
        <p:spPr>
          <a:xfrm>
            <a:off x="786384" y="4553712"/>
            <a:ext cx="512064" cy="512064"/>
          </a:xfrm>
          <a:prstGeom prst="ellipse">
            <a:avLst/>
          </a:prstGeom>
          <a:solidFill>
            <a:srgbClr val="0F6EFD"/>
          </a:solidFill>
          <a:ln w="12700">
            <a:solidFill>
              <a:srgbClr val="0F6EFD"/>
            </a:solidFill>
            <a:prstDash val="solid"/>
          </a:ln>
        </p:spPr>
      </p:sp>
      <p:pic>
        <p:nvPicPr>
          <p:cNvPr id="17" name="Image 3" descr="img/shuffle_w.png">    </p:cNvPr>
          <p:cNvPicPr>
            <a:picLocks noChangeAspect="1"/>
          </p:cNvPicPr>
          <p:nvPr/>
        </p:nvPicPr>
        <p:blipFill>
          <a:blip r:embed="rId4"/>
          <a:stretch>
            <a:fillRect/>
          </a:stretch>
        </p:blipFill>
        <p:spPr>
          <a:xfrm>
            <a:off x="919521" y="4686849"/>
            <a:ext cx="245791" cy="245791"/>
          </a:xfrm>
          <a:prstGeom prst="rect">
            <a:avLst/>
          </a:prstGeom>
        </p:spPr>
      </p:pic>
      <p:sp>
        <p:nvSpPr>
          <p:cNvPr id="18" name="Text 12"/>
          <p:cNvSpPr/>
          <p:nvPr/>
        </p:nvSpPr>
        <p:spPr>
          <a:xfrm>
            <a:off x="1444752" y="4498848"/>
            <a:ext cx="3749040" cy="256032"/>
          </a:xfrm>
          <a:prstGeom prst="rect">
            <a:avLst/>
          </a:prstGeom>
          <a:noFill/>
          <a:ln/>
        </p:spPr>
        <p:txBody>
          <a:bodyPr wrap="square" lIns="0" tIns="0" rIns="0" bIns="0" rtlCol="0" anchor="t"/>
          <a:lstStyle/>
          <a:p>
            <a:pPr indent="0" marL="0">
              <a:buNone/>
            </a:pPr>
            <a:r>
              <a:rPr lang="en-US" sz="1250" b="1" dirty="0">
                <a:solidFill>
                  <a:srgbClr val="0F1C34"/>
                </a:solidFill>
                <a:latin typeface="Inter" pitchFamily="34" charset="0"/>
                <a:ea typeface="Inter" pitchFamily="34" charset="-122"/>
                <a:cs typeface="Inter" pitchFamily="34" charset="-120"/>
              </a:rPr>
              <a:t>Smart Routing</a:t>
            </a:r>
            <a:endParaRPr lang="en-US" sz="1250" dirty="0"/>
          </a:p>
        </p:txBody>
      </p:sp>
      <p:sp>
        <p:nvSpPr>
          <p:cNvPr id="19" name="Text 13"/>
          <p:cNvSpPr/>
          <p:nvPr/>
        </p:nvSpPr>
        <p:spPr>
          <a:xfrm>
            <a:off x="1444752" y="4773168"/>
            <a:ext cx="3749040" cy="749808"/>
          </a:xfrm>
          <a:prstGeom prst="rect">
            <a:avLst/>
          </a:prstGeom>
          <a:noFill/>
          <a:ln/>
        </p:spPr>
        <p:txBody>
          <a:bodyPr wrap="square" lIns="0" tIns="0" rIns="0" bIns="0" rtlCol="0" anchor="t"/>
          <a:lstStyle/>
          <a:p>
            <a:pPr indent="0" marL="0">
              <a:lnSpc>
                <a:spcPct val="115000"/>
              </a:lnSpc>
              <a:buNone/>
            </a:pPr>
            <a:r>
              <a:rPr lang="en-US" sz="950" dirty="0">
                <a:solidFill>
                  <a:srgbClr val="46586F"/>
                </a:solidFill>
                <a:latin typeface="Inter" pitchFamily="34" charset="0"/>
                <a:ea typeface="Inter" pitchFamily="34" charset="-122"/>
                <a:cs typeface="Inter" pitchFamily="34" charset="-120"/>
              </a:rPr>
              <a:t>Check chính dùng Claude Sonnet 5 ($3/1M input); AI Judge dùng Haiku 4.5 ($1/1M) — rẻ hơn 3×, chỉ chạy ~25% tần suất.</a:t>
            </a:r>
            <a:endParaRPr lang="en-US" sz="950" dirty="0"/>
          </a:p>
        </p:txBody>
      </p:sp>
      <p:sp>
        <p:nvSpPr>
          <p:cNvPr id="20" name="Shape 14"/>
          <p:cNvSpPr/>
          <p:nvPr/>
        </p:nvSpPr>
        <p:spPr>
          <a:xfrm>
            <a:off x="5623560" y="1627632"/>
            <a:ext cx="6016752" cy="2761488"/>
          </a:xfrm>
          <a:prstGeom prst="roundRect">
            <a:avLst>
              <a:gd name="adj" fmla="val 3311"/>
            </a:avLst>
          </a:prstGeom>
          <a:solidFill>
            <a:srgbClr val="FFFFFF">
              <a:alpha val="92000"/>
            </a:srgbClr>
          </a:solidFill>
          <a:ln w="12700">
            <a:solidFill>
              <a:srgbClr val="E3E9F2"/>
            </a:solidFill>
            <a:prstDash val="solid"/>
          </a:ln>
          <a:effectLst>
            <a:outerShdw sx="100000" sy="100000" kx="0" ky="0" algn="bl" rotWithShape="0" blurRad="177800" dist="25400" dir="5400000">
              <a:srgbClr val="AFBFD4">
                <a:alpha val="40000"/>
              </a:srgbClr>
            </a:outerShdw>
          </a:effectLst>
        </p:spPr>
      </p:sp>
      <p:sp>
        <p:nvSpPr>
          <p:cNvPr id="21" name="Text 15"/>
          <p:cNvSpPr/>
          <p:nvPr/>
        </p:nvSpPr>
        <p:spPr>
          <a:xfrm>
            <a:off x="5897880" y="1773936"/>
            <a:ext cx="5486400" cy="237744"/>
          </a:xfrm>
          <a:prstGeom prst="rect">
            <a:avLst/>
          </a:prstGeom>
          <a:noFill/>
          <a:ln/>
        </p:spPr>
        <p:txBody>
          <a:bodyPr wrap="square" lIns="0" tIns="0" rIns="0" bIns="0" rtlCol="0" anchor="t"/>
          <a:lstStyle/>
          <a:p>
            <a:pPr indent="0" marL="0">
              <a:buNone/>
            </a:pPr>
            <a:r>
              <a:rPr lang="en-US" sz="1100" b="1" dirty="0">
                <a:solidFill>
                  <a:srgbClr val="0F1C34"/>
                </a:solidFill>
                <a:latin typeface="Inter" pitchFamily="34" charset="0"/>
                <a:ea typeface="Inter" pitchFamily="34" charset="-122"/>
                <a:cs typeface="Inter" pitchFamily="34" charset="-120"/>
              </a:rPr>
              <a:t>Chi phí mỗi tháng (USD) — quy về team 5 kỹ sư</a:t>
            </a:r>
            <a:endParaRPr lang="en-US" sz="1100" dirty="0"/>
          </a:p>
        </p:txBody>
      </p:sp>
      <p:graphicFrame>
        <p:nvGraphicFramePr>
          <p:cNvPr id="22" name="Chart 0" descr=""/>
          <p:cNvGraphicFramePr/>
          <p:nvPr/>
        </p:nvGraphicFramePr>
        <p:xfrm>
          <a:off x="5760720" y="2048256"/>
          <a:ext cx="5760720" cy="2231136"/>
        </p:xfrm>
        <a:graphic xmlns:a="http://schemas.openxmlformats.org/drawingml/2006/main">
          <a:graphicData uri="http://schemas.openxmlformats.org/drawingml/2006/chart">
            <c:chart xmlns:c="http://schemas.openxmlformats.org/drawingml/2006/chart" r:id="rId5"/>
          </a:graphicData>
        </a:graphic>
      </p:graphicFrame>
      <p:sp>
        <p:nvSpPr>
          <p:cNvPr id="23" name="Shape 16"/>
          <p:cNvSpPr/>
          <p:nvPr/>
        </p:nvSpPr>
        <p:spPr>
          <a:xfrm>
            <a:off x="5623560" y="4535424"/>
            <a:ext cx="1920240" cy="987552"/>
          </a:xfrm>
          <a:prstGeom prst="roundRect">
            <a:avLst>
              <a:gd name="adj" fmla="val 9259"/>
            </a:avLst>
          </a:prstGeom>
          <a:solidFill>
            <a:srgbClr val="FFFFFF">
              <a:alpha val="92000"/>
            </a:srgbClr>
          </a:solidFill>
          <a:ln w="12700">
            <a:solidFill>
              <a:srgbClr val="E3E9F2"/>
            </a:solidFill>
            <a:prstDash val="solid"/>
          </a:ln>
          <a:effectLst>
            <a:outerShdw sx="100000" sy="100000" kx="0" ky="0" algn="bl" rotWithShape="0" blurRad="177800" dist="25400" dir="5400000">
              <a:srgbClr val="AFBFD4">
                <a:alpha val="40000"/>
              </a:srgbClr>
            </a:outerShdw>
          </a:effectLst>
        </p:spPr>
      </p:sp>
      <p:sp>
        <p:nvSpPr>
          <p:cNvPr id="24" name="Text 17"/>
          <p:cNvSpPr/>
          <p:nvPr/>
        </p:nvSpPr>
        <p:spPr>
          <a:xfrm>
            <a:off x="5769864" y="4663440"/>
            <a:ext cx="1645920" cy="365760"/>
          </a:xfrm>
          <a:prstGeom prst="rect">
            <a:avLst/>
          </a:prstGeom>
          <a:noFill/>
          <a:ln/>
        </p:spPr>
        <p:txBody>
          <a:bodyPr wrap="square" lIns="0" tIns="0" rIns="0" bIns="0" rtlCol="0" anchor="t"/>
          <a:lstStyle/>
          <a:p>
            <a:pPr indent="0" marL="0">
              <a:buNone/>
            </a:pPr>
            <a:r>
              <a:rPr lang="en-US" sz="2000" b="1" dirty="0">
                <a:solidFill>
                  <a:srgbClr val="E41B23"/>
                </a:solidFill>
                <a:latin typeface="Inter" pitchFamily="34" charset="0"/>
                <a:ea typeface="Inter" pitchFamily="34" charset="-122"/>
                <a:cs typeface="Inter" pitchFamily="34" charset="-120"/>
              </a:rPr>
              <a:t>~$0.02</a:t>
            </a:r>
            <a:endParaRPr lang="en-US" sz="2000" dirty="0"/>
          </a:p>
        </p:txBody>
      </p:sp>
      <p:sp>
        <p:nvSpPr>
          <p:cNvPr id="25" name="Text 18"/>
          <p:cNvSpPr/>
          <p:nvPr/>
        </p:nvSpPr>
        <p:spPr>
          <a:xfrm>
            <a:off x="5769864" y="5047488"/>
            <a:ext cx="1645920" cy="457200"/>
          </a:xfrm>
          <a:prstGeom prst="rect">
            <a:avLst/>
          </a:prstGeom>
          <a:noFill/>
          <a:ln/>
        </p:spPr>
        <p:txBody>
          <a:bodyPr wrap="square" lIns="0" tIns="0" rIns="0" bIns="0" rtlCol="0" anchor="t"/>
          <a:lstStyle/>
          <a:p>
            <a:pPr indent="0" marL="0">
              <a:lnSpc>
                <a:spcPct val="110000"/>
              </a:lnSpc>
              <a:buNone/>
            </a:pPr>
            <a:r>
              <a:rPr lang="en-US" sz="850" dirty="0">
                <a:solidFill>
                  <a:srgbClr val="46586F"/>
                </a:solidFill>
                <a:latin typeface="Inter" pitchFamily="34" charset="0"/>
                <a:ea typeface="Inter" pitchFamily="34" charset="-122"/>
                <a:cs typeface="Inter" pitchFamily="34" charset="-120"/>
              </a:rPr>
              <a:t>mỗi file được AI quét toàn diện</a:t>
            </a:r>
            <a:endParaRPr lang="en-US" sz="850" dirty="0"/>
          </a:p>
        </p:txBody>
      </p:sp>
      <p:sp>
        <p:nvSpPr>
          <p:cNvPr id="26" name="Shape 19"/>
          <p:cNvSpPr/>
          <p:nvPr/>
        </p:nvSpPr>
        <p:spPr>
          <a:xfrm>
            <a:off x="7671816" y="4535424"/>
            <a:ext cx="1920240" cy="987552"/>
          </a:xfrm>
          <a:prstGeom prst="roundRect">
            <a:avLst>
              <a:gd name="adj" fmla="val 9259"/>
            </a:avLst>
          </a:prstGeom>
          <a:solidFill>
            <a:srgbClr val="FFFFFF">
              <a:alpha val="92000"/>
            </a:srgbClr>
          </a:solidFill>
          <a:ln w="12700">
            <a:solidFill>
              <a:srgbClr val="E3E9F2"/>
            </a:solidFill>
            <a:prstDash val="solid"/>
          </a:ln>
          <a:effectLst>
            <a:outerShdw sx="100000" sy="100000" kx="0" ky="0" algn="bl" rotWithShape="0" blurRad="177800" dist="25400" dir="5400000">
              <a:srgbClr val="AFBFD4">
                <a:alpha val="40000"/>
              </a:srgbClr>
            </a:outerShdw>
          </a:effectLst>
        </p:spPr>
      </p:sp>
      <p:sp>
        <p:nvSpPr>
          <p:cNvPr id="27" name="Text 20"/>
          <p:cNvSpPr/>
          <p:nvPr/>
        </p:nvSpPr>
        <p:spPr>
          <a:xfrm>
            <a:off x="7818120" y="4663440"/>
            <a:ext cx="1645920" cy="365760"/>
          </a:xfrm>
          <a:prstGeom prst="rect">
            <a:avLst/>
          </a:prstGeom>
          <a:noFill/>
          <a:ln/>
        </p:spPr>
        <p:txBody>
          <a:bodyPr wrap="square" lIns="0" tIns="0" rIns="0" bIns="0" rtlCol="0" anchor="t"/>
          <a:lstStyle/>
          <a:p>
            <a:pPr indent="0" marL="0">
              <a:buNone/>
            </a:pPr>
            <a:r>
              <a:rPr lang="en-US" sz="2000" b="1" dirty="0">
                <a:solidFill>
                  <a:srgbClr val="E41B23"/>
                </a:solidFill>
                <a:latin typeface="Inter" pitchFamily="34" charset="0"/>
                <a:ea typeface="Inter" pitchFamily="34" charset="-122"/>
                <a:cs typeface="Inter" pitchFamily="34" charset="-120"/>
              </a:rPr>
              <a:t>~$3.70</a:t>
            </a:r>
            <a:endParaRPr lang="en-US" sz="2000" dirty="0"/>
          </a:p>
        </p:txBody>
      </p:sp>
      <p:sp>
        <p:nvSpPr>
          <p:cNvPr id="28" name="Text 21"/>
          <p:cNvSpPr/>
          <p:nvPr/>
        </p:nvSpPr>
        <p:spPr>
          <a:xfrm>
            <a:off x="7818120" y="5047488"/>
            <a:ext cx="1645920" cy="457200"/>
          </a:xfrm>
          <a:prstGeom prst="rect">
            <a:avLst/>
          </a:prstGeom>
          <a:noFill/>
          <a:ln/>
        </p:spPr>
        <p:txBody>
          <a:bodyPr wrap="square" lIns="0" tIns="0" rIns="0" bIns="0" rtlCol="0" anchor="t"/>
          <a:lstStyle/>
          <a:p>
            <a:pPr indent="0" marL="0">
              <a:lnSpc>
                <a:spcPct val="110000"/>
              </a:lnSpc>
              <a:buNone/>
            </a:pPr>
            <a:r>
              <a:rPr lang="en-US" sz="850" dirty="0">
                <a:solidFill>
                  <a:srgbClr val="46586F"/>
                </a:solidFill>
                <a:latin typeface="Inter" pitchFamily="34" charset="0"/>
                <a:ea typeface="Inter" pitchFamily="34" charset="-122"/>
                <a:cs typeface="Inter" pitchFamily="34" charset="-120"/>
              </a:rPr>
              <a:t>mỗi dev mỗi tháng (185 lượt check)</a:t>
            </a:r>
            <a:endParaRPr lang="en-US" sz="850" dirty="0"/>
          </a:p>
        </p:txBody>
      </p:sp>
      <p:sp>
        <p:nvSpPr>
          <p:cNvPr id="29" name="Shape 22"/>
          <p:cNvSpPr/>
          <p:nvPr/>
        </p:nvSpPr>
        <p:spPr>
          <a:xfrm>
            <a:off x="9720072" y="4535424"/>
            <a:ext cx="1920240" cy="987552"/>
          </a:xfrm>
          <a:prstGeom prst="roundRect">
            <a:avLst>
              <a:gd name="adj" fmla="val 9259"/>
            </a:avLst>
          </a:prstGeom>
          <a:solidFill>
            <a:srgbClr val="FFFFFF">
              <a:alpha val="92000"/>
            </a:srgbClr>
          </a:solidFill>
          <a:ln w="12700">
            <a:solidFill>
              <a:srgbClr val="E3E9F2"/>
            </a:solidFill>
            <a:prstDash val="solid"/>
          </a:ln>
          <a:effectLst>
            <a:outerShdw sx="100000" sy="100000" kx="0" ky="0" algn="bl" rotWithShape="0" blurRad="177800" dist="25400" dir="5400000">
              <a:srgbClr val="AFBFD4">
                <a:alpha val="40000"/>
              </a:srgbClr>
            </a:outerShdw>
          </a:effectLst>
        </p:spPr>
      </p:sp>
      <p:sp>
        <p:nvSpPr>
          <p:cNvPr id="30" name="Text 23"/>
          <p:cNvSpPr/>
          <p:nvPr/>
        </p:nvSpPr>
        <p:spPr>
          <a:xfrm>
            <a:off x="9866376" y="4663440"/>
            <a:ext cx="1645920" cy="365760"/>
          </a:xfrm>
          <a:prstGeom prst="rect">
            <a:avLst/>
          </a:prstGeom>
          <a:noFill/>
          <a:ln/>
        </p:spPr>
        <p:txBody>
          <a:bodyPr wrap="square" lIns="0" tIns="0" rIns="0" bIns="0" rtlCol="0" anchor="t"/>
          <a:lstStyle/>
          <a:p>
            <a:pPr indent="0" marL="0">
              <a:buNone/>
            </a:pPr>
            <a:r>
              <a:rPr lang="en-US" sz="2000" b="1" dirty="0">
                <a:solidFill>
                  <a:srgbClr val="E41B23"/>
                </a:solidFill>
                <a:latin typeface="Inter" pitchFamily="34" charset="0"/>
                <a:ea typeface="Inter" pitchFamily="34" charset="-122"/>
                <a:cs typeface="Inter" pitchFamily="34" charset="-120"/>
              </a:rPr>
              <a:t>3–5×</a:t>
            </a:r>
            <a:endParaRPr lang="en-US" sz="2000" dirty="0"/>
          </a:p>
        </p:txBody>
      </p:sp>
      <p:sp>
        <p:nvSpPr>
          <p:cNvPr id="31" name="Text 24"/>
          <p:cNvSpPr/>
          <p:nvPr/>
        </p:nvSpPr>
        <p:spPr>
          <a:xfrm>
            <a:off x="9866376" y="5047488"/>
            <a:ext cx="1645920" cy="457200"/>
          </a:xfrm>
          <a:prstGeom prst="rect">
            <a:avLst/>
          </a:prstGeom>
          <a:noFill/>
          <a:ln/>
        </p:spPr>
        <p:txBody>
          <a:bodyPr wrap="square" lIns="0" tIns="0" rIns="0" bIns="0" rtlCol="0" anchor="t"/>
          <a:lstStyle/>
          <a:p>
            <a:pPr indent="0" marL="0">
              <a:lnSpc>
                <a:spcPct val="110000"/>
              </a:lnSpc>
              <a:buNone/>
            </a:pPr>
            <a:r>
              <a:rPr lang="en-US" sz="850" dirty="0">
                <a:solidFill>
                  <a:srgbClr val="46586F"/>
                </a:solidFill>
                <a:latin typeface="Inter" pitchFamily="34" charset="0"/>
                <a:ea typeface="Inter" pitchFamily="34" charset="-122"/>
                <a:cs typeface="Inter" pitchFamily="34" charset="-120"/>
              </a:rPr>
              <a:t>rẻ hơn AI PR Bot cùng lớp phòng thủ</a:t>
            </a:r>
            <a:endParaRPr lang="en-US" sz="850" dirty="0"/>
          </a:p>
        </p:txBody>
      </p:sp>
      <p:sp>
        <p:nvSpPr>
          <p:cNvPr id="32" name="Text 25"/>
          <p:cNvSpPr/>
          <p:nvPr/>
        </p:nvSpPr>
        <p:spPr>
          <a:xfrm>
            <a:off x="548640" y="5852160"/>
            <a:ext cx="11091672" cy="457200"/>
          </a:xfrm>
          <a:prstGeom prst="rect">
            <a:avLst/>
          </a:prstGeom>
          <a:noFill/>
          <a:ln/>
        </p:spPr>
        <p:txBody>
          <a:bodyPr wrap="square" lIns="0" tIns="0" rIns="0" bIns="0" rtlCol="0" anchor="t"/>
          <a:lstStyle/>
          <a:p>
            <a:pPr indent="0" marL="0">
              <a:lnSpc>
                <a:spcPct val="115000"/>
              </a:lnSpc>
              <a:buNone/>
            </a:pPr>
            <a:r>
              <a:rPr lang="en-US" sz="1100" b="1" dirty="0">
                <a:solidFill>
                  <a:srgbClr val="E41B23"/>
                </a:solidFill>
                <a:latin typeface="Inter" pitchFamily="34" charset="0"/>
                <a:ea typeface="Inter" pitchFamily="34" charset="-122"/>
                <a:cs typeface="Inter" pitchFamily="34" charset="-120"/>
              </a:rPr>
              <a:t>Điểm nhấn tài chính: bảo vệ mã nguồn cho toàn bộ team 5 người với $18.50/tháng — còn rẻ hơn 1 tài khoản cá nhân GitHub Copilot ($19.00). Quy mô 20 dev ≈ $74/tháng · 50 dev ≈ $185/tháng.</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C34"/>
        </a:solidFill>
      </p:bgPr>
    </p:bg>
    <p:spTree>
      <p:nvGrpSpPr>
        <p:cNvPr id="1" name=""/>
        <p:cNvGrpSpPr/>
        <p:nvPr/>
      </p:nvGrpSpPr>
      <p:grpSpPr>
        <a:xfrm>
          <a:off x="0" y="0"/>
          <a:ext cx="0" cy="0"/>
          <a:chOff x="0" y="0"/>
          <a:chExt cx="0" cy="0"/>
        </a:xfrm>
      </p:grpSpPr>
      <p:sp>
        <p:nvSpPr>
          <p:cNvPr id="2" name="Shape 0"/>
          <p:cNvSpPr/>
          <p:nvPr/>
        </p:nvSpPr>
        <p:spPr>
          <a:xfrm>
            <a:off x="-1280160" y="-1371600"/>
            <a:ext cx="4206240" cy="4206240"/>
          </a:xfrm>
          <a:prstGeom prst="ellipse">
            <a:avLst/>
          </a:prstGeom>
          <a:solidFill>
            <a:srgbClr val="E41B23">
              <a:alpha val="12000"/>
            </a:srgbClr>
          </a:solidFill>
          <a:ln w="12700">
            <a:solidFill>
              <a:srgbClr val="E41B23">
                <a:alpha val="16000"/>
              </a:srgbClr>
            </a:solidFill>
            <a:prstDash val="solid"/>
          </a:ln>
        </p:spPr>
      </p:sp>
      <p:sp>
        <p:nvSpPr>
          <p:cNvPr id="3" name="Shape 1"/>
          <p:cNvSpPr/>
          <p:nvPr/>
        </p:nvSpPr>
        <p:spPr>
          <a:xfrm>
            <a:off x="10058400" y="4572000"/>
            <a:ext cx="3657600" cy="3657600"/>
          </a:xfrm>
          <a:prstGeom prst="ellipse">
            <a:avLst/>
          </a:prstGeom>
          <a:solidFill>
            <a:srgbClr val="0F6EFD">
              <a:alpha val="12000"/>
            </a:srgbClr>
          </a:solidFill>
          <a:ln w="12700">
            <a:solidFill>
              <a:srgbClr val="0F6EFD">
                <a:alpha val="15000"/>
              </a:srgbClr>
            </a:solidFill>
            <a:prstDash val="solid"/>
          </a:ln>
        </p:spPr>
      </p:sp>
      <p:sp>
        <p:nvSpPr>
          <p:cNvPr id="4" name="Shape 2"/>
          <p:cNvSpPr/>
          <p:nvPr/>
        </p:nvSpPr>
        <p:spPr>
          <a:xfrm>
            <a:off x="10332720" y="384048"/>
            <a:ext cx="1298448" cy="868680"/>
          </a:xfrm>
          <a:prstGeom prst="roundRect">
            <a:avLst>
              <a:gd name="adj" fmla="val 8421"/>
            </a:avLst>
          </a:prstGeom>
          <a:solidFill>
            <a:srgbClr val="FFFFFF"/>
          </a:solidFill>
          <a:ln w="12700">
            <a:solidFill>
              <a:srgbClr val="FFFFFF"/>
            </a:solidFill>
            <a:prstDash val="solid"/>
          </a:ln>
        </p:spPr>
      </p:sp>
      <p:pic>
        <p:nvPicPr>
          <p:cNvPr id="5" name="Image 0" descr="logo_vin.png">    </p:cNvPr>
          <p:cNvPicPr>
            <a:picLocks noChangeAspect="1"/>
          </p:cNvPicPr>
          <p:nvPr/>
        </p:nvPicPr>
        <p:blipFill>
          <a:blip r:embed="rId1"/>
          <a:stretch>
            <a:fillRect/>
          </a:stretch>
        </p:blipFill>
        <p:spPr>
          <a:xfrm>
            <a:off x="10469880" y="521208"/>
            <a:ext cx="1024128" cy="630936"/>
          </a:xfrm>
          <a:prstGeom prst="rect">
            <a:avLst/>
          </a:prstGeom>
        </p:spPr>
      </p:pic>
      <p:sp>
        <p:nvSpPr>
          <p:cNvPr id="6" name="Text 3"/>
          <p:cNvSpPr/>
          <p:nvPr/>
        </p:nvSpPr>
        <p:spPr>
          <a:xfrm>
            <a:off x="548640" y="457200"/>
            <a:ext cx="7315200" cy="256032"/>
          </a:xfrm>
          <a:prstGeom prst="rect">
            <a:avLst/>
          </a:prstGeom>
          <a:noFill/>
          <a:ln/>
        </p:spPr>
        <p:txBody>
          <a:bodyPr wrap="square" lIns="0" tIns="0" rIns="0" bIns="0" rtlCol="0" anchor="t"/>
          <a:lstStyle/>
          <a:p>
            <a:pPr indent="0" marL="0">
              <a:buNone/>
            </a:pPr>
            <a:r>
              <a:rPr lang="en-US" sz="1100" b="1" spc="200" kern="0" dirty="0">
                <a:solidFill>
                  <a:srgbClr val="7FB0FF"/>
                </a:solidFill>
                <a:latin typeface="Inter" pitchFamily="34" charset="0"/>
                <a:ea typeface="Inter" pitchFamily="34" charset="-122"/>
                <a:cs typeface="Inter" pitchFamily="34" charset="-120"/>
              </a:rPr>
              <a:t>07 · LỘ TRÌNH &amp; KẾT LUẬN</a:t>
            </a:r>
            <a:endParaRPr lang="en-US" sz="1100" dirty="0"/>
          </a:p>
        </p:txBody>
      </p:sp>
      <p:sp>
        <p:nvSpPr>
          <p:cNvPr id="7" name="Text 4"/>
          <p:cNvSpPr/>
          <p:nvPr/>
        </p:nvSpPr>
        <p:spPr>
          <a:xfrm>
            <a:off x="548640" y="768096"/>
            <a:ext cx="9326880" cy="548640"/>
          </a:xfrm>
          <a:prstGeom prst="rect">
            <a:avLst/>
          </a:prstGeom>
          <a:noFill/>
          <a:ln/>
        </p:spPr>
        <p:txBody>
          <a:bodyPr wrap="square" lIns="0" tIns="0" rIns="0" bIns="0" rtlCol="0" anchor="t"/>
          <a:lstStyle/>
          <a:p>
            <a:pPr indent="0" marL="0">
              <a:buNone/>
            </a:pPr>
            <a:r>
              <a:rPr lang="en-US" sz="2700" b="1" dirty="0">
                <a:solidFill>
                  <a:srgbClr val="FFFFFF"/>
                </a:solidFill>
                <a:latin typeface="Inter" pitchFamily="34" charset="0"/>
                <a:ea typeface="Inter" pitchFamily="34" charset="-122"/>
                <a:cs typeface="Inter" pitchFamily="34" charset="-120"/>
              </a:rPr>
              <a:t>MVP đã hoàn thiện — sẵn sàng mở rộng</a:t>
            </a:r>
            <a:endParaRPr lang="en-US" sz="2700" dirty="0"/>
          </a:p>
        </p:txBody>
      </p:sp>
      <p:sp>
        <p:nvSpPr>
          <p:cNvPr id="8" name="Shape 5"/>
          <p:cNvSpPr/>
          <p:nvPr/>
        </p:nvSpPr>
        <p:spPr>
          <a:xfrm>
            <a:off x="548640" y="1627632"/>
            <a:ext cx="5532120" cy="3291840"/>
          </a:xfrm>
          <a:prstGeom prst="roundRect">
            <a:avLst>
              <a:gd name="adj" fmla="val 2778"/>
            </a:avLst>
          </a:prstGeom>
          <a:solidFill>
            <a:srgbClr val="FFFFFF">
              <a:alpha val="8000"/>
            </a:srgbClr>
          </a:solidFill>
          <a:ln w="12700">
            <a:solidFill>
              <a:srgbClr val="32456A"/>
            </a:solidFill>
            <a:prstDash val="solid"/>
          </a:ln>
        </p:spPr>
      </p:sp>
      <p:sp>
        <p:nvSpPr>
          <p:cNvPr id="9" name="Shape 6"/>
          <p:cNvSpPr/>
          <p:nvPr/>
        </p:nvSpPr>
        <p:spPr>
          <a:xfrm>
            <a:off x="822960" y="1847088"/>
            <a:ext cx="457200" cy="457200"/>
          </a:xfrm>
          <a:prstGeom prst="ellipse">
            <a:avLst/>
          </a:prstGeom>
          <a:solidFill>
            <a:srgbClr val="0F6EFD"/>
          </a:solidFill>
          <a:ln w="12700">
            <a:solidFill>
              <a:srgbClr val="0F6EFD"/>
            </a:solidFill>
            <a:prstDash val="solid"/>
          </a:ln>
        </p:spPr>
      </p:sp>
      <p:pic>
        <p:nvPicPr>
          <p:cNvPr id="10" name="Image 1" descr="img/check_w.png">    </p:cNvPr>
          <p:cNvPicPr>
            <a:picLocks noChangeAspect="1"/>
          </p:cNvPicPr>
          <p:nvPr/>
        </p:nvPicPr>
        <p:blipFill>
          <a:blip r:embed="rId2"/>
          <a:stretch>
            <a:fillRect/>
          </a:stretch>
        </p:blipFill>
        <p:spPr>
          <a:xfrm>
            <a:off x="941832" y="1965960"/>
            <a:ext cx="219456" cy="219456"/>
          </a:xfrm>
          <a:prstGeom prst="rect">
            <a:avLst/>
          </a:prstGeom>
        </p:spPr>
      </p:pic>
      <p:sp>
        <p:nvSpPr>
          <p:cNvPr id="11" name="Text 7"/>
          <p:cNvSpPr/>
          <p:nvPr/>
        </p:nvSpPr>
        <p:spPr>
          <a:xfrm>
            <a:off x="1426464" y="1883664"/>
            <a:ext cx="2743200" cy="274320"/>
          </a:xfrm>
          <a:prstGeom prst="rect">
            <a:avLst/>
          </a:prstGeom>
          <a:noFill/>
          <a:ln/>
        </p:spPr>
        <p:txBody>
          <a:bodyPr wrap="square" lIns="0" tIns="0" rIns="0" bIns="0" rtlCol="0" anchor="t"/>
          <a:lstStyle/>
          <a:p>
            <a:pPr indent="0" marL="0">
              <a:buNone/>
            </a:pPr>
            <a:r>
              <a:rPr lang="en-US" sz="1400" b="1" dirty="0">
                <a:solidFill>
                  <a:srgbClr val="FFFFFF"/>
                </a:solidFill>
                <a:latin typeface="Inter" pitchFamily="34" charset="0"/>
                <a:ea typeface="Inter" pitchFamily="34" charset="-122"/>
                <a:cs typeface="Inter" pitchFamily="34" charset="-120"/>
              </a:rPr>
              <a:t>Đã hoàn thành</a:t>
            </a:r>
            <a:endParaRPr lang="en-US" sz="1400" dirty="0"/>
          </a:p>
        </p:txBody>
      </p:sp>
      <p:sp>
        <p:nvSpPr>
          <p:cNvPr id="12" name="Text 8"/>
          <p:cNvSpPr/>
          <p:nvPr/>
        </p:nvSpPr>
        <p:spPr>
          <a:xfrm>
            <a:off x="4206240" y="1920240"/>
            <a:ext cx="1645920" cy="237744"/>
          </a:xfrm>
          <a:prstGeom prst="rect">
            <a:avLst/>
          </a:prstGeom>
          <a:noFill/>
          <a:ln/>
        </p:spPr>
        <p:txBody>
          <a:bodyPr wrap="square" lIns="0" tIns="0" rIns="0" bIns="0" rtlCol="0" anchor="t"/>
          <a:lstStyle/>
          <a:p>
            <a:pPr algn="r" indent="0" marL="0">
              <a:buNone/>
            </a:pPr>
            <a:r>
              <a:rPr lang="en-US" sz="1000" b="1" dirty="0">
                <a:solidFill>
                  <a:srgbClr val="7FB0FF"/>
                </a:solidFill>
                <a:latin typeface="Inter" pitchFamily="34" charset="0"/>
                <a:ea typeface="Inter" pitchFamily="34" charset="-122"/>
                <a:cs typeface="Inter" pitchFamily="34" charset="-120"/>
              </a:rPr>
              <a:t>13 hạng mục</a:t>
            </a:r>
            <a:endParaRPr lang="en-US" sz="1000" dirty="0"/>
          </a:p>
        </p:txBody>
      </p:sp>
      <p:sp>
        <p:nvSpPr>
          <p:cNvPr id="13" name="Text 9"/>
          <p:cNvSpPr/>
          <p:nvPr/>
        </p:nvSpPr>
        <p:spPr>
          <a:xfrm>
            <a:off x="841248" y="2377440"/>
            <a:ext cx="2542032" cy="2377440"/>
          </a:xfrm>
          <a:prstGeom prst="rect">
            <a:avLst/>
          </a:prstGeom>
          <a:noFill/>
          <a:ln/>
        </p:spPr>
        <p:txBody>
          <a:bodyPr wrap="square" lIns="0" tIns="0" rIns="0" bIns="0" rtlCol="0" anchor="t"/>
          <a:lstStyle/>
          <a:p>
            <a:pPr indent="0" marL="0">
              <a:lnSpc>
                <a:spcPct val="155000"/>
              </a:lnSpc>
              <a:buNone/>
            </a:pPr>
            <a:r>
              <a:rPr lang="en-US" sz="900" dirty="0">
                <a:solidFill>
                  <a:srgbClr val="DCE6F4"/>
                </a:solidFill>
                <a:latin typeface="Inter" pitchFamily="34" charset="0"/>
                <a:ea typeface="Inter" pitchFamily="34" charset="-122"/>
                <a:cs typeface="Inter" pitchFamily="34" charset="-120"/>
              </a:rPr>
              <a:t>✓   Secret scan (regex, deterministic)</a:t>
            </a:r>
            <a:endParaRPr lang="en-US" sz="900" dirty="0"/>
          </a:p>
          <a:p>
            <a:pPr indent="0" marL="0">
              <a:lnSpc>
                <a:spcPct val="155000"/>
              </a:lnSpc>
              <a:buNone/>
            </a:pPr>
            <a:r>
              <a:rPr lang="en-US" sz="900" dirty="0">
                <a:solidFill>
                  <a:srgbClr val="DCE6F4"/>
                </a:solidFill>
                <a:latin typeface="Inter" pitchFamily="34" charset="0"/>
                <a:ea typeface="Inter" pitchFamily="34" charset="-122"/>
                <a:cs typeface="Inter" pitchFamily="34" charset="-120"/>
              </a:rPr>
              <a:t>✓   LLM Policy Check (Claude / GPT)</a:t>
            </a:r>
            <a:endParaRPr lang="en-US" sz="900" dirty="0"/>
          </a:p>
          <a:p>
            <a:pPr indent="0" marL="0">
              <a:lnSpc>
                <a:spcPct val="155000"/>
              </a:lnSpc>
              <a:buNone/>
            </a:pPr>
            <a:r>
              <a:rPr lang="en-US" sz="900" dirty="0">
                <a:solidFill>
                  <a:srgbClr val="DCE6F4"/>
                </a:solidFill>
                <a:latin typeface="Inter" pitchFamily="34" charset="0"/>
                <a:ea typeface="Inter" pitchFamily="34" charset="-122"/>
                <a:cs typeface="Inter" pitchFamily="34" charset="-120"/>
              </a:rPr>
              <a:t>✓   Grounding evidence + policyId enum</a:t>
            </a:r>
            <a:endParaRPr lang="en-US" sz="900" dirty="0"/>
          </a:p>
          <a:p>
            <a:pPr indent="0" marL="0">
              <a:lnSpc>
                <a:spcPct val="155000"/>
              </a:lnSpc>
              <a:buNone/>
            </a:pPr>
            <a:r>
              <a:rPr lang="en-US" sz="900" dirty="0">
                <a:solidFill>
                  <a:srgbClr val="DCE6F4"/>
                </a:solidFill>
                <a:latin typeface="Inter" pitchFamily="34" charset="0"/>
                <a:ea typeface="Inter" pitchFamily="34" charset="-122"/>
                <a:cs typeface="Inter" pitchFamily="34" charset="-120"/>
              </a:rPr>
              <a:t>✓   Chain-of-thought reasoning field</a:t>
            </a:r>
            <a:endParaRPr lang="en-US" sz="900" dirty="0"/>
          </a:p>
          <a:p>
            <a:pPr indent="0" marL="0">
              <a:lnSpc>
                <a:spcPct val="155000"/>
              </a:lnSpc>
              <a:buNone/>
            </a:pPr>
            <a:r>
              <a:rPr lang="en-US" sz="900" dirty="0">
                <a:solidFill>
                  <a:srgbClr val="DCE6F4"/>
                </a:solidFill>
                <a:latin typeface="Inter" pitchFamily="34" charset="0"/>
                <a:ea typeface="Inter" pitchFamily="34" charset="-122"/>
                <a:cs typeface="Inter" pitchFamily="34" charset="-120"/>
              </a:rPr>
              <a:t>✓   AST comment / string annotation</a:t>
            </a:r>
            <a:endParaRPr lang="en-US" sz="900" dirty="0"/>
          </a:p>
          <a:p>
            <a:pPr indent="0" marL="0">
              <a:lnSpc>
                <a:spcPct val="155000"/>
              </a:lnSpc>
              <a:buNone/>
            </a:pPr>
            <a:r>
              <a:rPr lang="en-US" sz="900" dirty="0">
                <a:solidFill>
                  <a:srgbClr val="DCE6F4"/>
                </a:solidFill>
                <a:latin typeface="Inter" pitchFamily="34" charset="0"/>
                <a:ea typeface="Inter" pitchFamily="34" charset="-122"/>
                <a:cs typeface="Inter" pitchFamily="34" charset="-120"/>
              </a:rPr>
              <a:t>✓   Self-consistency cho critical</a:t>
            </a:r>
            <a:endParaRPr lang="en-US" sz="900" dirty="0"/>
          </a:p>
          <a:p>
            <a:pPr indent="0" marL="0">
              <a:lnSpc>
                <a:spcPct val="155000"/>
              </a:lnSpc>
              <a:buNone/>
            </a:pPr>
            <a:r>
              <a:rPr lang="en-US" sz="900" dirty="0">
                <a:solidFill>
                  <a:srgbClr val="DCE6F4"/>
                </a:solidFill>
                <a:latin typeface="Inter" pitchFamily="34" charset="0"/>
                <a:ea typeface="Inter" pitchFamily="34" charset="-122"/>
                <a:cs typeface="Inter" pitchFamily="34" charset="-120"/>
              </a:rPr>
              <a:t>✓   AI-as-a-Judge (2nd pass)</a:t>
            </a:r>
            <a:endParaRPr lang="en-US" sz="900" dirty="0"/>
          </a:p>
        </p:txBody>
      </p:sp>
      <p:sp>
        <p:nvSpPr>
          <p:cNvPr id="14" name="Text 10"/>
          <p:cNvSpPr/>
          <p:nvPr/>
        </p:nvSpPr>
        <p:spPr>
          <a:xfrm>
            <a:off x="3511296" y="2377440"/>
            <a:ext cx="2542032" cy="2377440"/>
          </a:xfrm>
          <a:prstGeom prst="rect">
            <a:avLst/>
          </a:prstGeom>
          <a:noFill/>
          <a:ln/>
        </p:spPr>
        <p:txBody>
          <a:bodyPr wrap="square" lIns="0" tIns="0" rIns="0" bIns="0" rtlCol="0" anchor="t"/>
          <a:lstStyle/>
          <a:p>
            <a:pPr indent="0" marL="0">
              <a:lnSpc>
                <a:spcPct val="155000"/>
              </a:lnSpc>
              <a:buNone/>
            </a:pPr>
            <a:r>
              <a:rPr lang="en-US" sz="900" dirty="0">
                <a:solidFill>
                  <a:srgbClr val="DCE6F4"/>
                </a:solidFill>
                <a:latin typeface="Inter" pitchFamily="34" charset="0"/>
                <a:ea typeface="Inter" pitchFamily="34" charset="-122"/>
                <a:cs typeface="Inter" pitchFamily="34" charset="-120"/>
              </a:rPr>
              <a:t>✓   Prompt-as-a-Fix (template chung)</a:t>
            </a:r>
            <a:endParaRPr lang="en-US" sz="900" dirty="0"/>
          </a:p>
          <a:p>
            <a:pPr indent="0" marL="0">
              <a:lnSpc>
                <a:spcPct val="155000"/>
              </a:lnSpc>
              <a:buNone/>
            </a:pPr>
            <a:r>
              <a:rPr lang="en-US" sz="900" dirty="0">
                <a:solidFill>
                  <a:srgbClr val="DCE6F4"/>
                </a:solidFill>
                <a:latin typeface="Inter" pitchFamily="34" charset="0"/>
                <a:ea typeface="Inter" pitchFamily="34" charset="-122"/>
                <a:cs typeface="Inter" pitchFamily="34" charset="-120"/>
              </a:rPr>
              <a:t>✓   Diff-hash caching (SHA-256, LRU 20)</a:t>
            </a:r>
            <a:endParaRPr lang="en-US" sz="900" dirty="0"/>
          </a:p>
          <a:p>
            <a:pPr indent="0" marL="0">
              <a:lnSpc>
                <a:spcPct val="155000"/>
              </a:lnSpc>
              <a:buNone/>
            </a:pPr>
            <a:r>
              <a:rPr lang="en-US" sz="900" dirty="0">
                <a:solidFill>
                  <a:srgbClr val="DCE6F4"/>
                </a:solidFill>
                <a:latin typeface="Inter" pitchFamily="34" charset="0"/>
                <a:ea typeface="Inter" pitchFamily="34" charset="-122"/>
                <a:cs typeface="Inter" pitchFamily="34" charset="-120"/>
              </a:rPr>
              <a:t>✓   RAG-lite (TS/JS, Python, C/C++, Go)</a:t>
            </a:r>
            <a:endParaRPr lang="en-US" sz="900" dirty="0"/>
          </a:p>
          <a:p>
            <a:pPr indent="0" marL="0">
              <a:lnSpc>
                <a:spcPct val="155000"/>
              </a:lnSpc>
              <a:buNone/>
            </a:pPr>
            <a:r>
              <a:rPr lang="en-US" sz="900" dirty="0">
                <a:solidFill>
                  <a:srgbClr val="DCE6F4"/>
                </a:solidFill>
                <a:latin typeface="Inter" pitchFamily="34" charset="0"/>
                <a:ea typeface="Inter" pitchFamily="34" charset="-122"/>
                <a:cs typeface="Inter" pitchFamily="34" charset="-120"/>
              </a:rPr>
              <a:t>✓   Circular dependency (madge)</a:t>
            </a:r>
            <a:endParaRPr lang="en-US" sz="900" dirty="0"/>
          </a:p>
          <a:p>
            <a:pPr indent="0" marL="0">
              <a:lnSpc>
                <a:spcPct val="155000"/>
              </a:lnSpc>
              <a:buNone/>
            </a:pPr>
            <a:r>
              <a:rPr lang="en-US" sz="900" dirty="0">
                <a:solidFill>
                  <a:srgbClr val="DCE6F4"/>
                </a:solidFill>
                <a:latin typeface="Inter" pitchFamily="34" charset="0"/>
                <a:ea typeface="Inter" pitchFamily="34" charset="-122"/>
                <a:cs typeface="Inter" pitchFamily="34" charset="-120"/>
              </a:rPr>
              <a:t>✓   Semgrep integration (tuỳ chọn)</a:t>
            </a:r>
            <a:endParaRPr lang="en-US" sz="900" dirty="0"/>
          </a:p>
          <a:p>
            <a:pPr indent="0" marL="0">
              <a:lnSpc>
                <a:spcPct val="155000"/>
              </a:lnSpc>
              <a:buNone/>
            </a:pPr>
            <a:r>
              <a:rPr lang="en-US" sz="900" dirty="0">
                <a:solidFill>
                  <a:srgbClr val="DCE6F4"/>
                </a:solidFill>
                <a:latin typeface="Inter" pitchFamily="34" charset="0"/>
                <a:ea typeface="Inter" pitchFamily="34" charset="-122"/>
                <a:cs typeface="Inter" pitchFamily="34" charset="-120"/>
              </a:rPr>
              <a:t>✓   Interactive pre-push git hook</a:t>
            </a:r>
            <a:endParaRPr lang="en-US" sz="900" dirty="0"/>
          </a:p>
        </p:txBody>
      </p:sp>
      <p:sp>
        <p:nvSpPr>
          <p:cNvPr id="15" name="Shape 11"/>
          <p:cNvSpPr/>
          <p:nvPr/>
        </p:nvSpPr>
        <p:spPr>
          <a:xfrm>
            <a:off x="6309360" y="1627632"/>
            <a:ext cx="5330952" cy="3291840"/>
          </a:xfrm>
          <a:prstGeom prst="roundRect">
            <a:avLst>
              <a:gd name="adj" fmla="val 2778"/>
            </a:avLst>
          </a:prstGeom>
          <a:solidFill>
            <a:srgbClr val="FFFFFF">
              <a:alpha val="8000"/>
            </a:srgbClr>
          </a:solidFill>
          <a:ln w="12700">
            <a:solidFill>
              <a:srgbClr val="32456A"/>
            </a:solidFill>
            <a:prstDash val="solid"/>
          </a:ln>
        </p:spPr>
      </p:sp>
      <p:sp>
        <p:nvSpPr>
          <p:cNvPr id="16" name="Shape 12"/>
          <p:cNvSpPr/>
          <p:nvPr/>
        </p:nvSpPr>
        <p:spPr>
          <a:xfrm>
            <a:off x="6583680" y="1847088"/>
            <a:ext cx="457200" cy="457200"/>
          </a:xfrm>
          <a:prstGeom prst="ellipse">
            <a:avLst/>
          </a:prstGeom>
          <a:solidFill>
            <a:srgbClr val="E41B23"/>
          </a:solidFill>
          <a:ln w="12700">
            <a:solidFill>
              <a:srgbClr val="E41B23"/>
            </a:solidFill>
            <a:prstDash val="solid"/>
          </a:ln>
        </p:spPr>
      </p:sp>
      <p:pic>
        <p:nvPicPr>
          <p:cNvPr id="17" name="Image 2" descr="img/warn_w.png">    </p:cNvPr>
          <p:cNvPicPr>
            <a:picLocks noChangeAspect="1"/>
          </p:cNvPicPr>
          <p:nvPr/>
        </p:nvPicPr>
        <p:blipFill>
          <a:blip r:embed="rId3"/>
          <a:stretch>
            <a:fillRect/>
          </a:stretch>
        </p:blipFill>
        <p:spPr>
          <a:xfrm>
            <a:off x="6702552" y="1965960"/>
            <a:ext cx="219456" cy="219456"/>
          </a:xfrm>
          <a:prstGeom prst="rect">
            <a:avLst/>
          </a:prstGeom>
        </p:spPr>
      </p:pic>
      <p:sp>
        <p:nvSpPr>
          <p:cNvPr id="18" name="Text 13"/>
          <p:cNvSpPr/>
          <p:nvPr/>
        </p:nvSpPr>
        <p:spPr>
          <a:xfrm>
            <a:off x="7187184" y="1883664"/>
            <a:ext cx="3108960" cy="274320"/>
          </a:xfrm>
          <a:prstGeom prst="rect">
            <a:avLst/>
          </a:prstGeom>
          <a:noFill/>
          <a:ln/>
        </p:spPr>
        <p:txBody>
          <a:bodyPr wrap="square" lIns="0" tIns="0" rIns="0" bIns="0" rtlCol="0" anchor="t"/>
          <a:lstStyle/>
          <a:p>
            <a:pPr indent="0" marL="0">
              <a:buNone/>
            </a:pPr>
            <a:r>
              <a:rPr lang="en-US" sz="1400" b="1" dirty="0">
                <a:solidFill>
                  <a:srgbClr val="FFFFFF"/>
                </a:solidFill>
                <a:latin typeface="Inter" pitchFamily="34" charset="0"/>
                <a:ea typeface="Inter" pitchFamily="34" charset="-122"/>
                <a:cs typeface="Inter" pitchFamily="34" charset="-120"/>
              </a:rPr>
              <a:t>Kế hoạch tiếp theo</a:t>
            </a:r>
            <a:endParaRPr lang="en-US" sz="1400" dirty="0"/>
          </a:p>
        </p:txBody>
      </p:sp>
      <p:sp>
        <p:nvSpPr>
          <p:cNvPr id="19" name="Text 14"/>
          <p:cNvSpPr/>
          <p:nvPr/>
        </p:nvSpPr>
        <p:spPr>
          <a:xfrm>
            <a:off x="6601968" y="2395728"/>
            <a:ext cx="4754880" cy="2377440"/>
          </a:xfrm>
          <a:prstGeom prst="rect">
            <a:avLst/>
          </a:prstGeom>
          <a:noFill/>
          <a:ln/>
        </p:spPr>
        <p:txBody>
          <a:bodyPr wrap="square" lIns="0" tIns="0" rIns="0" bIns="0" rtlCol="0" anchor="t"/>
          <a:lstStyle/>
          <a:p>
            <a:pPr indent="0" marL="0">
              <a:lnSpc>
                <a:spcPct val="160000"/>
              </a:lnSpc>
              <a:buNone/>
            </a:pPr>
            <a:r>
              <a:rPr lang="en-US" sz="950" dirty="0">
                <a:solidFill>
                  <a:srgbClr val="DCE6F4"/>
                </a:solidFill>
                <a:latin typeface="Inter" pitchFamily="34" charset="0"/>
                <a:ea typeface="Inter" pitchFamily="34" charset="-122"/>
                <a:cs typeface="Inter" pitchFamily="34" charset="-120"/>
              </a:rPr>
              <a:t>→   CI / GitHub Action gate — comment kết quả trên PR</a:t>
            </a:r>
            <a:endParaRPr lang="en-US" sz="950" dirty="0"/>
          </a:p>
          <a:p>
            <a:pPr indent="0" marL="0">
              <a:lnSpc>
                <a:spcPct val="160000"/>
              </a:lnSpc>
              <a:buNone/>
            </a:pPr>
            <a:r>
              <a:rPr lang="en-US" sz="950" dirty="0">
                <a:solidFill>
                  <a:srgbClr val="DCE6F4"/>
                </a:solidFill>
                <a:latin typeface="Inter" pitchFamily="34" charset="0"/>
                <a:ea typeface="Inter" pitchFamily="34" charset="-122"/>
                <a:cs typeface="Inter" pitchFamily="34" charset="-120"/>
              </a:rPr>
              <a:t>→   Architecture Rules — luật hướng phụ thuộc giữa layer</a:t>
            </a:r>
            <a:endParaRPr lang="en-US" sz="950" dirty="0"/>
          </a:p>
          <a:p>
            <a:pPr indent="0" marL="0">
              <a:lnSpc>
                <a:spcPct val="160000"/>
              </a:lnSpc>
              <a:buNone/>
            </a:pPr>
            <a:r>
              <a:rPr lang="en-US" sz="950" dirty="0">
                <a:solidFill>
                  <a:srgbClr val="DCE6F4"/>
                </a:solidFill>
                <a:latin typeface="Inter" pitchFamily="34" charset="0"/>
                <a:ea typeface="Inter" pitchFamily="34" charset="-122"/>
                <a:cs typeface="Inter" pitchFamily="34" charset="-120"/>
              </a:rPr>
              <a:t>→   Git Workflow — tên branch, format commit message</a:t>
            </a:r>
            <a:endParaRPr lang="en-US" sz="950" dirty="0"/>
          </a:p>
          <a:p>
            <a:pPr indent="0" marL="0">
              <a:lnSpc>
                <a:spcPct val="160000"/>
              </a:lnSpc>
              <a:buNone/>
            </a:pPr>
            <a:r>
              <a:rPr lang="en-US" sz="950" dirty="0">
                <a:solidFill>
                  <a:srgbClr val="DCE6F4"/>
                </a:solidFill>
                <a:latin typeface="Inter" pitchFamily="34" charset="0"/>
                <a:ea typeface="Inter" pitchFamily="34" charset="-122"/>
                <a:cs typeface="Inter" pitchFamily="34" charset="-120"/>
              </a:rPr>
              <a:t>→   Testing Standards — bắt buộc test khi thêm code mới</a:t>
            </a:r>
            <a:endParaRPr lang="en-US" sz="950" dirty="0"/>
          </a:p>
          <a:p>
            <a:pPr indent="0" marL="0">
              <a:lnSpc>
                <a:spcPct val="160000"/>
              </a:lnSpc>
              <a:buNone/>
            </a:pPr>
            <a:r>
              <a:rPr lang="en-US" sz="950" dirty="0">
                <a:solidFill>
                  <a:srgbClr val="DCE6F4"/>
                </a:solidFill>
                <a:latin typeface="Inter" pitchFamily="34" charset="0"/>
                <a:ea typeface="Inter" pitchFamily="34" charset="-122"/>
                <a:cs typeface="Inter" pitchFamily="34" charset="-120"/>
              </a:rPr>
              <a:t>→   Dependency Rules — chặn dependency chưa được duyệt</a:t>
            </a:r>
            <a:endParaRPr lang="en-US" sz="950" dirty="0"/>
          </a:p>
          <a:p>
            <a:pPr indent="0" marL="0">
              <a:lnSpc>
                <a:spcPct val="160000"/>
              </a:lnSpc>
              <a:buNone/>
            </a:pPr>
            <a:r>
              <a:rPr lang="en-US" sz="950" dirty="0">
                <a:solidFill>
                  <a:srgbClr val="DCE6F4"/>
                </a:solidFill>
                <a:latin typeface="Inter" pitchFamily="34" charset="0"/>
                <a:ea typeface="Inter" pitchFamily="34" charset="-122"/>
                <a:cs typeface="Inter" pitchFamily="34" charset="-120"/>
              </a:rPr>
              <a:t>→   Business Requirements — gắn code với yêu cầu sản phẩm</a:t>
            </a:r>
            <a:endParaRPr lang="en-US" sz="950" dirty="0"/>
          </a:p>
          <a:p>
            <a:pPr indent="0" marL="0">
              <a:lnSpc>
                <a:spcPct val="160000"/>
              </a:lnSpc>
              <a:buNone/>
            </a:pPr>
            <a:r>
              <a:rPr lang="en-US" sz="950" dirty="0">
                <a:solidFill>
                  <a:srgbClr val="DCE6F4"/>
                </a:solidFill>
                <a:latin typeface="Inter" pitchFamily="34" charset="0"/>
                <a:ea typeface="Inter" pitchFamily="34" charset="-122"/>
                <a:cs typeface="Inter" pitchFamily="34" charset="-120"/>
              </a:rPr>
              <a:t>→   Jira integration · Component ownership qua git blame</a:t>
            </a:r>
            <a:endParaRPr lang="en-US" sz="950" dirty="0"/>
          </a:p>
          <a:p>
            <a:pPr indent="0" marL="0">
              <a:lnSpc>
                <a:spcPct val="160000"/>
              </a:lnSpc>
              <a:buNone/>
            </a:pPr>
            <a:r>
              <a:rPr lang="en-US" sz="950" dirty="0">
                <a:solidFill>
                  <a:srgbClr val="DCE6F4"/>
                </a:solidFill>
                <a:latin typeface="Inter" pitchFamily="34" charset="0"/>
                <a:ea typeface="Inter" pitchFamily="34" charset="-122"/>
                <a:cs typeface="Inter" pitchFamily="34" charset="-120"/>
              </a:rPr>
              <a:t>→   Policy-driven severity cho circular dependency</a:t>
            </a:r>
            <a:endParaRPr lang="en-US" sz="950" dirty="0"/>
          </a:p>
        </p:txBody>
      </p:sp>
      <p:sp>
        <p:nvSpPr>
          <p:cNvPr id="20" name="Shape 15"/>
          <p:cNvSpPr/>
          <p:nvPr/>
        </p:nvSpPr>
        <p:spPr>
          <a:xfrm>
            <a:off x="548640" y="5138928"/>
            <a:ext cx="11091672" cy="1097280"/>
          </a:xfrm>
          <a:prstGeom prst="roundRect">
            <a:avLst>
              <a:gd name="adj" fmla="val 8333"/>
            </a:avLst>
          </a:prstGeom>
          <a:solidFill>
            <a:srgbClr val="FFFFFF">
              <a:alpha val="12000"/>
            </a:srgbClr>
          </a:solidFill>
          <a:ln w="12700">
            <a:solidFill>
              <a:srgbClr val="32456A"/>
            </a:solidFill>
            <a:prstDash val="solid"/>
          </a:ln>
        </p:spPr>
      </p:sp>
      <p:sp>
        <p:nvSpPr>
          <p:cNvPr id="21" name="Text 16"/>
          <p:cNvSpPr/>
          <p:nvPr/>
        </p:nvSpPr>
        <p:spPr>
          <a:xfrm>
            <a:off x="841248" y="5303520"/>
            <a:ext cx="2194560" cy="256032"/>
          </a:xfrm>
          <a:prstGeom prst="rect">
            <a:avLst/>
          </a:prstGeom>
          <a:noFill/>
          <a:ln/>
        </p:spPr>
        <p:txBody>
          <a:bodyPr wrap="square" lIns="0" tIns="0" rIns="0" bIns="0" rtlCol="0" anchor="t"/>
          <a:lstStyle/>
          <a:p>
            <a:pPr indent="0" marL="0">
              <a:buNone/>
            </a:pPr>
            <a:r>
              <a:rPr lang="en-US" sz="1200" b="1" dirty="0">
                <a:solidFill>
                  <a:srgbClr val="7FB0FF"/>
                </a:solidFill>
                <a:latin typeface="Inter" pitchFamily="34" charset="0"/>
                <a:ea typeface="Inter" pitchFamily="34" charset="-122"/>
                <a:cs typeface="Inter" pitchFamily="34" charset="-120"/>
              </a:rPr>
              <a:t>Kết luận khả thi</a:t>
            </a:r>
            <a:endParaRPr lang="en-US" sz="1200" dirty="0"/>
          </a:p>
        </p:txBody>
      </p:sp>
      <p:sp>
        <p:nvSpPr>
          <p:cNvPr id="22" name="Text 17"/>
          <p:cNvSpPr/>
          <p:nvPr/>
        </p:nvSpPr>
        <p:spPr>
          <a:xfrm>
            <a:off x="3200400" y="5285232"/>
            <a:ext cx="8229600" cy="786384"/>
          </a:xfrm>
          <a:prstGeom prst="rect">
            <a:avLst/>
          </a:prstGeom>
          <a:noFill/>
          <a:ln/>
        </p:spPr>
        <p:txBody>
          <a:bodyPr wrap="square" lIns="0" tIns="0" rIns="0" bIns="0" rtlCol="0" anchor="t"/>
          <a:lstStyle/>
          <a:p>
            <a:pPr indent="0" marL="0">
              <a:lnSpc>
                <a:spcPct val="120000"/>
              </a:lnSpc>
              <a:buNone/>
            </a:pPr>
            <a:r>
              <a:rPr lang="en-US" sz="1050" dirty="0">
                <a:solidFill>
                  <a:srgbClr val="E7EEF9"/>
                </a:solidFill>
                <a:latin typeface="Inter" pitchFamily="34" charset="0"/>
                <a:ea typeface="Inter" pitchFamily="34" charset="-122"/>
                <a:cs typeface="Inter" pitchFamily="34" charset="-120"/>
              </a:rPr>
              <a:t>Chi phí không đáng kể so với hậu quả thực tế của một sự cố duy nhất mà Guardian ngăn được — một secret bị lộ production, hay một circular dependency gây bug khó debug hàng giờ — và được kiểm soát chủ động bởi chính kiến trúc, không phải may rủi.</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Dev Guardian</dc:title>
  <dc:subject>PptxGenJS Presentation</dc:subject>
  <dc:creator>Vingroup</dc:creator>
  <cp:lastModifiedBy>Vingroup</cp:lastModifiedBy>
  <cp:revision>1</cp:revision>
  <dcterms:created xsi:type="dcterms:W3CDTF">2026-07-30T10:10:51Z</dcterms:created>
  <dcterms:modified xsi:type="dcterms:W3CDTF">2026-07-30T10:10:51Z</dcterms:modified>
</cp:coreProperties>
</file>